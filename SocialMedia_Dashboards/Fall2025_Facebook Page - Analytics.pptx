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eeksha Mehta" userId="fd90135dbe1f57f7" providerId="LiveId" clId="{4E1C139B-FB4D-423A-BCDB-506050D228FF}"/>
    <pc:docChg chg="custSel modSld">
      <pc:chgData name="Prateeksha Mehta" userId="fd90135dbe1f57f7" providerId="LiveId" clId="{4E1C139B-FB4D-423A-BCDB-506050D228FF}" dt="2025-11-06T23:29:33.504" v="13" actId="21"/>
      <pc:docMkLst>
        <pc:docMk/>
      </pc:docMkLst>
      <pc:sldChg chg="modSp mod">
        <pc:chgData name="Prateeksha Mehta" userId="fd90135dbe1f57f7" providerId="LiveId" clId="{4E1C139B-FB4D-423A-BCDB-506050D228FF}" dt="2025-11-06T23:26:49.144" v="12" actId="20577"/>
        <pc:sldMkLst>
          <pc:docMk/>
          <pc:sldMk cId="4237162886" sldId="258"/>
        </pc:sldMkLst>
        <pc:spChg chg="mod">
          <ac:chgData name="Prateeksha Mehta" userId="fd90135dbe1f57f7" providerId="LiveId" clId="{4E1C139B-FB4D-423A-BCDB-506050D228FF}" dt="2025-11-06T23:26:49.144" v="12" actId="20577"/>
          <ac:spMkLst>
            <pc:docMk/>
            <pc:sldMk cId="4237162886" sldId="258"/>
            <ac:spMk id="3" creationId="{E0FB06A2-B903-37A2-4246-8135031EB125}"/>
          </ac:spMkLst>
        </pc:spChg>
      </pc:sldChg>
      <pc:sldChg chg="delSp mod">
        <pc:chgData name="Prateeksha Mehta" userId="fd90135dbe1f57f7" providerId="LiveId" clId="{4E1C139B-FB4D-423A-BCDB-506050D228FF}" dt="2025-11-06T23:29:33.504" v="13" actId="21"/>
        <pc:sldMkLst>
          <pc:docMk/>
          <pc:sldMk cId="2052931062" sldId="269"/>
        </pc:sldMkLst>
        <pc:spChg chg="del">
          <ac:chgData name="Prateeksha Mehta" userId="fd90135dbe1f57f7" providerId="LiveId" clId="{4E1C139B-FB4D-423A-BCDB-506050D228FF}" dt="2025-11-06T23:29:33.504" v="13" actId="21"/>
          <ac:spMkLst>
            <pc:docMk/>
            <pc:sldMk cId="2052931062" sldId="269"/>
            <ac:spMk id="2" creationId="{E4815F29-6952-9A60-FC83-66994377959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Profile%20Performance%20(Onni%20Creative)%20June%201,%202025%20-%20October%2029,%202025%20_%20Faceboo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Profile%20Performance%20(Onni%20Creative)%20June%201,%202025%20-%20October%2029,%202025%20_%20Facebook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Profile%20Performance%20(Onni%20Creative)%20June%201,%202025%20-%20October%2029,%202025%20_%20Facebook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Profile%20Performance%20(Onni%20Creative)%20June%201,%202025%20-%20October%2029,%202025%20_%20Facebook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Profile%20Performance%20(Onni%20Creative)%20June%201,%202025%20-%20October%2029,%202025%20_%20Facebook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Profile%20Performance%20(Onni%20Creative)%20June%201,%202025%20-%20October%2029,%202025%20_%20Facebook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[Profile Performance (Onni Creative) June 1, 2025 - October 29, 2025 _ Facebook.xlsx]Main_Charts!PivotTable1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Performance Over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0684256935533273E-2"/>
          <c:y val="0.11819372003424014"/>
          <c:w val="0.67759367903971091"/>
          <c:h val="0.809960103322165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Main_Charts!$B$3</c:f>
              <c:strCache>
                <c:ptCount val="1"/>
                <c:pt idx="0">
                  <c:v>Sum of Impressions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Main_Charts!$B$4:$B$9</c:f>
              <c:numCache>
                <c:formatCode>General</c:formatCode>
                <c:ptCount val="5"/>
                <c:pt idx="0">
                  <c:v>959</c:v>
                </c:pt>
                <c:pt idx="1">
                  <c:v>572</c:v>
                </c:pt>
                <c:pt idx="2">
                  <c:v>479</c:v>
                </c:pt>
                <c:pt idx="3">
                  <c:v>305</c:v>
                </c:pt>
                <c:pt idx="4">
                  <c:v>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B3-409E-A32A-B6AD145C2184}"/>
            </c:ext>
          </c:extLst>
        </c:ser>
        <c:ser>
          <c:idx val="1"/>
          <c:order val="1"/>
          <c:tx>
            <c:strRef>
              <c:f>Main_Charts!$C$3</c:f>
              <c:strCache>
                <c:ptCount val="1"/>
                <c:pt idx="0">
                  <c:v>Sum of Engagements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Main_Charts!$C$4:$C$9</c:f>
              <c:numCache>
                <c:formatCode>General</c:formatCode>
                <c:ptCount val="5"/>
                <c:pt idx="0">
                  <c:v>207</c:v>
                </c:pt>
                <c:pt idx="1">
                  <c:v>38</c:v>
                </c:pt>
                <c:pt idx="2">
                  <c:v>15</c:v>
                </c:pt>
                <c:pt idx="3">
                  <c:v>11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B3-409E-A32A-B6AD145C2184}"/>
            </c:ext>
          </c:extLst>
        </c:ser>
        <c:ser>
          <c:idx val="2"/>
          <c:order val="2"/>
          <c:tx>
            <c:strRef>
              <c:f>Main_Charts!$D$3</c:f>
              <c:strCache>
                <c:ptCount val="1"/>
                <c:pt idx="0">
                  <c:v>Sum of Net Audience Growth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Main_Charts!$A$4:$A$9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Main_Charts!$D$4:$D$9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B3-409E-A32A-B6AD145C2184}"/>
            </c:ext>
          </c:extLst>
        </c:ser>
        <c:ser>
          <c:idx val="3"/>
          <c:order val="3"/>
          <c:tx>
            <c:strRef>
              <c:f>Main_Charts!$E$3</c:f>
              <c:strCache>
                <c:ptCount val="1"/>
                <c:pt idx="0">
                  <c:v>Sum of Engagement Rate (per Impression)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Main_Charts!$A$4:$A$9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Main_Charts!$E$4:$E$9</c:f>
              <c:numCache>
                <c:formatCode>General</c:formatCode>
                <c:ptCount val="5"/>
                <c:pt idx="0">
                  <c:v>3.6275000000000004</c:v>
                </c:pt>
                <c:pt idx="1">
                  <c:v>2.0404</c:v>
                </c:pt>
                <c:pt idx="2">
                  <c:v>0.79380000000000006</c:v>
                </c:pt>
                <c:pt idx="3">
                  <c:v>1.7046000000000001</c:v>
                </c:pt>
                <c:pt idx="4">
                  <c:v>1.0568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AB3-409E-A32A-B6AD145C2184}"/>
            </c:ext>
          </c:extLst>
        </c:ser>
        <c:ser>
          <c:idx val="4"/>
          <c:order val="4"/>
          <c:tx>
            <c:strRef>
              <c:f>Main_Charts!$F$3</c:f>
              <c:strCache>
                <c:ptCount val="1"/>
                <c:pt idx="0">
                  <c:v>Sum of Published Posts (Total)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Main_Charts!$A$4:$A$9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Main_Charts!$F$4:$F$9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B3-409E-A32A-B6AD145C2184}"/>
            </c:ext>
          </c:extLst>
        </c:ser>
        <c:ser>
          <c:idx val="5"/>
          <c:order val="5"/>
          <c:tx>
            <c:strRef>
              <c:f>Main_Charts!$G$3</c:f>
              <c:strCache>
                <c:ptCount val="1"/>
                <c:pt idx="0">
                  <c:v>Average of Audience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Main_Charts!$G$4:$G$9</c:f>
              <c:numCache>
                <c:formatCode>0.00</c:formatCode>
                <c:ptCount val="5"/>
                <c:pt idx="0">
                  <c:v>114.35483870967742</c:v>
                </c:pt>
                <c:pt idx="1">
                  <c:v>120.6</c:v>
                </c:pt>
                <c:pt idx="2">
                  <c:v>117.80645161290323</c:v>
                </c:pt>
                <c:pt idx="3">
                  <c:v>114.13333333333334</c:v>
                </c:pt>
                <c:pt idx="4">
                  <c:v>124.07142857142857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AB3-409E-A32A-B6AD145C2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264924879"/>
        <c:axId val="1264930639"/>
      </c:barChart>
      <c:catAx>
        <c:axId val="12649248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4930639"/>
        <c:crosses val="autoZero"/>
        <c:auto val="1"/>
        <c:lblAlgn val="ctr"/>
        <c:lblOffset val="100"/>
        <c:noMultiLvlLbl val="0"/>
      </c:catAx>
      <c:valAx>
        <c:axId val="1264930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4924879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6418827561128555"/>
          <c:y val="0.39032569499501291"/>
          <c:w val="0.22921275803625499"/>
          <c:h val="0.450290875665884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[Profile Performance (Onni Creative) June 1, 2025 - October 29, 2025 _ Facebook.xlsx]Main_Charts!PivotTable3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/>
              <a:t>Follower Dynamics</a:t>
            </a:r>
            <a:endParaRPr lang="en-US" b="1"/>
          </a:p>
        </c:rich>
      </c:tx>
      <c:layout>
        <c:manualLayout>
          <c:xMode val="edge"/>
          <c:yMode val="edge"/>
          <c:x val="0.35950701120587969"/>
          <c:y val="3.55228611660110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Main_Charts!$B$74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FE2-4410-8DA4-4422AD9081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Main_Charts!$A$75:$A$80</c:f>
              <c:strCache>
                <c:ptCount val="5"/>
                <c:pt idx="0">
                  <c:v>Sep</c:v>
                </c:pt>
                <c:pt idx="1">
                  <c:v>Aug</c:v>
                </c:pt>
                <c:pt idx="2">
                  <c:v>Oct</c:v>
                </c:pt>
                <c:pt idx="3">
                  <c:v>Jul</c:v>
                </c:pt>
                <c:pt idx="4">
                  <c:v>Jun</c:v>
                </c:pt>
              </c:strCache>
            </c:strRef>
          </c:cat>
          <c:val>
            <c:numRef>
              <c:f>Main_Charts!$B$75:$B$80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E2-4410-8DA4-4422AD9081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5596415"/>
        <c:axId val="495594495"/>
      </c:barChart>
      <c:catAx>
        <c:axId val="495596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594495"/>
        <c:crosses val="autoZero"/>
        <c:auto val="1"/>
        <c:lblAlgn val="ctr"/>
        <c:lblOffset val="100"/>
        <c:noMultiLvlLbl val="0"/>
      </c:catAx>
      <c:valAx>
        <c:axId val="495594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596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[Profile Performance (Onni Creative) June 1, 2025 - October 29, 2025 _ Facebook.xlsx]Main_Charts!PivotTable2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Main_Charts!$B$48</c:f>
              <c:strCache>
                <c:ptCount val="1"/>
                <c:pt idx="0">
                  <c:v>Sum of Engagement Rate (per Impression)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Main_Charts!$A$49:$A$54</c:f>
              <c:strCache>
                <c:ptCount val="5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Main_Charts!$B$49:$B$54</c:f>
              <c:numCache>
                <c:formatCode>General</c:formatCode>
                <c:ptCount val="5"/>
                <c:pt idx="0">
                  <c:v>1.7046000000000001</c:v>
                </c:pt>
                <c:pt idx="1">
                  <c:v>3.6275000000000004</c:v>
                </c:pt>
                <c:pt idx="2">
                  <c:v>0.79380000000000006</c:v>
                </c:pt>
                <c:pt idx="3">
                  <c:v>2.0404</c:v>
                </c:pt>
                <c:pt idx="4">
                  <c:v>1.0568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F8-417D-AE33-CF282789E17F}"/>
            </c:ext>
          </c:extLst>
        </c:ser>
        <c:ser>
          <c:idx val="1"/>
          <c:order val="1"/>
          <c:tx>
            <c:strRef>
              <c:f>Main_Charts!$C$48</c:f>
              <c:strCache>
                <c:ptCount val="1"/>
                <c:pt idx="0">
                  <c:v>Sum of Net Audience Growth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Main_Charts!$A$49:$A$54</c:f>
              <c:strCache>
                <c:ptCount val="5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Main_Charts!$C$49:$C$54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F8-417D-AE33-CF282789E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5136287"/>
        <c:axId val="455132927"/>
      </c:barChart>
      <c:catAx>
        <c:axId val="45513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132927"/>
        <c:crosses val="autoZero"/>
        <c:auto val="1"/>
        <c:lblAlgn val="ctr"/>
        <c:lblOffset val="100"/>
        <c:noMultiLvlLbl val="0"/>
      </c:catAx>
      <c:valAx>
        <c:axId val="455132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136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'Visibility &amp; Interaction Trend'!$B$1</c:f>
              <c:strCache>
                <c:ptCount val="1"/>
                <c:pt idx="0">
                  <c:v>Sum of Impressions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'Visibility &amp; Interaction Trend'!$A$2:$A$7</c:f>
              <c:strCache>
                <c:ptCount val="6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  <c:pt idx="5">
                  <c:v>Grand Total</c:v>
                </c:pt>
              </c:strCache>
            </c:strRef>
          </c:cat>
          <c:val>
            <c:numRef>
              <c:f>'Visibility &amp; Interaction Trend'!$B$2:$B$7</c:f>
              <c:numCache>
                <c:formatCode>General</c:formatCode>
                <c:ptCount val="6"/>
                <c:pt idx="0">
                  <c:v>959</c:v>
                </c:pt>
                <c:pt idx="1">
                  <c:v>572</c:v>
                </c:pt>
                <c:pt idx="2">
                  <c:v>479</c:v>
                </c:pt>
                <c:pt idx="3">
                  <c:v>305</c:v>
                </c:pt>
                <c:pt idx="4">
                  <c:v>266</c:v>
                </c:pt>
                <c:pt idx="5">
                  <c:v>2581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0F-4467-9D43-69E1F4971700}"/>
            </c:ext>
          </c:extLst>
        </c:ser>
        <c:ser>
          <c:idx val="1"/>
          <c:order val="1"/>
          <c:tx>
            <c:strRef>
              <c:f>'Visibility &amp; Interaction Trend'!$C$1</c:f>
              <c:strCache>
                <c:ptCount val="1"/>
                <c:pt idx="0">
                  <c:v>Sum of Engagements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'Visibility &amp; Interaction Trend'!$A$2:$A$7</c:f>
              <c:strCache>
                <c:ptCount val="6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  <c:pt idx="5">
                  <c:v>Grand Total</c:v>
                </c:pt>
              </c:strCache>
            </c:strRef>
          </c:cat>
          <c:val>
            <c:numRef>
              <c:f>'Visibility &amp; Interaction Trend'!$C$2:$C$7</c:f>
              <c:numCache>
                <c:formatCode>General</c:formatCode>
                <c:ptCount val="6"/>
                <c:pt idx="0">
                  <c:v>207</c:v>
                </c:pt>
                <c:pt idx="1">
                  <c:v>38</c:v>
                </c:pt>
                <c:pt idx="2">
                  <c:v>15</c:v>
                </c:pt>
                <c:pt idx="3">
                  <c:v>11</c:v>
                </c:pt>
                <c:pt idx="4">
                  <c:v>9</c:v>
                </c:pt>
                <c:pt idx="5">
                  <c:v>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0F-4467-9D43-69E1F4971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8332975"/>
        <c:axId val="748320015"/>
      </c:lineChart>
      <c:catAx>
        <c:axId val="748332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8320015"/>
        <c:crosses val="autoZero"/>
        <c:auto val="1"/>
        <c:lblAlgn val="ctr"/>
        <c:lblOffset val="100"/>
        <c:noMultiLvlLbl val="0"/>
      </c:catAx>
      <c:valAx>
        <c:axId val="74832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833297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[Profile Performance (Onni Creative) June 1, 2025 - October 29, 2025 _ Facebook.xlsx]Posting Frequency vs Engagement!PivotTable3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Posting Frequency vs Engagement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'Posting Frequency vs Engagement'!$R$3</c:f>
              <c:strCache>
                <c:ptCount val="1"/>
                <c:pt idx="0">
                  <c:v>Sum of Published Posts (Total)</c:v>
                </c:pt>
              </c:strCache>
            </c:strRef>
          </c:tx>
          <c:spPr>
            <a:solidFill>
              <a:schemeClr val="dk1">
                <a:tint val="8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'Posting Frequency vs Engagement'!$Q$4:$Q$9</c:f>
              <c:strCache>
                <c:ptCount val="5"/>
                <c:pt idx="0">
                  <c:v>Aug</c:v>
                </c:pt>
                <c:pt idx="1">
                  <c:v>Oct</c:v>
                </c:pt>
                <c:pt idx="2">
                  <c:v>Jun</c:v>
                </c:pt>
                <c:pt idx="3">
                  <c:v>Sep</c:v>
                </c:pt>
                <c:pt idx="4">
                  <c:v>Jul</c:v>
                </c:pt>
              </c:strCache>
            </c:strRef>
          </c:cat>
          <c:val>
            <c:numRef>
              <c:f>'Posting Frequency vs Engagement'!$R$4:$R$9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65-442B-A014-0158CD40A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21103"/>
        <c:axId val="6521583"/>
      </c:barChart>
      <c:lineChart>
        <c:grouping val="standard"/>
        <c:varyColors val="0"/>
        <c:ser>
          <c:idx val="1"/>
          <c:order val="1"/>
          <c:tx>
            <c:strRef>
              <c:f>'Posting Frequency vs Engagement'!$S$3</c:f>
              <c:strCache>
                <c:ptCount val="1"/>
                <c:pt idx="0">
                  <c:v>Sum of Engagement Rate (per Impression)</c:v>
                </c:pt>
              </c:strCache>
            </c:strRef>
          </c:tx>
          <c:spPr>
            <a:ln w="2857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'Posting Frequency vs Engagement'!$Q$4:$Q$9</c:f>
              <c:strCache>
                <c:ptCount val="5"/>
                <c:pt idx="0">
                  <c:v>Aug</c:v>
                </c:pt>
                <c:pt idx="1">
                  <c:v>Oct</c:v>
                </c:pt>
                <c:pt idx="2">
                  <c:v>Jun</c:v>
                </c:pt>
                <c:pt idx="3">
                  <c:v>Sep</c:v>
                </c:pt>
                <c:pt idx="4">
                  <c:v>Jul</c:v>
                </c:pt>
              </c:strCache>
            </c:strRef>
          </c:cat>
          <c:val>
            <c:numRef>
              <c:f>'Posting Frequency vs Engagement'!$S$4:$S$9</c:f>
              <c:numCache>
                <c:formatCode>General</c:formatCode>
                <c:ptCount val="5"/>
                <c:pt idx="0">
                  <c:v>0.79380000000000006</c:v>
                </c:pt>
                <c:pt idx="1">
                  <c:v>1.0568</c:v>
                </c:pt>
                <c:pt idx="2">
                  <c:v>1.7046000000000001</c:v>
                </c:pt>
                <c:pt idx="3">
                  <c:v>2.0404</c:v>
                </c:pt>
                <c:pt idx="4">
                  <c:v>3.6275000000000004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65-442B-A014-0158CD40A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21103"/>
        <c:axId val="6521583"/>
      </c:lineChart>
      <c:catAx>
        <c:axId val="6521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21583"/>
        <c:crosses val="autoZero"/>
        <c:auto val="1"/>
        <c:lblAlgn val="ctr"/>
        <c:lblOffset val="100"/>
        <c:noMultiLvlLbl val="0"/>
      </c:catAx>
      <c:valAx>
        <c:axId val="6521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21103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[Profile Performance (Onni Creative) June 1, 2025 - October 29, 2025 _ Facebook.xlsx]Reaction_Shares_Comments-Chart!PivotTable6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/>
              <a:t>Engagement Type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'Reaction_Shares_Comments-Chart'!$B$3</c:f>
              <c:strCache>
                <c:ptCount val="1"/>
                <c:pt idx="0">
                  <c:v>Sum of Reactions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'Reaction_Shares_Comments-Chart'!$A$4:$A$9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'Reaction_Shares_Comments-Chart'!$B$4:$B$9</c:f>
              <c:numCache>
                <c:formatCode>General</c:formatCode>
                <c:ptCount val="5"/>
                <c:pt idx="0">
                  <c:v>76</c:v>
                </c:pt>
                <c:pt idx="1">
                  <c:v>18</c:v>
                </c:pt>
                <c:pt idx="2">
                  <c:v>7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21-442A-8DBE-046847125069}"/>
            </c:ext>
          </c:extLst>
        </c:ser>
        <c:ser>
          <c:idx val="1"/>
          <c:order val="1"/>
          <c:tx>
            <c:strRef>
              <c:f>'Reaction_Shares_Comments-Chart'!$C$3</c:f>
              <c:strCache>
                <c:ptCount val="1"/>
                <c:pt idx="0">
                  <c:v>Sum of Comments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'Reaction_Shares_Comments-Chart'!$A$4:$A$9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'Reaction_Shares_Comments-Chart'!$C$4:$C$9</c:f>
              <c:numCache>
                <c:formatCode>General</c:formatCode>
                <c:ptCount val="5"/>
                <c:pt idx="0">
                  <c:v>15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21-442A-8DBE-046847125069}"/>
            </c:ext>
          </c:extLst>
        </c:ser>
        <c:ser>
          <c:idx val="2"/>
          <c:order val="2"/>
          <c:tx>
            <c:strRef>
              <c:f>'Reaction_Shares_Comments-Chart'!$D$3</c:f>
              <c:strCache>
                <c:ptCount val="1"/>
                <c:pt idx="0">
                  <c:v>Sum of Shares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'Reaction_Shares_Comments-Chart'!$A$4:$A$9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'Reaction_Shares_Comments-Chart'!$D$4:$D$9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21-442A-8DBE-046847125069}"/>
            </c:ext>
          </c:extLst>
        </c:ser>
        <c:ser>
          <c:idx val="3"/>
          <c:order val="3"/>
          <c:tx>
            <c:strRef>
              <c:f>'Reaction_Shares_Comments-Chart'!$E$3</c:f>
              <c:strCache>
                <c:ptCount val="1"/>
                <c:pt idx="0">
                  <c:v>Sum of Post Link Clicks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'Reaction_Shares_Comments-Chart'!$A$4:$A$9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'Reaction_Shares_Comments-Chart'!$E$4:$E$9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21-442A-8DBE-046847125069}"/>
            </c:ext>
          </c:extLst>
        </c:ser>
        <c:ser>
          <c:idx val="4"/>
          <c:order val="4"/>
          <c:tx>
            <c:strRef>
              <c:f>'Reaction_Shares_Comments-Chart'!$F$3</c:f>
              <c:strCache>
                <c:ptCount val="1"/>
                <c:pt idx="0">
                  <c:v>Sum of Other Post Clicks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'Reaction_Shares_Comments-Chart'!$A$4:$A$9</c:f>
              <c:strCache>
                <c:ptCount val="5"/>
                <c:pt idx="0">
                  <c:v>Jul</c:v>
                </c:pt>
                <c:pt idx="1">
                  <c:v>Sep</c:v>
                </c:pt>
                <c:pt idx="2">
                  <c:v>Aug</c:v>
                </c:pt>
                <c:pt idx="3">
                  <c:v>Jun</c:v>
                </c:pt>
                <c:pt idx="4">
                  <c:v>Oct</c:v>
                </c:pt>
              </c:strCache>
            </c:strRef>
          </c:cat>
          <c:val>
            <c:numRef>
              <c:f>'Reaction_Shares_Comments-Chart'!$F$4:$F$9</c:f>
              <c:numCache>
                <c:formatCode>General</c:formatCode>
                <c:ptCount val="5"/>
                <c:pt idx="0">
                  <c:v>113</c:v>
                </c:pt>
                <c:pt idx="1">
                  <c:v>18</c:v>
                </c:pt>
                <c:pt idx="2">
                  <c:v>7</c:v>
                </c:pt>
                <c:pt idx="3">
                  <c:v>3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21-442A-8DBE-0468471250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5011599"/>
        <c:axId val="1254995279"/>
      </c:barChart>
      <c:catAx>
        <c:axId val="1255011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4995279"/>
        <c:crosses val="autoZero"/>
        <c:auto val="1"/>
        <c:lblAlgn val="ctr"/>
        <c:lblOffset val="100"/>
        <c:noMultiLvlLbl val="0"/>
      </c:catAx>
      <c:valAx>
        <c:axId val="1254995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011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acrossLinear" id="1">
  <a:schemeClr val="dk1">
    <a:tint val="88000"/>
  </a:schemeClr>
  <a:schemeClr val="dk1">
    <a:tint val="55000"/>
  </a:schemeClr>
  <a:schemeClr val="dk1">
    <a:tint val="78000"/>
  </a:schemeClr>
  <a:schemeClr val="dk1">
    <a:tint val="92000"/>
  </a:schemeClr>
  <a:schemeClr val="dk1">
    <a:tint val="70000"/>
  </a:schemeClr>
  <a:schemeClr val="dk1">
    <a:tint val="30000"/>
  </a:schemeClr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92DBA-0311-4A5C-8013-B71E04EC61C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D47FF-04EA-4EF4-B303-D56EA90B1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6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D47FF-04EA-4EF4-B303-D56EA90B1D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86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7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92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8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425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2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0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4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1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2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Thursday, November 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7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Thursday, November 6, 2025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4218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40" r:id="rId4"/>
    <p:sldLayoutId id="2147483741" r:id="rId5"/>
    <p:sldLayoutId id="2147483746" r:id="rId6"/>
    <p:sldLayoutId id="2147483742" r:id="rId7"/>
    <p:sldLayoutId id="2147483743" r:id="rId8"/>
    <p:sldLayoutId id="2147483744" r:id="rId9"/>
    <p:sldLayoutId id="2147483745" r:id="rId10"/>
    <p:sldLayoutId id="214748374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F292AA-C8DB-4CAA-97C9-456CF8540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5756C-5E60-6431-A8A1-E8B14127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58" r="30089" b="-1"/>
          <a:stretch>
            <a:fillRect/>
          </a:stretch>
        </p:blipFill>
        <p:spPr>
          <a:xfrm>
            <a:off x="-1" y="10"/>
            <a:ext cx="458790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065953-3D69-4CD4-80C3-DF10DEB4C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2" y="-429"/>
            <a:ext cx="7604097" cy="6857571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  <a:alpha val="73000"/>
                </a:schemeClr>
              </a:gs>
              <a:gs pos="100000">
                <a:schemeClr val="accent2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36DB5-F10D-4EDB-87E2-ECB9301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1" y="0"/>
            <a:ext cx="7604097" cy="68580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8000">
                <a:schemeClr val="accent2">
                  <a:alpha val="66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F195D-95DC-419E-BBC1-E2B601A60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599847" y="4355164"/>
            <a:ext cx="7592151" cy="2502836"/>
          </a:xfrm>
          <a:prstGeom prst="rect">
            <a:avLst/>
          </a:prstGeom>
          <a:gradFill>
            <a:gsLst>
              <a:gs pos="22000">
                <a:schemeClr val="accent6">
                  <a:alpha val="39000"/>
                </a:schemeClr>
              </a:gs>
              <a:gs pos="82000">
                <a:schemeClr val="accent5">
                  <a:alpha val="19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256CF5B-1DAD-4912-86B9-FCA73369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18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6471D-2A65-0B8B-A85D-239AF02F5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425" y="768485"/>
            <a:ext cx="6133656" cy="316967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Facebook Page -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1043A-A8C2-AAA6-BBB7-019ECEF2D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2918" y="4793128"/>
            <a:ext cx="5462494" cy="1141157"/>
          </a:xfrm>
        </p:spPr>
        <p:txBody>
          <a:bodyPr>
            <a:norm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OC team</a:t>
            </a:r>
          </a:p>
        </p:txBody>
      </p:sp>
    </p:spTree>
    <p:extLst>
      <p:ext uri="{BB962C8B-B14F-4D97-AF65-F5344CB8AC3E}">
        <p14:creationId xmlns:p14="http://schemas.microsoft.com/office/powerpoint/2010/main" val="493128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4D896123-1B32-4CB1-B2ED-E34BBC26B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7DA40C-10B8-4678-8433-AA03ED65E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C3567-7BC4-D5D7-6788-65DD13D66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781" y="237848"/>
            <a:ext cx="8291285" cy="349193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800" spc="750" dirty="0">
                <a:solidFill>
                  <a:srgbClr val="FF0000"/>
                </a:solidFill>
              </a:rPr>
              <a:t>Performance Over Time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DEB652-CD49-4786-9154-A1A30E195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1916"/>
            <a:ext cx="12191998" cy="461774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>
                  <a:lumMod val="60000"/>
                  <a:lumOff val="40000"/>
                  <a:alpha val="59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9A7483D-55E4-41F7-8F87-19FAB2AEA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399291"/>
            <a:ext cx="4076698" cy="464399"/>
          </a:xfrm>
          <a:prstGeom prst="rect">
            <a:avLst/>
          </a:prstGeom>
          <a:gradFill>
            <a:gsLst>
              <a:gs pos="19000">
                <a:schemeClr val="accent6">
                  <a:lumMod val="75000"/>
                  <a:alpha val="61000"/>
                </a:schemeClr>
              </a:gs>
              <a:gs pos="99000">
                <a:schemeClr val="accent6">
                  <a:alpha val="87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B80FDA7-C7C9-91EB-E7F5-90FE7D6AA8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3777202"/>
              </p:ext>
            </p:extLst>
          </p:nvPr>
        </p:nvGraphicFramePr>
        <p:xfrm>
          <a:off x="644735" y="1174083"/>
          <a:ext cx="11547263" cy="531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7831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6585-E5CE-3C80-9081-6B00C868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B06A2-B903-37A2-4246-8135031EB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Impressions &amp; Engagements:</a:t>
            </a:r>
            <a:r>
              <a:rPr lang="en-US" dirty="0"/>
              <a:t> July was your highest-performing month (959 impressions, 207 engagements).</a:t>
            </a:r>
          </a:p>
          <a:p>
            <a:r>
              <a:rPr lang="en-US" b="1" dirty="0"/>
              <a:t>Engagement Rate:</a:t>
            </a:r>
            <a:r>
              <a:rPr lang="en-US" dirty="0"/>
              <a:t> Highest in July (approx. 3.6%), meaning content was creative and resonated strongly</a:t>
            </a:r>
          </a:p>
          <a:p>
            <a:r>
              <a:rPr lang="en-US" b="1" dirty="0"/>
              <a:t>Audience Growth:</a:t>
            </a:r>
            <a:r>
              <a:rPr lang="en-US" dirty="0"/>
              <a:t> Positive from July onward, and then it was steady</a:t>
            </a:r>
          </a:p>
          <a:p>
            <a:r>
              <a:rPr lang="en-US" b="1" dirty="0"/>
              <a:t>Published Posts:</a:t>
            </a:r>
            <a:r>
              <a:rPr lang="en-US" dirty="0"/>
              <a:t> July had the most posts (4), but engagement stayed strong as it has good content quality</a:t>
            </a:r>
          </a:p>
          <a:p>
            <a:r>
              <a:rPr lang="en-US" b="1" dirty="0"/>
              <a:t>Audience (Avg):</a:t>
            </a:r>
            <a:r>
              <a:rPr lang="en-US" dirty="0"/>
              <a:t> Slowly increasing (from approx. 114 in June to 124 in Oct).</a:t>
            </a:r>
          </a:p>
          <a:p>
            <a:r>
              <a:rPr lang="en-US" dirty="0"/>
              <a:t>July showed the strongest overall engagement and visibility, driven by both higher posting frequency and well-performing content.</a:t>
            </a:r>
          </a:p>
          <a:p>
            <a:r>
              <a:rPr lang="en-US" dirty="0"/>
              <a:t>Engagement rate remained healthy (average 6%), with noticeable peaks during high-activity months.</a:t>
            </a:r>
          </a:p>
          <a:p>
            <a:r>
              <a:rPr lang="en-US" dirty="0"/>
              <a:t>Audience growth was steady, indicating that consistent posting and engagement contribute to follower gains.</a:t>
            </a:r>
          </a:p>
          <a:p>
            <a:r>
              <a:rPr lang="en-US" dirty="0"/>
              <a:t>Posting frequency (4 posts in July) appears correlated with better impressions and interactions</a:t>
            </a:r>
          </a:p>
        </p:txBody>
      </p:sp>
    </p:spTree>
    <p:extLst>
      <p:ext uri="{BB962C8B-B14F-4D97-AF65-F5344CB8AC3E}">
        <p14:creationId xmlns:p14="http://schemas.microsoft.com/office/powerpoint/2010/main" val="4237162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0EDD-E44C-5947-FAC5-DC731B0A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Audience Growth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800E6A-92CE-8D34-C897-73172BAAD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399501"/>
              </p:ext>
            </p:extLst>
          </p:nvPr>
        </p:nvGraphicFramePr>
        <p:xfrm>
          <a:off x="1371600" y="2112963"/>
          <a:ext cx="10354733" cy="401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644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44BA-5BB3-7EBE-094F-7F855A4D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D3AB-EE85-0B9E-22DD-D38B06CFC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Audience grew most in </a:t>
            </a:r>
            <a:r>
              <a:rPr lang="en-US" b="1" dirty="0"/>
              <a:t>August and September (+4 each)</a:t>
            </a:r>
            <a:endParaRPr lang="en-US" dirty="0"/>
          </a:p>
          <a:p>
            <a:r>
              <a:rPr lang="en-US" dirty="0"/>
              <a:t>Lower growth in July (+1) despite high engagement, meaning visibility didn’t always convert to followers</a:t>
            </a:r>
          </a:p>
          <a:p>
            <a:r>
              <a:rPr lang="en-US" b="1" dirty="0"/>
              <a:t>Zero growth in June</a:t>
            </a:r>
            <a:r>
              <a:rPr lang="en-US" dirty="0"/>
              <a:t>, but activity likely began increasing afterward</a:t>
            </a:r>
          </a:p>
          <a:p>
            <a:r>
              <a:rPr lang="en-US" dirty="0"/>
              <a:t>Strongest follower growth occurred in August–September, likely reflecting higher content quality</a:t>
            </a:r>
          </a:p>
          <a:p>
            <a:r>
              <a:rPr lang="en-US" dirty="0"/>
              <a:t>The correlation between engagement and audience growth indicates that audience retention and attraction are linked to content interaction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663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EA5D-8A9F-CFA1-9660-BBB97A03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Engagement Rate vs Net Audience Growth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B1640B-DA0A-67A1-774E-D9AA0AC27D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112963"/>
          <a:ext cx="10240963" cy="3959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8408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3540-7C86-6296-C2BF-3C5EB084D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45C77-223E-EA0D-CFFA-6D0BB413B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July had the highest engagement (3.6%) but minimal audience growth (+1), suggesting content resonated with existing followers but didn’t reach many new users – </a:t>
            </a:r>
            <a:r>
              <a:rPr lang="en-US" b="1" dirty="0"/>
              <a:t>Engagement Peaks don’t always assure equal follower growth</a:t>
            </a:r>
          </a:p>
          <a:p>
            <a:r>
              <a:rPr lang="en-US" dirty="0"/>
              <a:t>Despite lower engagement rates, August (+4) and September (+4) saw the highest follower gains, likely from improved reach or campaigns that drew new audiences</a:t>
            </a:r>
          </a:p>
          <a:p>
            <a:r>
              <a:rPr lang="en-US" dirty="0"/>
              <a:t>From August onward, both engagement and audience growth stabilized, showing improved visibility and consistent audience interest</a:t>
            </a:r>
          </a:p>
          <a:p>
            <a:r>
              <a:rPr lang="en-US" dirty="0"/>
              <a:t>We need to focus on other strategies, such as interactive visuals to attract more followers 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545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704C-7C6D-7340-F5C2-F972B85E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Visibility vs Interaction trend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1B3909-0FD1-8F50-458D-4C046FA516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474566"/>
              </p:ext>
            </p:extLst>
          </p:nvPr>
        </p:nvGraphicFramePr>
        <p:xfrm>
          <a:off x="640080" y="2112963"/>
          <a:ext cx="11287760" cy="4125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102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0BF4A1-714C-419E-A19F-578DE93BE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1A9BD-D57F-4941-931F-40597AB3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4DB264-9467-4730-B9E9-C9A97DD66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90128" y="3609527"/>
            <a:ext cx="245834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B097F88-2120-47B4-B891-5B28F66BB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4227" y="1757079"/>
            <a:ext cx="3900088" cy="4178958"/>
          </a:xfrm>
          <a:custGeom>
            <a:avLst/>
            <a:gdLst>
              <a:gd name="connsiteX0" fmla="*/ 2431956 w 3900088"/>
              <a:gd name="connsiteY0" fmla="*/ 93939 h 4178958"/>
              <a:gd name="connsiteX1" fmla="*/ 3900088 w 3900088"/>
              <a:gd name="connsiteY1" fmla="*/ 2089479 h 4178958"/>
              <a:gd name="connsiteX2" fmla="*/ 1810609 w 3900088"/>
              <a:gd name="connsiteY2" fmla="*/ 4178958 h 4178958"/>
              <a:gd name="connsiteX3" fmla="*/ 77980 w 3900088"/>
              <a:gd name="connsiteY3" fmla="*/ 3257727 h 4178958"/>
              <a:gd name="connsiteX4" fmla="*/ 0 w 3900088"/>
              <a:gd name="connsiteY4" fmla="*/ 3129367 h 4178958"/>
              <a:gd name="connsiteX5" fmla="*/ 831517 w 3900088"/>
              <a:gd name="connsiteY5" fmla="*/ 244059 h 4178958"/>
              <a:gd name="connsiteX6" fmla="*/ 997290 w 3900088"/>
              <a:gd name="connsiteY6" fmla="*/ 164202 h 4178958"/>
              <a:gd name="connsiteX7" fmla="*/ 1810609 w 3900088"/>
              <a:gd name="connsiteY7" fmla="*/ 0 h 4178958"/>
              <a:gd name="connsiteX8" fmla="*/ 2431956 w 3900088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8" h="4178958">
                <a:moveTo>
                  <a:pt x="2431956" y="93939"/>
                </a:moveTo>
                <a:cubicBezTo>
                  <a:pt x="3282517" y="358491"/>
                  <a:pt x="3900088" y="1151865"/>
                  <a:pt x="3900088" y="2089479"/>
                </a:cubicBezTo>
                <a:cubicBezTo>
                  <a:pt x="3900088" y="3243466"/>
                  <a:pt x="2964596" y="4178958"/>
                  <a:pt x="1810609" y="4178958"/>
                </a:cubicBezTo>
                <a:cubicBezTo>
                  <a:pt x="1089367" y="4178958"/>
                  <a:pt x="453475" y="3813531"/>
                  <a:pt x="77980" y="3257727"/>
                </a:cubicBezTo>
                <a:lnTo>
                  <a:pt x="0" y="3129367"/>
                </a:lnTo>
                <a:lnTo>
                  <a:pt x="831517" y="244059"/>
                </a:lnTo>
                <a:lnTo>
                  <a:pt x="997290" y="164202"/>
                </a:lnTo>
                <a:cubicBezTo>
                  <a:pt x="1247271" y="58468"/>
                  <a:pt x="1522112" y="0"/>
                  <a:pt x="1810609" y="0"/>
                </a:cubicBezTo>
                <a:cubicBezTo>
                  <a:pt x="2026982" y="0"/>
                  <a:pt x="2235673" y="32888"/>
                  <a:pt x="2431956" y="93939"/>
                </a:cubicBezTo>
                <a:close/>
              </a:path>
            </a:pathLst>
          </a:custGeom>
          <a:gradFill>
            <a:gsLst>
              <a:gs pos="36000">
                <a:schemeClr val="accent6">
                  <a:lumMod val="60000"/>
                  <a:lumOff val="40000"/>
                  <a:alpha val="6000"/>
                </a:schemeClr>
              </a:gs>
              <a:gs pos="100000">
                <a:schemeClr val="accent6">
                  <a:alpha val="2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9338F5-05AB-4DC5-BD1C-1A9F26C38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0099" y="411154"/>
            <a:ext cx="4395601" cy="358140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504EA-96F6-E13C-F565-C4CEDA43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868280"/>
            <a:ext cx="3845180" cy="3363597"/>
          </a:xfrm>
        </p:spPr>
        <p:txBody>
          <a:bodyPr>
            <a:norm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</a:rPr>
              <a:t>Posting Frequency vs Engagement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3C6EB2-8DD0-C4D1-9ADE-16C4E9DCD1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191502"/>
              </p:ext>
            </p:extLst>
          </p:nvPr>
        </p:nvGraphicFramePr>
        <p:xfrm>
          <a:off x="4494654" y="457200"/>
          <a:ext cx="6000626" cy="5039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7FC800-8DA7-0A8C-E96C-F04A800C22F9}"/>
              </a:ext>
            </a:extLst>
          </p:cNvPr>
          <p:cNvSpPr txBox="1"/>
          <p:nvPr/>
        </p:nvSpPr>
        <p:spPr>
          <a:xfrm>
            <a:off x="4673600" y="5709920"/>
            <a:ext cx="6000626" cy="92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Engagement rate rises during months (July &amp; September) with higher posting frequency, suggesting consistent content output drives stronger audience response</a:t>
            </a:r>
          </a:p>
        </p:txBody>
      </p:sp>
    </p:spTree>
    <p:extLst>
      <p:ext uri="{BB962C8B-B14F-4D97-AF65-F5344CB8AC3E}">
        <p14:creationId xmlns:p14="http://schemas.microsoft.com/office/powerpoint/2010/main" val="405884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C48D0-CAB9-4889-C4AD-C4A478FF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EnGAGEMENT</a:t>
            </a:r>
            <a:r>
              <a:rPr lang="en-US" sz="3200" dirty="0">
                <a:solidFill>
                  <a:schemeClr val="bg1"/>
                </a:solidFill>
              </a:rPr>
              <a:t> TYPE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266C92F-B4DB-26A8-BD58-F86ACEFCF6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7448611"/>
              </p:ext>
            </p:extLst>
          </p:nvPr>
        </p:nvGraphicFramePr>
        <p:xfrm>
          <a:off x="813950" y="1880235"/>
          <a:ext cx="10362049" cy="4603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4648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69F57-286F-FD15-C910-CB2CAA57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33" y="786384"/>
            <a:ext cx="10241280" cy="1234440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CE8D7-0FCB-3010-4BF3-8D2CC4FC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2112264"/>
            <a:ext cx="11138747" cy="3959352"/>
          </a:xfrm>
        </p:spPr>
        <p:txBody>
          <a:bodyPr/>
          <a:lstStyle/>
          <a:p>
            <a:r>
              <a:rPr lang="en-US" dirty="0"/>
              <a:t>July had the </a:t>
            </a:r>
            <a:r>
              <a:rPr lang="en-US" b="1" dirty="0"/>
              <a:t>highest engagement depth</a:t>
            </a:r>
            <a:r>
              <a:rPr lang="en-US" dirty="0"/>
              <a:t> — 76 reactions, 15 comments, 3 shares.</a:t>
            </a:r>
          </a:p>
          <a:p>
            <a:r>
              <a:rPr lang="en-US" dirty="0"/>
              <a:t>Clicks (especially “Other Post Clicks”) peaked in July and September, good call-to-action strength</a:t>
            </a:r>
          </a:p>
          <a:p>
            <a:r>
              <a:rPr lang="en-US" dirty="0"/>
              <a:t>Shares are low overall (5 total), meaning posts are being viewed but not widely redistributed</a:t>
            </a:r>
          </a:p>
          <a:p>
            <a:r>
              <a:rPr lang="en-US" dirty="0"/>
              <a:t>Most engagement is </a:t>
            </a:r>
            <a:r>
              <a:rPr lang="en-US" b="1" dirty="0"/>
              <a:t>reaction-based (approx. 70%)</a:t>
            </a:r>
            <a:r>
              <a:rPr lang="en-US" dirty="0"/>
              <a:t>, showing strong visibility but limited community distribution (due to low shares)</a:t>
            </a:r>
          </a:p>
          <a:p>
            <a:r>
              <a:rPr lang="en-US" dirty="0"/>
              <a:t>July’s high comment volume suggests that the content in July performed well</a:t>
            </a:r>
          </a:p>
          <a:p>
            <a:r>
              <a:rPr lang="en-US" dirty="0"/>
              <a:t>Click-based actions (links or post interactions) remain limited, so there’s room to modify or improve our content to increase CTA</a:t>
            </a:r>
          </a:p>
        </p:txBody>
      </p:sp>
    </p:spTree>
    <p:extLst>
      <p:ext uri="{BB962C8B-B14F-4D97-AF65-F5344CB8AC3E}">
        <p14:creationId xmlns:p14="http://schemas.microsoft.com/office/powerpoint/2010/main" val="1108908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BE30-F62D-AE46-A96B-632AB822B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93040"/>
            <a:ext cx="10241280" cy="521652"/>
          </a:xfrm>
        </p:spPr>
        <p:txBody>
          <a:bodyPr>
            <a:normAutofit fontScale="90000"/>
          </a:bodyPr>
          <a:lstStyle/>
          <a:p>
            <a:r>
              <a:rPr lang="en-US" dirty="0"/>
              <a:t>FACEBOOK POSTS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721AF9-CDBA-8CA5-69BD-B5F914680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0620" y="924560"/>
            <a:ext cx="4856231" cy="5218748"/>
          </a:xfrm>
          <a:prstGeom prst="rect">
            <a:avLst/>
          </a:prstGeom>
        </p:spPr>
      </p:pic>
      <p:pic>
        <p:nvPicPr>
          <p:cNvPr id="7" name="Picture 6" descr="A screenshot of a social media account&#10;&#10;AI-generated content may be incorrect.">
            <a:extLst>
              <a:ext uri="{FF2B5EF4-FFF2-40B4-BE49-F238E27FC236}">
                <a16:creationId xmlns:a16="http://schemas.microsoft.com/office/drawing/2014/main" id="{56C07A60-207D-CFE5-96AD-26B96E429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924560"/>
            <a:ext cx="6521500" cy="521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18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social media page&#10;&#10;AI-generated content may be incorrect.">
            <a:extLst>
              <a:ext uri="{FF2B5EF4-FFF2-40B4-BE49-F238E27FC236}">
                <a16:creationId xmlns:a16="http://schemas.microsoft.com/office/drawing/2014/main" id="{77F2B15E-C10E-9906-9E73-044B3A570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360" y="2112963"/>
            <a:ext cx="8910319" cy="4176077"/>
          </a:xfrm>
        </p:spPr>
      </p:pic>
    </p:spTree>
    <p:extLst>
      <p:ext uri="{BB962C8B-B14F-4D97-AF65-F5344CB8AC3E}">
        <p14:creationId xmlns:p14="http://schemas.microsoft.com/office/powerpoint/2010/main" val="205293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AB21-539F-FD26-FDC4-B43561D57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" y="704088"/>
            <a:ext cx="11216640" cy="1234440"/>
          </a:xfrm>
        </p:spPr>
        <p:txBody>
          <a:bodyPr/>
          <a:lstStyle/>
          <a:p>
            <a:r>
              <a:rPr lang="en-US" dirty="0"/>
              <a:t>COMPARE TO JUNE 2024 – OCT 2024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45A374-A2F9-E2CD-1B81-DF5918983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920" y="2143760"/>
            <a:ext cx="1091184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0233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508</Words>
  <Application>Microsoft Office PowerPoint</Application>
  <PresentationFormat>Widescreen</PresentationFormat>
  <Paragraphs>48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Gill Sans Nova</vt:lpstr>
      <vt:lpstr>GradientRiseVTI</vt:lpstr>
      <vt:lpstr>Facebook Page - Analytics</vt:lpstr>
      <vt:lpstr>Performance Over Time</vt:lpstr>
      <vt:lpstr>Insights</vt:lpstr>
      <vt:lpstr>Net Audience Growth</vt:lpstr>
      <vt:lpstr>Insights</vt:lpstr>
      <vt:lpstr>Engagement Rate vs Net Audience Growth</vt:lpstr>
      <vt:lpstr>Insights</vt:lpstr>
      <vt:lpstr>Visibility vs Interaction trend</vt:lpstr>
      <vt:lpstr>Posting Frequency vs Engagement</vt:lpstr>
      <vt:lpstr>EnGAGEMENT TYPE</vt:lpstr>
      <vt:lpstr>Insights</vt:lpstr>
      <vt:lpstr>FACEBOOK POSTS </vt:lpstr>
      <vt:lpstr>PowerPoint Presentation</vt:lpstr>
      <vt:lpstr>COMPARE TO JUNE 2024 – OCT 2024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Prateeksha Mehta</dc:creator>
  <cp:lastModifiedBy>Prateeksha Mehta</cp:lastModifiedBy>
  <cp:revision>15</cp:revision>
  <dcterms:created xsi:type="dcterms:W3CDTF">2025-10-31T15:33:54Z</dcterms:created>
  <dcterms:modified xsi:type="dcterms:W3CDTF">2025-11-06T23:29:35Z</dcterms:modified>
</cp:coreProperties>
</file>