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1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Ex1.xml" ContentType="application/vnd.ms-office.chartex+xml"/>
  <Override PartName="/ppt/charts/style3.xml" ContentType="application/vnd.ms-office.chartstyle+xml"/>
  <Override PartName="/ppt/charts/colors3.xml" ContentType="application/vnd.ms-office.chartcolorstyle+xml"/>
  <Override PartName="/ppt/charts/chart3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4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5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63" r:id="rId4"/>
    <p:sldId id="262" r:id="rId5"/>
    <p:sldId id="258" r:id="rId6"/>
    <p:sldId id="259" r:id="rId7"/>
    <p:sldId id="260" r:id="rId8"/>
    <p:sldId id="261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75" d="100"/>
          <a:sy n="75" d="100"/>
        </p:scale>
        <p:origin x="58" y="3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pratu\OneDrive\Desktop\OC%20Team\MasterTheatreList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pratu\OneDrive\Desktop\OC%20Team\MasterTheatreList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pratu\OneDrive\Desktop\OC%20Team\MasterTheatreList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pratu\OneDrive\Desktop\OC%20Team\MasterTheatreList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pratu\OneDrive\Desktop\OC%20Team\MasterTheatreList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Ex1.xml.rels><?xml version="1.0" encoding="UTF-8" standalone="yes"?>
<Relationships xmlns="http://schemas.openxmlformats.org/package/2006/relationships"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[MasterTheatreList.xlsx]Coke_pepsi_Chart!PivotTable6</c:name>
    <c:fmtId val="25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spc="100" baseline="0">
                <a:solidFill>
                  <a:schemeClr val="lt1">
                    <a:lumMod val="9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en-US"/>
              <a:t>Coke Vs Pepsi Split By State</a:t>
            </a:r>
          </a:p>
        </c:rich>
      </c:tx>
      <c:layout>
        <c:manualLayout>
          <c:xMode val="edge"/>
          <c:yMode val="edge"/>
          <c:x val="0.33011972274732193"/>
          <c:y val="6.601513027024688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p3d/>
        </c:spPr>
        <c:marker>
          <c:symbol val="circle"/>
          <c:size val="6"/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9525">
              <a:solidFill>
                <a:schemeClr val="accent1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p3d/>
        </c:spPr>
        <c:marker>
          <c:symbol val="circle"/>
          <c:size val="6"/>
          <c:spPr>
            <a:gradFill rotWithShape="1">
              <a:gsLst>
                <a:gs pos="0">
                  <a:schemeClr val="accent2"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9525">
              <a:solidFill>
                <a:schemeClr val="accent2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bar"/>
        <c:grouping val="percentStacked"/>
        <c:varyColors val="0"/>
        <c:ser>
          <c:idx val="0"/>
          <c:order val="0"/>
          <c:tx>
            <c:strRef>
              <c:f>Coke_pepsi_Chart!$B$13:$B$14</c:f>
              <c:strCache>
                <c:ptCount val="1"/>
                <c:pt idx="0">
                  <c:v>COKE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p3d/>
          </c:spPr>
          <c:invertIfNegative val="0"/>
          <c:cat>
            <c:strRef>
              <c:f>Coke_pepsi_Chart!$A$15:$A$56</c:f>
              <c:strCache>
                <c:ptCount val="41"/>
                <c:pt idx="0">
                  <c:v>NE</c:v>
                </c:pt>
                <c:pt idx="1">
                  <c:v>Alberta, Canada</c:v>
                </c:pt>
                <c:pt idx="2">
                  <c:v>NJ</c:v>
                </c:pt>
                <c:pt idx="3">
                  <c:v>CO</c:v>
                </c:pt>
                <c:pt idx="4">
                  <c:v>NM</c:v>
                </c:pt>
                <c:pt idx="5">
                  <c:v>MN</c:v>
                </c:pt>
                <c:pt idx="6">
                  <c:v>TN</c:v>
                </c:pt>
                <c:pt idx="7">
                  <c:v>MO</c:v>
                </c:pt>
                <c:pt idx="8">
                  <c:v>IL</c:v>
                </c:pt>
                <c:pt idx="9">
                  <c:v>MS</c:v>
                </c:pt>
                <c:pt idx="10">
                  <c:v>LA</c:v>
                </c:pt>
                <c:pt idx="11">
                  <c:v>NC</c:v>
                </c:pt>
                <c:pt idx="12">
                  <c:v>MI</c:v>
                </c:pt>
                <c:pt idx="13">
                  <c:v>OK</c:v>
                </c:pt>
                <c:pt idx="14">
                  <c:v>KY</c:v>
                </c:pt>
                <c:pt idx="15">
                  <c:v>RI</c:v>
                </c:pt>
                <c:pt idx="16">
                  <c:v>GA</c:v>
                </c:pt>
                <c:pt idx="17">
                  <c:v>SC</c:v>
                </c:pt>
                <c:pt idx="18">
                  <c:v>MD</c:v>
                </c:pt>
                <c:pt idx="19">
                  <c:v>SD</c:v>
                </c:pt>
                <c:pt idx="20">
                  <c:v>CT</c:v>
                </c:pt>
                <c:pt idx="21">
                  <c:v>MA</c:v>
                </c:pt>
                <c:pt idx="22">
                  <c:v>AZ</c:v>
                </c:pt>
                <c:pt idx="23">
                  <c:v>NV</c:v>
                </c:pt>
                <c:pt idx="24">
                  <c:v>WY</c:v>
                </c:pt>
                <c:pt idx="25">
                  <c:v>OR</c:v>
                </c:pt>
                <c:pt idx="26">
                  <c:v>NY</c:v>
                </c:pt>
                <c:pt idx="27">
                  <c:v>WV</c:v>
                </c:pt>
                <c:pt idx="28">
                  <c:v>VT</c:v>
                </c:pt>
                <c:pt idx="29">
                  <c:v>OH</c:v>
                </c:pt>
                <c:pt idx="30">
                  <c:v>VA</c:v>
                </c:pt>
                <c:pt idx="31">
                  <c:v>PA</c:v>
                </c:pt>
                <c:pt idx="32">
                  <c:v>IN</c:v>
                </c:pt>
                <c:pt idx="33">
                  <c:v>TX</c:v>
                </c:pt>
                <c:pt idx="34">
                  <c:v>WA</c:v>
                </c:pt>
                <c:pt idx="35">
                  <c:v>IA</c:v>
                </c:pt>
                <c:pt idx="36">
                  <c:v>WI</c:v>
                </c:pt>
                <c:pt idx="37">
                  <c:v>UT</c:v>
                </c:pt>
                <c:pt idx="38">
                  <c:v>FL</c:v>
                </c:pt>
                <c:pt idx="39">
                  <c:v>CA</c:v>
                </c:pt>
                <c:pt idx="40">
                  <c:v>ME</c:v>
                </c:pt>
              </c:strCache>
            </c:strRef>
          </c:cat>
          <c:val>
            <c:numRef>
              <c:f>Coke_pepsi_Chart!$B$15:$B$56</c:f>
              <c:numCache>
                <c:formatCode>General</c:formatCode>
                <c:ptCount val="41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3</c:v>
                </c:pt>
                <c:pt idx="5">
                  <c:v>3</c:v>
                </c:pt>
                <c:pt idx="6">
                  <c:v>1</c:v>
                </c:pt>
                <c:pt idx="7">
                  <c:v>6</c:v>
                </c:pt>
                <c:pt idx="8">
                  <c:v>7</c:v>
                </c:pt>
                <c:pt idx="9">
                  <c:v>1</c:v>
                </c:pt>
                <c:pt idx="10">
                  <c:v>2</c:v>
                </c:pt>
                <c:pt idx="11">
                  <c:v>2</c:v>
                </c:pt>
                <c:pt idx="12">
                  <c:v>4</c:v>
                </c:pt>
                <c:pt idx="13">
                  <c:v>2</c:v>
                </c:pt>
                <c:pt idx="14">
                  <c:v>1</c:v>
                </c:pt>
                <c:pt idx="15">
                  <c:v>1</c:v>
                </c:pt>
                <c:pt idx="16">
                  <c:v>1</c:v>
                </c:pt>
                <c:pt idx="17">
                  <c:v>2</c:v>
                </c:pt>
                <c:pt idx="18">
                  <c:v>2</c:v>
                </c:pt>
                <c:pt idx="19">
                  <c:v>1</c:v>
                </c:pt>
                <c:pt idx="21">
                  <c:v>2</c:v>
                </c:pt>
                <c:pt idx="26">
                  <c:v>2</c:v>
                </c:pt>
                <c:pt idx="27">
                  <c:v>1</c:v>
                </c:pt>
                <c:pt idx="29">
                  <c:v>4</c:v>
                </c:pt>
                <c:pt idx="30">
                  <c:v>3</c:v>
                </c:pt>
                <c:pt idx="31">
                  <c:v>2</c:v>
                </c:pt>
                <c:pt idx="32">
                  <c:v>2</c:v>
                </c:pt>
                <c:pt idx="33">
                  <c:v>4</c:v>
                </c:pt>
                <c:pt idx="34">
                  <c:v>2</c:v>
                </c:pt>
                <c:pt idx="35">
                  <c:v>1</c:v>
                </c:pt>
                <c:pt idx="36">
                  <c:v>2</c:v>
                </c:pt>
                <c:pt idx="38">
                  <c:v>2</c:v>
                </c:pt>
                <c:pt idx="39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DFD-4EA5-97C4-948E4666846E}"/>
            </c:ext>
          </c:extLst>
        </c:ser>
        <c:ser>
          <c:idx val="1"/>
          <c:order val="1"/>
          <c:tx>
            <c:strRef>
              <c:f>Coke_pepsi_Chart!$C$13:$C$14</c:f>
              <c:strCache>
                <c:ptCount val="1"/>
                <c:pt idx="0">
                  <c:v>PEPSI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p3d/>
          </c:spPr>
          <c:invertIfNegative val="0"/>
          <c:cat>
            <c:strRef>
              <c:f>Coke_pepsi_Chart!$A$15:$A$56</c:f>
              <c:strCache>
                <c:ptCount val="41"/>
                <c:pt idx="0">
                  <c:v>NE</c:v>
                </c:pt>
                <c:pt idx="1">
                  <c:v>Alberta, Canada</c:v>
                </c:pt>
                <c:pt idx="2">
                  <c:v>NJ</c:v>
                </c:pt>
                <c:pt idx="3">
                  <c:v>CO</c:v>
                </c:pt>
                <c:pt idx="4">
                  <c:v>NM</c:v>
                </c:pt>
                <c:pt idx="5">
                  <c:v>MN</c:v>
                </c:pt>
                <c:pt idx="6">
                  <c:v>TN</c:v>
                </c:pt>
                <c:pt idx="7">
                  <c:v>MO</c:v>
                </c:pt>
                <c:pt idx="8">
                  <c:v>IL</c:v>
                </c:pt>
                <c:pt idx="9">
                  <c:v>MS</c:v>
                </c:pt>
                <c:pt idx="10">
                  <c:v>LA</c:v>
                </c:pt>
                <c:pt idx="11">
                  <c:v>NC</c:v>
                </c:pt>
                <c:pt idx="12">
                  <c:v>MI</c:v>
                </c:pt>
                <c:pt idx="13">
                  <c:v>OK</c:v>
                </c:pt>
                <c:pt idx="14">
                  <c:v>KY</c:v>
                </c:pt>
                <c:pt idx="15">
                  <c:v>RI</c:v>
                </c:pt>
                <c:pt idx="16">
                  <c:v>GA</c:v>
                </c:pt>
                <c:pt idx="17">
                  <c:v>SC</c:v>
                </c:pt>
                <c:pt idx="18">
                  <c:v>MD</c:v>
                </c:pt>
                <c:pt idx="19">
                  <c:v>SD</c:v>
                </c:pt>
                <c:pt idx="20">
                  <c:v>CT</c:v>
                </c:pt>
                <c:pt idx="21">
                  <c:v>MA</c:v>
                </c:pt>
                <c:pt idx="22">
                  <c:v>AZ</c:v>
                </c:pt>
                <c:pt idx="23">
                  <c:v>NV</c:v>
                </c:pt>
                <c:pt idx="24">
                  <c:v>WY</c:v>
                </c:pt>
                <c:pt idx="25">
                  <c:v>OR</c:v>
                </c:pt>
                <c:pt idx="26">
                  <c:v>NY</c:v>
                </c:pt>
                <c:pt idx="27">
                  <c:v>WV</c:v>
                </c:pt>
                <c:pt idx="28">
                  <c:v>VT</c:v>
                </c:pt>
                <c:pt idx="29">
                  <c:v>OH</c:v>
                </c:pt>
                <c:pt idx="30">
                  <c:v>VA</c:v>
                </c:pt>
                <c:pt idx="31">
                  <c:v>PA</c:v>
                </c:pt>
                <c:pt idx="32">
                  <c:v>IN</c:v>
                </c:pt>
                <c:pt idx="33">
                  <c:v>TX</c:v>
                </c:pt>
                <c:pt idx="34">
                  <c:v>WA</c:v>
                </c:pt>
                <c:pt idx="35">
                  <c:v>IA</c:v>
                </c:pt>
                <c:pt idx="36">
                  <c:v>WI</c:v>
                </c:pt>
                <c:pt idx="37">
                  <c:v>UT</c:v>
                </c:pt>
                <c:pt idx="38">
                  <c:v>FL</c:v>
                </c:pt>
                <c:pt idx="39">
                  <c:v>CA</c:v>
                </c:pt>
                <c:pt idx="40">
                  <c:v>ME</c:v>
                </c:pt>
              </c:strCache>
            </c:strRef>
          </c:cat>
          <c:val>
            <c:numRef>
              <c:f>Coke_pepsi_Chart!$C$15:$C$56</c:f>
              <c:numCache>
                <c:formatCode>General</c:formatCode>
                <c:ptCount val="41"/>
                <c:pt idx="20">
                  <c:v>1</c:v>
                </c:pt>
                <c:pt idx="21">
                  <c:v>1</c:v>
                </c:pt>
                <c:pt idx="22">
                  <c:v>1</c:v>
                </c:pt>
                <c:pt idx="23">
                  <c:v>1</c:v>
                </c:pt>
                <c:pt idx="24">
                  <c:v>1</c:v>
                </c:pt>
                <c:pt idx="25">
                  <c:v>1</c:v>
                </c:pt>
                <c:pt idx="26">
                  <c:v>1</c:v>
                </c:pt>
                <c:pt idx="27">
                  <c:v>1</c:v>
                </c:pt>
                <c:pt idx="28">
                  <c:v>1</c:v>
                </c:pt>
                <c:pt idx="29">
                  <c:v>2</c:v>
                </c:pt>
                <c:pt idx="30">
                  <c:v>2</c:v>
                </c:pt>
                <c:pt idx="31">
                  <c:v>2</c:v>
                </c:pt>
                <c:pt idx="32">
                  <c:v>2</c:v>
                </c:pt>
                <c:pt idx="33">
                  <c:v>2</c:v>
                </c:pt>
                <c:pt idx="34">
                  <c:v>2</c:v>
                </c:pt>
                <c:pt idx="35">
                  <c:v>2</c:v>
                </c:pt>
                <c:pt idx="36">
                  <c:v>2</c:v>
                </c:pt>
                <c:pt idx="37">
                  <c:v>2</c:v>
                </c:pt>
                <c:pt idx="38">
                  <c:v>2</c:v>
                </c:pt>
                <c:pt idx="39">
                  <c:v>3</c:v>
                </c:pt>
                <c:pt idx="40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ED8-44E0-953D-5993C79A991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box"/>
        <c:axId val="696954127"/>
        <c:axId val="696968527"/>
        <c:axId val="0"/>
      </c:bar3DChart>
      <c:catAx>
        <c:axId val="696954127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96968527"/>
        <c:crosses val="autoZero"/>
        <c:auto val="1"/>
        <c:lblAlgn val="ctr"/>
        <c:lblOffset val="100"/>
        <c:noMultiLvlLbl val="0"/>
      </c:catAx>
      <c:valAx>
        <c:axId val="696968527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dk1">
                  <a:lumMod val="50000"/>
                  <a:lumOff val="50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9695412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/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[MasterTheatreList.xlsx]Coke_pepsi_Chart!PivotTable5</c:name>
    <c:fmtId val="12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1" i="0" u="none" strike="noStrike" kern="120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Coke Vs Pepsi</a:t>
            </a:r>
            <a:r>
              <a:rPr lang="en-US" baseline="0"/>
              <a:t> Share Across All Theaters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baseline="0">
              <a:solidFill>
                <a:schemeClr val="dk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  <c:marker>
          <c:symbol val="circle"/>
          <c:size val="6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</c:pivotFmt>
      <c:pivotFmt>
        <c:idx val="3"/>
        <c:spPr>
          <a:solidFill>
            <a:schemeClr val="accent1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</c:pivotFmt>
      <c:pivotFmt>
        <c:idx val="4"/>
        <c:spPr>
          <a:solidFill>
            <a:schemeClr val="accent1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</c:pivotFmt>
      <c:pivotFmt>
        <c:idx val="6"/>
        <c:spPr>
          <a:solidFill>
            <a:schemeClr val="accent1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</c:pivotFmt>
      <c:pivotFmt>
        <c:idx val="7"/>
        <c:spPr>
          <a:solidFill>
            <a:schemeClr val="accent1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</c:pivotFmt>
      <c:pivotFmt>
        <c:idx val="9"/>
        <c:spPr>
          <a:solidFill>
            <a:schemeClr val="accent1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</c:pivotFmt>
      <c:pivotFmt>
        <c:idx val="10"/>
        <c:spPr>
          <a:solidFill>
            <a:schemeClr val="accent1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</c:pivotFmt>
      <c:pivotFmt>
        <c:idx val="12"/>
        <c:spPr>
          <a:solidFill>
            <a:schemeClr val="accent1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</c:pivotFmt>
    </c:pivotFmts>
    <c:plotArea>
      <c:layout/>
      <c:pieChart>
        <c:varyColors val="1"/>
        <c:ser>
          <c:idx val="0"/>
          <c:order val="0"/>
          <c:tx>
            <c:strRef>
              <c:f>Coke_pepsi_Chart!$B$3</c:f>
              <c:strCache>
                <c:ptCount val="1"/>
                <c:pt idx="0">
                  <c:v>Total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317500" algn="ctr" rotWithShape="0">
                  <a:prstClr val="black">
                    <a:alpha val="25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8C2E-4D0B-994C-E37D83EC973A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317500" algn="ctr" rotWithShape="0">
                  <a:prstClr val="black">
                    <a:alpha val="25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8C2E-4D0B-994C-E37D83EC973A}"/>
              </c:ext>
            </c:extLst>
          </c:dPt>
          <c:dLbls>
            <c:dLbl>
              <c:idx val="0"/>
              <c:dLblPos val="inEnd"/>
              <c:showLegendKey val="0"/>
              <c:showVal val="1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0323525791227101"/>
                      <c:h val="0.20986452589698301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8C2E-4D0B-994C-E37D83EC973A}"/>
                </c:ext>
              </c:extLst>
            </c:dLbl>
            <c:dLbl>
              <c:idx val="1"/>
              <c:dLblPos val="inEnd"/>
              <c:showLegendKey val="0"/>
              <c:showVal val="1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0323525791227101"/>
                      <c:h val="0.20986452589698301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8C2E-4D0B-994C-E37D83EC973A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4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dk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Coke_pepsi_Chart!$A$4:$A$6</c:f>
              <c:strCache>
                <c:ptCount val="2"/>
                <c:pt idx="0">
                  <c:v>COKE</c:v>
                </c:pt>
                <c:pt idx="1">
                  <c:v>PEPSI</c:v>
                </c:pt>
              </c:strCache>
            </c:strRef>
          </c:cat>
          <c:val>
            <c:numRef>
              <c:f>Coke_pepsi_Chart!$B$4:$B$6</c:f>
              <c:numCache>
                <c:formatCode>General</c:formatCode>
                <c:ptCount val="2"/>
                <c:pt idx="0">
                  <c:v>78</c:v>
                </c:pt>
                <c:pt idx="1">
                  <c:v>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8C2E-4D0B-994C-E37D83EC973A}"/>
            </c:ext>
          </c:extLst>
        </c:ser>
        <c:dLbls>
          <c:dLblPos val="inEnd"/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spPr>
        <a:solidFill>
          <a:schemeClr val="lt1">
            <a:alpha val="78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dk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pattFill prst="dkDnDiag">
      <a:fgClr>
        <a:schemeClr val="lt1">
          <a:lumMod val="95000"/>
        </a:schemeClr>
      </a:fgClr>
      <a:bgClr>
        <a:schemeClr val="lt1"/>
      </a:bgClr>
    </a:pattFill>
    <a:ln w="9525" cap="flat" cmpd="sng" algn="ctr">
      <a:solidFill>
        <a:schemeClr val="dk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[MasterTheatreList.xlsx]Geographic Presence of Theaters!PivotTable8</c:name>
    <c:fmtId val="22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Top States by Theater Screens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6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6"/>
          </a:solidFill>
          <a:ln>
            <a:noFill/>
          </a:ln>
          <a:effectLst/>
        </c:spPr>
        <c:dLbl>
          <c:idx val="0"/>
          <c:tx>
            <c:rich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fld id="{1AF8AD6F-F83A-4391-9172-FF5DC02E6766}" type="VALUE">
                  <a:rPr lang="en-US">
                    <a:solidFill>
                      <a:sysClr val="windowText" lastClr="000000"/>
                    </a:solidFill>
                  </a:rPr>
                  <a:pPr>
                    <a:defRPr sz="90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t>[VALUE]</a:t>
                </a:fld>
                <a:endParaRPr lang="en-US"/>
              </a:p>
            </c:rich>
          </c:tx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dlblFieldTable/>
              <c15:showDataLabelsRange val="0"/>
            </c:ext>
          </c:extLst>
        </c:dLbl>
      </c:pivotFmt>
      <c:pivotFmt>
        <c:idx val="2"/>
        <c:spPr>
          <a:solidFill>
            <a:schemeClr val="accent6"/>
          </a:solidFill>
          <a:ln>
            <a:noFill/>
          </a:ln>
          <a:effectLst/>
        </c:spPr>
        <c:dLbl>
          <c:idx val="0"/>
          <c:layout>
            <c:manualLayout>
              <c:x val="1.4693994101807622E-2"/>
              <c:y val="2.226861028967602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6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6"/>
          </a:solidFill>
          <a:ln>
            <a:noFill/>
          </a:ln>
          <a:effectLst/>
        </c:spPr>
        <c:dLbl>
          <c:idx val="0"/>
          <c:layout>
            <c:manualLayout>
              <c:x val="1.4693994101807622E-2"/>
              <c:y val="2.226861028967602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6"/>
          </a:solidFill>
          <a:ln>
            <a:noFill/>
          </a:ln>
          <a:effectLst/>
        </c:spPr>
        <c:dLbl>
          <c:idx val="0"/>
          <c:tx>
            <c:rich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fld id="{1AF8AD6F-F83A-4391-9172-FF5DC02E6766}" type="VALUE">
                  <a:rPr lang="en-US">
                    <a:solidFill>
                      <a:sysClr val="windowText" lastClr="000000"/>
                    </a:solidFill>
                  </a:rPr>
                  <a:pPr>
                    <a:defRPr sz="90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t>[VALUE]</a:t>
                </a:fld>
                <a:endParaRPr lang="en-US"/>
              </a:p>
            </c:rich>
          </c:tx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dlblFieldTable/>
              <c15:showDataLabelsRange val="0"/>
            </c:ext>
          </c:extLst>
        </c:dLbl>
      </c:pivotFmt>
      <c:pivotFmt>
        <c:idx val="6"/>
        <c:spPr>
          <a:solidFill>
            <a:schemeClr val="accent6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6"/>
          </a:solidFill>
          <a:ln>
            <a:noFill/>
          </a:ln>
          <a:effectLst/>
        </c:spPr>
        <c:dLbl>
          <c:idx val="0"/>
          <c:layout>
            <c:manualLayout>
              <c:x val="1.4693994101807622E-2"/>
              <c:y val="2.226861028967602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6"/>
          </a:solidFill>
          <a:ln>
            <a:noFill/>
          </a:ln>
          <a:effectLst/>
        </c:spPr>
        <c:dLbl>
          <c:idx val="0"/>
          <c:tx>
            <c:rich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fld id="{1AF8AD6F-F83A-4391-9172-FF5DC02E6766}" type="VALUE">
                  <a:rPr lang="en-US">
                    <a:solidFill>
                      <a:sysClr val="windowText" lastClr="000000"/>
                    </a:solidFill>
                  </a:rPr>
                  <a:pPr>
                    <a:defRPr sz="90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t>[VALUE]</a:t>
                </a:fld>
                <a:endParaRPr lang="en-US"/>
              </a:p>
            </c:rich>
          </c:tx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dlblFieldTable/>
              <c15:showDataLabelsRange val="0"/>
            </c:ext>
          </c:extLst>
        </c:dLbl>
      </c:pivotFmt>
    </c:pivotFmts>
    <c:plotArea>
      <c:layout>
        <c:manualLayout>
          <c:layoutTarget val="inner"/>
          <c:xMode val="edge"/>
          <c:yMode val="edge"/>
          <c:x val="4.8841563686258013E-2"/>
          <c:y val="0.10324284445551057"/>
          <c:w val="0.81597866570897304"/>
          <c:h val="0.68731167024221063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'Geographic Presence of Theaters'!$B$1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6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E097-4368-9E2A-E7B346F9D46F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6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E097-4368-9E2A-E7B346F9D46F}"/>
              </c:ext>
            </c:extLst>
          </c:dPt>
          <c:dLbls>
            <c:dLbl>
              <c:idx val="0"/>
              <c:layout>
                <c:manualLayout>
                  <c:x val="1.4693994101807622E-2"/>
                  <c:y val="2.22686102896760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E097-4368-9E2A-E7B346F9D46F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1AF8AD6F-F83A-4391-9172-FF5DC02E6766}" type="VALUE">
                      <a:rPr lang="en-US">
                        <a:solidFill>
                          <a:sysClr val="windowText" lastClr="000000"/>
                        </a:solidFill>
                      </a:rPr>
                      <a:pPr/>
                      <a:t>[VALUE]</a:t>
                    </a:fld>
                    <a:endParaRPr lang="en-US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E097-4368-9E2A-E7B346F9D46F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'Geographic Presence of Theaters'!$A$2:$A$43</c:f>
              <c:strCache>
                <c:ptCount val="41"/>
                <c:pt idx="0">
                  <c:v>TX</c:v>
                </c:pt>
                <c:pt idx="1">
                  <c:v>MI</c:v>
                </c:pt>
                <c:pt idx="2">
                  <c:v>MD</c:v>
                </c:pt>
                <c:pt idx="3">
                  <c:v>ME</c:v>
                </c:pt>
                <c:pt idx="4">
                  <c:v>CA</c:v>
                </c:pt>
                <c:pt idx="5">
                  <c:v>IL</c:v>
                </c:pt>
                <c:pt idx="6">
                  <c:v>NE</c:v>
                </c:pt>
                <c:pt idx="7">
                  <c:v>FL</c:v>
                </c:pt>
                <c:pt idx="8">
                  <c:v>WA</c:v>
                </c:pt>
                <c:pt idx="9">
                  <c:v>MN</c:v>
                </c:pt>
                <c:pt idx="10">
                  <c:v>VA</c:v>
                </c:pt>
                <c:pt idx="11">
                  <c:v>IA</c:v>
                </c:pt>
                <c:pt idx="12">
                  <c:v>OH</c:v>
                </c:pt>
                <c:pt idx="13">
                  <c:v>MO</c:v>
                </c:pt>
                <c:pt idx="14">
                  <c:v>RI</c:v>
                </c:pt>
                <c:pt idx="15">
                  <c:v>MS</c:v>
                </c:pt>
                <c:pt idx="16">
                  <c:v>NY</c:v>
                </c:pt>
                <c:pt idx="17">
                  <c:v>WI</c:v>
                </c:pt>
                <c:pt idx="18">
                  <c:v>LA</c:v>
                </c:pt>
                <c:pt idx="19">
                  <c:v>SC</c:v>
                </c:pt>
                <c:pt idx="20">
                  <c:v>WV</c:v>
                </c:pt>
                <c:pt idx="21">
                  <c:v>NC</c:v>
                </c:pt>
                <c:pt idx="22">
                  <c:v>MA</c:v>
                </c:pt>
                <c:pt idx="23">
                  <c:v>UT</c:v>
                </c:pt>
                <c:pt idx="24">
                  <c:v>PA</c:v>
                </c:pt>
                <c:pt idx="25">
                  <c:v>IN</c:v>
                </c:pt>
                <c:pt idx="26">
                  <c:v>VT</c:v>
                </c:pt>
                <c:pt idx="27">
                  <c:v>GA</c:v>
                </c:pt>
                <c:pt idx="28">
                  <c:v>KY</c:v>
                </c:pt>
                <c:pt idx="29">
                  <c:v>OK</c:v>
                </c:pt>
                <c:pt idx="30">
                  <c:v>NV</c:v>
                </c:pt>
                <c:pt idx="31">
                  <c:v>Alberta, Canada</c:v>
                </c:pt>
                <c:pt idx="32">
                  <c:v>NM</c:v>
                </c:pt>
                <c:pt idx="33">
                  <c:v>TN</c:v>
                </c:pt>
                <c:pt idx="34">
                  <c:v>NJ</c:v>
                </c:pt>
                <c:pt idx="35">
                  <c:v>AK</c:v>
                </c:pt>
                <c:pt idx="36">
                  <c:v>CO</c:v>
                </c:pt>
                <c:pt idx="37">
                  <c:v>WY</c:v>
                </c:pt>
                <c:pt idx="38">
                  <c:v>SD</c:v>
                </c:pt>
                <c:pt idx="39">
                  <c:v>AZ</c:v>
                </c:pt>
                <c:pt idx="40">
                  <c:v>CT</c:v>
                </c:pt>
              </c:strCache>
            </c:strRef>
          </c:cat>
          <c:val>
            <c:numRef>
              <c:f>'Geographic Presence of Theaters'!$B$2:$B$43</c:f>
              <c:numCache>
                <c:formatCode>General</c:formatCode>
                <c:ptCount val="41"/>
                <c:pt idx="0">
                  <c:v>473</c:v>
                </c:pt>
                <c:pt idx="1">
                  <c:v>369</c:v>
                </c:pt>
                <c:pt idx="2">
                  <c:v>154</c:v>
                </c:pt>
                <c:pt idx="3">
                  <c:v>138</c:v>
                </c:pt>
                <c:pt idx="4">
                  <c:v>130</c:v>
                </c:pt>
                <c:pt idx="5">
                  <c:v>121</c:v>
                </c:pt>
                <c:pt idx="6">
                  <c:v>98</c:v>
                </c:pt>
                <c:pt idx="7">
                  <c:v>96</c:v>
                </c:pt>
                <c:pt idx="8">
                  <c:v>92</c:v>
                </c:pt>
                <c:pt idx="9">
                  <c:v>70</c:v>
                </c:pt>
                <c:pt idx="10">
                  <c:v>69</c:v>
                </c:pt>
                <c:pt idx="11">
                  <c:v>68</c:v>
                </c:pt>
                <c:pt idx="12">
                  <c:v>56</c:v>
                </c:pt>
                <c:pt idx="13">
                  <c:v>50</c:v>
                </c:pt>
                <c:pt idx="14">
                  <c:v>24</c:v>
                </c:pt>
                <c:pt idx="15">
                  <c:v>21</c:v>
                </c:pt>
                <c:pt idx="16">
                  <c:v>20</c:v>
                </c:pt>
                <c:pt idx="17">
                  <c:v>18</c:v>
                </c:pt>
                <c:pt idx="18">
                  <c:v>17</c:v>
                </c:pt>
                <c:pt idx="19">
                  <c:v>15</c:v>
                </c:pt>
                <c:pt idx="20">
                  <c:v>14</c:v>
                </c:pt>
                <c:pt idx="21">
                  <c:v>14</c:v>
                </c:pt>
                <c:pt idx="22">
                  <c:v>11</c:v>
                </c:pt>
                <c:pt idx="23">
                  <c:v>11</c:v>
                </c:pt>
                <c:pt idx="24">
                  <c:v>11</c:v>
                </c:pt>
                <c:pt idx="25">
                  <c:v>10</c:v>
                </c:pt>
                <c:pt idx="26">
                  <c:v>10</c:v>
                </c:pt>
                <c:pt idx="27">
                  <c:v>10</c:v>
                </c:pt>
                <c:pt idx="28">
                  <c:v>9</c:v>
                </c:pt>
                <c:pt idx="29">
                  <c:v>8</c:v>
                </c:pt>
                <c:pt idx="30">
                  <c:v>8</c:v>
                </c:pt>
                <c:pt idx="31">
                  <c:v>8</c:v>
                </c:pt>
                <c:pt idx="32">
                  <c:v>7</c:v>
                </c:pt>
                <c:pt idx="33">
                  <c:v>5</c:v>
                </c:pt>
                <c:pt idx="34">
                  <c:v>3</c:v>
                </c:pt>
                <c:pt idx="35">
                  <c:v>3</c:v>
                </c:pt>
                <c:pt idx="36">
                  <c:v>2</c:v>
                </c:pt>
                <c:pt idx="37">
                  <c:v>2</c:v>
                </c:pt>
                <c:pt idx="38">
                  <c:v>2</c:v>
                </c:pt>
                <c:pt idx="39">
                  <c:v>1</c:v>
                </c:pt>
                <c:pt idx="40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E097-4368-9E2A-E7B346F9D46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856871647"/>
        <c:axId val="856872607"/>
      </c:barChart>
      <c:catAx>
        <c:axId val="85687164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56872607"/>
        <c:crosses val="autoZero"/>
        <c:auto val="1"/>
        <c:lblAlgn val="ctr"/>
        <c:lblOffset val="100"/>
        <c:noMultiLvlLbl val="0"/>
      </c:catAx>
      <c:valAx>
        <c:axId val="85687260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56871647"/>
        <c:crosses val="autoZero"/>
        <c:crossBetween val="between"/>
      </c:valAx>
      <c:spPr>
        <a:gradFill flip="none" rotWithShape="1">
          <a:gsLst>
            <a:gs pos="0">
              <a:schemeClr val="bg2"/>
            </a:gs>
            <a:gs pos="100000">
              <a:schemeClr val="accent4">
                <a:lumMod val="97000"/>
                <a:lumOff val="3000"/>
              </a:schemeClr>
            </a:gs>
            <a:gs pos="100000">
              <a:schemeClr val="accent4">
                <a:lumMod val="60000"/>
                <a:lumOff val="40000"/>
              </a:schemeClr>
            </a:gs>
          </a:gsLst>
          <a:path path="circle">
            <a:fillToRect l="100000" t="100000"/>
          </a:path>
          <a:tileRect r="-100000" b="-100000"/>
        </a:gradFill>
        <a:ln>
          <a:noFill/>
        </a:ln>
        <a:effectLst>
          <a:glow rad="127000">
            <a:schemeClr val="tx2"/>
          </a:glow>
        </a:effectLst>
        <a:scene3d>
          <a:camera prst="orthographicFront"/>
          <a:lightRig rig="threePt" dir="t"/>
        </a:scene3d>
        <a:sp3d>
          <a:bevelT/>
        </a:sp3d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[MasterTheatreList.xlsx]Sum_Of_DMB!PivotTable1</c:name>
    <c:fmtId val="12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cap="none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Screen and DMB Distribution</a:t>
            </a:r>
            <a:r>
              <a:rPr lang="en-US" baseline="0" dirty="0"/>
              <a:t> by Theater  Chain</a:t>
            </a:r>
            <a:endParaRPr lang="en-US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cap="none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noFill/>
          <a:ln w="9525" cap="flat" cmpd="sng" algn="ctr">
            <a:solidFill>
              <a:schemeClr val="accent1"/>
            </a:solidFill>
            <a:miter lim="800000"/>
          </a:ln>
          <a:effectLst>
            <a:glow rad="63500">
              <a:schemeClr val="accent1">
                <a:satMod val="175000"/>
                <a:alpha val="25000"/>
              </a:schemeClr>
            </a:glow>
          </a:effectLst>
        </c:spPr>
        <c:marker>
          <c:symbol val="circle"/>
          <c:size val="4"/>
          <c:spPr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>
              <a:glow rad="63500">
                <a:schemeClr val="accent1">
                  <a:satMod val="175000"/>
                  <a:alpha val="25000"/>
                </a:schemeClr>
              </a:glow>
            </a:effectLst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7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noFill/>
          <a:ln w="9525" cap="flat" cmpd="sng" algn="ctr">
            <a:solidFill>
              <a:schemeClr val="accent1"/>
            </a:solidFill>
            <a:miter lim="800000"/>
          </a:ln>
          <a:effectLst>
            <a:glow rad="63500">
              <a:schemeClr val="accent1">
                <a:satMod val="175000"/>
                <a:alpha val="25000"/>
              </a:schemeClr>
            </a:glow>
          </a:effectLst>
        </c:spPr>
        <c:marker>
          <c:symbol val="circle"/>
          <c:size val="4"/>
          <c:spPr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  <a:effectLst>
              <a:glow rad="63500">
                <a:schemeClr val="accent2">
                  <a:satMod val="175000"/>
                  <a:alpha val="25000"/>
                </a:schemeClr>
              </a:glow>
            </a:effectLst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7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noFill/>
          <a:ln w="9525" cap="flat" cmpd="sng" algn="ctr">
            <a:solidFill>
              <a:schemeClr val="accent1"/>
            </a:solidFill>
            <a:miter lim="800000"/>
          </a:ln>
          <a:effectLst>
            <a:glow rad="63500">
              <a:schemeClr val="accent1">
                <a:satMod val="175000"/>
                <a:alpha val="25000"/>
              </a:schemeClr>
            </a:glo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7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noFill/>
          <a:ln w="9525" cap="flat" cmpd="sng" algn="ctr">
            <a:solidFill>
              <a:schemeClr val="accent1"/>
            </a:solidFill>
            <a:miter lim="800000"/>
          </a:ln>
          <a:effectLst>
            <a:glow rad="63500">
              <a:schemeClr val="accent1">
                <a:satMod val="175000"/>
                <a:alpha val="25000"/>
              </a:schemeClr>
            </a:glo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7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noFill/>
          <a:ln w="9525" cap="flat" cmpd="sng" algn="ctr">
            <a:solidFill>
              <a:schemeClr val="accent1"/>
            </a:solidFill>
            <a:miter lim="800000"/>
          </a:ln>
          <a:effectLst>
            <a:glow rad="63500">
              <a:schemeClr val="accent1">
                <a:satMod val="175000"/>
                <a:alpha val="25000"/>
              </a:schemeClr>
            </a:glo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7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noFill/>
          <a:ln w="9525" cap="flat" cmpd="sng" algn="ctr">
            <a:solidFill>
              <a:schemeClr val="accent1"/>
            </a:solidFill>
            <a:miter lim="800000"/>
          </a:ln>
          <a:effectLst>
            <a:glow rad="63500">
              <a:schemeClr val="accent1">
                <a:satMod val="175000"/>
                <a:alpha val="25000"/>
              </a:schemeClr>
            </a:glo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7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Sum_Of_DMB!$B$3</c:f>
              <c:strCache>
                <c:ptCount val="1"/>
                <c:pt idx="0">
                  <c:v>Sum of # of Screens</c:v>
                </c:pt>
              </c:strCache>
            </c:strRef>
          </c:tx>
          <c:spPr>
            <a:noFill/>
            <a:ln w="9525" cap="flat" cmpd="sng" algn="ctr">
              <a:solidFill>
                <a:schemeClr val="accent1"/>
              </a:solidFill>
              <a:miter lim="800000"/>
            </a:ln>
            <a:effectLst>
              <a:glow rad="63500">
                <a:schemeClr val="accent1">
                  <a:satMod val="175000"/>
                  <a:alpha val="25000"/>
                </a:schemeClr>
              </a:glo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lt1">
                        <a:lumMod val="7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lt1">
                          <a:lumMod val="50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Sum_Of_DMB!$A$4:$A$15</c:f>
              <c:strCache>
                <c:ptCount val="11"/>
                <c:pt idx="0">
                  <c:v>Emagine Entertainment</c:v>
                </c:pt>
                <c:pt idx="1">
                  <c:v>Santikos</c:v>
                </c:pt>
                <c:pt idx="2">
                  <c:v>Santa Rosa Cinemas</c:v>
                </c:pt>
                <c:pt idx="3">
                  <c:v>Phoenix Theatres</c:v>
                </c:pt>
                <c:pt idx="4">
                  <c:v>Picture Show</c:v>
                </c:pt>
                <c:pt idx="5">
                  <c:v>Golden Ticket Cinemas</c:v>
                </c:pt>
                <c:pt idx="6">
                  <c:v>Flagship Premium Cinemas</c:v>
                </c:pt>
                <c:pt idx="7">
                  <c:v>RC Theatres</c:v>
                </c:pt>
                <c:pt idx="8">
                  <c:v>Cinergy Entertainment</c:v>
                </c:pt>
                <c:pt idx="9">
                  <c:v>Mann Theatres</c:v>
                </c:pt>
                <c:pt idx="10">
                  <c:v>Silverspot Cinema</c:v>
                </c:pt>
              </c:strCache>
            </c:strRef>
          </c:cat>
          <c:val>
            <c:numRef>
              <c:f>Sum_Of_DMB!$B$4:$B$15</c:f>
              <c:numCache>
                <c:formatCode>General</c:formatCode>
                <c:ptCount val="11"/>
                <c:pt idx="0">
                  <c:v>342</c:v>
                </c:pt>
                <c:pt idx="1">
                  <c:v>377</c:v>
                </c:pt>
                <c:pt idx="2">
                  <c:v>79</c:v>
                </c:pt>
                <c:pt idx="3">
                  <c:v>65</c:v>
                </c:pt>
                <c:pt idx="4">
                  <c:v>104</c:v>
                </c:pt>
                <c:pt idx="5">
                  <c:v>98</c:v>
                </c:pt>
                <c:pt idx="6">
                  <c:v>127</c:v>
                </c:pt>
                <c:pt idx="7">
                  <c:v>131</c:v>
                </c:pt>
                <c:pt idx="8">
                  <c:v>82</c:v>
                </c:pt>
                <c:pt idx="9">
                  <c:v>65</c:v>
                </c:pt>
                <c:pt idx="10">
                  <c:v>70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10C-47BE-AD30-66AD03CEB899}"/>
            </c:ext>
          </c:extLst>
        </c:ser>
        <c:ser>
          <c:idx val="1"/>
          <c:order val="1"/>
          <c:tx>
            <c:strRef>
              <c:f>Sum_Of_DMB!$C$3</c:f>
              <c:strCache>
                <c:ptCount val="1"/>
                <c:pt idx="0">
                  <c:v>Sum of # of DMB</c:v>
                </c:pt>
              </c:strCache>
            </c:strRef>
          </c:tx>
          <c:spPr>
            <a:noFill/>
            <a:ln w="9525" cap="flat" cmpd="sng" algn="ctr">
              <a:solidFill>
                <a:schemeClr val="accent2"/>
              </a:solidFill>
              <a:miter lim="800000"/>
            </a:ln>
            <a:effectLst>
              <a:glow rad="63500">
                <a:schemeClr val="accent2">
                  <a:satMod val="175000"/>
                  <a:alpha val="25000"/>
                </a:schemeClr>
              </a:glo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lt1">
                        <a:lumMod val="7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lt1">
                          <a:lumMod val="50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Sum_Of_DMB!$A$4:$A$15</c:f>
              <c:strCache>
                <c:ptCount val="11"/>
                <c:pt idx="0">
                  <c:v>Emagine Entertainment</c:v>
                </c:pt>
                <c:pt idx="1">
                  <c:v>Santikos</c:v>
                </c:pt>
                <c:pt idx="2">
                  <c:v>Santa Rosa Cinemas</c:v>
                </c:pt>
                <c:pt idx="3">
                  <c:v>Phoenix Theatres</c:v>
                </c:pt>
                <c:pt idx="4">
                  <c:v>Picture Show</c:v>
                </c:pt>
                <c:pt idx="5">
                  <c:v>Golden Ticket Cinemas</c:v>
                </c:pt>
                <c:pt idx="6">
                  <c:v>Flagship Premium Cinemas</c:v>
                </c:pt>
                <c:pt idx="7">
                  <c:v>RC Theatres</c:v>
                </c:pt>
                <c:pt idx="8">
                  <c:v>Cinergy Entertainment</c:v>
                </c:pt>
                <c:pt idx="9">
                  <c:v>Mann Theatres</c:v>
                </c:pt>
                <c:pt idx="10">
                  <c:v>Silverspot Cinema</c:v>
                </c:pt>
              </c:strCache>
            </c:strRef>
          </c:cat>
          <c:val>
            <c:numRef>
              <c:f>Sum_Of_DMB!$C$4:$C$15</c:f>
              <c:numCache>
                <c:formatCode>General</c:formatCode>
                <c:ptCount val="11"/>
                <c:pt idx="0">
                  <c:v>255</c:v>
                </c:pt>
                <c:pt idx="1">
                  <c:v>243</c:v>
                </c:pt>
                <c:pt idx="2">
                  <c:v>108</c:v>
                </c:pt>
                <c:pt idx="3">
                  <c:v>81</c:v>
                </c:pt>
                <c:pt idx="4">
                  <c:v>72</c:v>
                </c:pt>
                <c:pt idx="5">
                  <c:v>56</c:v>
                </c:pt>
                <c:pt idx="6">
                  <c:v>51</c:v>
                </c:pt>
                <c:pt idx="7">
                  <c:v>44</c:v>
                </c:pt>
                <c:pt idx="8">
                  <c:v>40</c:v>
                </c:pt>
                <c:pt idx="9">
                  <c:v>24</c:v>
                </c:pt>
                <c:pt idx="10">
                  <c:v>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10C-47BE-AD30-66AD03CEB89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15"/>
        <c:overlap val="-40"/>
        <c:axId val="541753727"/>
        <c:axId val="541761887"/>
      </c:barChart>
      <c:catAx>
        <c:axId val="541753727"/>
        <c:scaling>
          <c:orientation val="minMax"/>
        </c:scaling>
        <c:delete val="0"/>
        <c:axPos val="b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75000"/>
                      <a:lumOff val="25000"/>
                    </a:schemeClr>
                  </a:gs>
                  <a:gs pos="0">
                    <a:schemeClr val="dk1">
                      <a:lumMod val="65000"/>
                      <a:lumOff val="35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41761887"/>
        <c:crosses val="autoZero"/>
        <c:auto val="1"/>
        <c:lblAlgn val="ctr"/>
        <c:lblOffset val="100"/>
        <c:noMultiLvlLbl val="0"/>
      </c:catAx>
      <c:valAx>
        <c:axId val="541761887"/>
        <c:scaling>
          <c:orientation val="minMax"/>
        </c:scaling>
        <c:delete val="0"/>
        <c:axPos val="l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75000"/>
                      <a:lumOff val="25000"/>
                    </a:schemeClr>
                  </a:gs>
                  <a:gs pos="0">
                    <a:schemeClr val="dk1">
                      <a:lumMod val="65000"/>
                      <a:lumOff val="35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4175372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lt1">
                  <a:lumMod val="7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dk1">
        <a:lumMod val="75000"/>
        <a:lumOff val="25000"/>
      </a:schemeClr>
    </a:solidFill>
    <a:ln w="9525" cap="flat" cmpd="sng" algn="ctr">
      <a:solidFill>
        <a:schemeClr val="dk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[MasterTheatreList.xlsx]DMB_Vs_Screen_State-wise!PivotTable2</c:name>
    <c:fmtId val="22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Top</a:t>
            </a:r>
            <a:r>
              <a:rPr lang="en-US" baseline="0" dirty="0"/>
              <a:t> 5 </a:t>
            </a:r>
            <a:r>
              <a:rPr lang="en-US" sz="1600" b="1" i="0" u="none" strike="noStrike" baseline="0" dirty="0"/>
              <a:t>State-wise Distribution of Screens and Digital Menu Boards</a:t>
            </a:r>
            <a:r>
              <a:rPr lang="en-US" baseline="0" dirty="0"/>
              <a:t> </a:t>
            </a:r>
            <a:endParaRPr lang="en-US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circle"/>
          <c:size val="6"/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9525">
              <a:solidFill>
                <a:schemeClr val="accent1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circle"/>
          <c:size val="6"/>
          <c:spPr>
            <a:gradFill rotWithShape="1">
              <a:gsLst>
                <a:gs pos="0">
                  <a:schemeClr val="accent2"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9525">
              <a:solidFill>
                <a:schemeClr val="accent2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'DMB_Vs_Screen_State-wise'!$B$1</c:f>
              <c:strCache>
                <c:ptCount val="1"/>
                <c:pt idx="0">
                  <c:v>Sum of # of Screens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'DMB_Vs_Screen_State-wise'!$A$2:$A$8</c:f>
              <c:strCache>
                <c:ptCount val="6"/>
                <c:pt idx="0">
                  <c:v>TX</c:v>
                </c:pt>
                <c:pt idx="1">
                  <c:v>MI</c:v>
                </c:pt>
                <c:pt idx="2">
                  <c:v>CA</c:v>
                </c:pt>
                <c:pt idx="3">
                  <c:v>IL</c:v>
                </c:pt>
                <c:pt idx="4">
                  <c:v>MD</c:v>
                </c:pt>
                <c:pt idx="5">
                  <c:v>ME</c:v>
                </c:pt>
              </c:strCache>
            </c:strRef>
          </c:cat>
          <c:val>
            <c:numRef>
              <c:f>'DMB_Vs_Screen_State-wise'!$B$2:$B$8</c:f>
              <c:numCache>
                <c:formatCode>General</c:formatCode>
                <c:ptCount val="6"/>
                <c:pt idx="0">
                  <c:v>467</c:v>
                </c:pt>
                <c:pt idx="1">
                  <c:v>367</c:v>
                </c:pt>
                <c:pt idx="2">
                  <c:v>115</c:v>
                </c:pt>
                <c:pt idx="3">
                  <c:v>115</c:v>
                </c:pt>
                <c:pt idx="4">
                  <c:v>154</c:v>
                </c:pt>
                <c:pt idx="5">
                  <c:v>138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A49-456D-A364-36410516F606}"/>
            </c:ext>
          </c:extLst>
        </c:ser>
        <c:ser>
          <c:idx val="1"/>
          <c:order val="1"/>
          <c:tx>
            <c:strRef>
              <c:f>'DMB_Vs_Screen_State-wise'!$C$1</c:f>
              <c:strCache>
                <c:ptCount val="1"/>
                <c:pt idx="0">
                  <c:v>Sum of # of DMB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'DMB_Vs_Screen_State-wise'!$A$2:$A$8</c:f>
              <c:strCache>
                <c:ptCount val="6"/>
                <c:pt idx="0">
                  <c:v>TX</c:v>
                </c:pt>
                <c:pt idx="1">
                  <c:v>MI</c:v>
                </c:pt>
                <c:pt idx="2">
                  <c:v>CA</c:v>
                </c:pt>
                <c:pt idx="3">
                  <c:v>IL</c:v>
                </c:pt>
                <c:pt idx="4">
                  <c:v>MD</c:v>
                </c:pt>
                <c:pt idx="5">
                  <c:v>ME</c:v>
                </c:pt>
              </c:strCache>
            </c:strRef>
          </c:cat>
          <c:val>
            <c:numRef>
              <c:f>'DMB_Vs_Screen_State-wise'!$C$2:$C$8</c:f>
              <c:numCache>
                <c:formatCode>General</c:formatCode>
                <c:ptCount val="6"/>
                <c:pt idx="0">
                  <c:v>287</c:v>
                </c:pt>
                <c:pt idx="1">
                  <c:v>267</c:v>
                </c:pt>
                <c:pt idx="2">
                  <c:v>136</c:v>
                </c:pt>
                <c:pt idx="3">
                  <c:v>80</c:v>
                </c:pt>
                <c:pt idx="4">
                  <c:v>74</c:v>
                </c:pt>
                <c:pt idx="5">
                  <c:v>60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A49-456D-A364-36410516F60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4"/>
        <c:axId val="541785887"/>
        <c:axId val="541790207"/>
      </c:barChart>
      <c:catAx>
        <c:axId val="54178588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41790207"/>
        <c:crosses val="autoZero"/>
        <c:auto val="1"/>
        <c:lblAlgn val="ctr"/>
        <c:lblOffset val="100"/>
        <c:noMultiLvlLbl val="0"/>
      </c:catAx>
      <c:valAx>
        <c:axId val="54179020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4178588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Ex1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>
    <cx:plotArea>
      <cx:plotAreaRegion/>
    </cx:plotArea>
    <cx:legend pos="t" align="ctr" overlay="0">
      <cx:txPr>
        <a:bodyPr spcFirstLastPara="1" vertOverflow="ellipsis" horzOverflow="overflow" wrap="square" lIns="0" tIns="0" rIns="0" bIns="0" anchor="ctr" anchorCtr="1"/>
        <a:lstStyle/>
        <a:p>
          <a:pPr algn="ctr" rtl="0">
            <a:defRPr/>
          </a:pPr>
          <a:endParaRPr lang="en-US" sz="900" b="0" i="0" u="none" strike="noStrike" baseline="0">
            <a:solidFill>
              <a:srgbClr val="000000">
                <a:lumMod val="65000"/>
                <a:lumOff val="35000"/>
              </a:srgbClr>
            </a:solidFill>
            <a:latin typeface="Calibri"/>
            <a:ea typeface="Calibri"/>
            <a:cs typeface="Calibri"/>
          </a:endParaRPr>
        </a:p>
      </cx:txPr>
    </cx:legend>
  </cx:chart>
</cx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4">
  <cs:axisTitle>
    <cs:lnRef idx="0"/>
    <cs:fillRef idx="0"/>
    <cs:effectRef idx="0"/>
    <cs:fontRef idx="minor">
      <a:schemeClr val="lt1">
        <a:lumMod val="85000"/>
      </a:schemeClr>
    </cs:fontRef>
    <cs:defRPr sz="900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/>
    <cs:defRPr sz="900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000" kern="1200"/>
  </cs:chartArea>
  <cs:dataLabel>
    <cs:lnRef idx="0"/>
    <cs:fillRef idx="0"/>
    <cs:effectRef idx="0"/>
    <cs:fontRef idx="minor">
      <a:schemeClr val="lt1">
        <a:lumMod val="8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>
        <a:solidFill>
          <a:schemeClr val="dk1">
            <a:lumMod val="60000"/>
            <a:lumOff val="40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900" kern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/>
    <cs:defRPr sz="900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1600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900" kern="1200"/>
  </cs:valueAxis>
  <cs:wall>
    <cs:lnRef idx="0"/>
    <cs:fillRef idx="0"/>
    <cs:effectRef idx="0"/>
    <cs:fontRef idx="minor">
      <a:schemeClr val="tx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61">
  <cs:axisTitle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categoryAxis>
  <cs:chartArea>
    <cs:lnRef idx="0"/>
    <cs:fillRef idx="0"/>
    <cs:effectRef idx="0"/>
    <cs:fontRef idx="minor">
      <a:schemeClr val="dk1"/>
    </cs:fontRef>
    <cs:spPr>
      <a:pattFill prst="dkDnDiag">
        <a:fgClr>
          <a:schemeClr val="lt1">
            <a:lumMod val="95000"/>
          </a:schemeClr>
        </a:fgClr>
        <a:bgClr>
          <a:schemeClr val="lt1"/>
        </a:bgClr>
      </a:patt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/>
    </cs:fontRef>
    <cs:defRPr sz="900" b="1" i="0" u="none" strike="noStrike" kern="1200" baseline="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>
          <a:alpha val="75000"/>
        </a:schemeClr>
      </a:solidFill>
      <a:ln w="9525"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317500" algn="ctr" rotWithShape="0">
          <a:prstClr val="black">
            <a:alpha val="25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88900" sx="102000" sy="102000" algn="ctr" rotWithShape="0">
          <a:prstClr val="black">
            <a:alpha val="20000"/>
          </a:prstClr>
        </a:outerShdw>
      </a:effectLst>
      <a:scene3d>
        <a:camera prst="orthographicFront"/>
        <a:lightRig rig="threePt" dir="t"/>
      </a:scene3d>
      <a:sp3d prstMaterial="matte"/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noFill/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dk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>
          <a:alpha val="78000"/>
        </a:schemeClr>
      </a:solidFill>
    </cs:spPr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65000"/>
        <a:lumOff val="3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495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1131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3175">
        <a:solidFill>
          <a:schemeClr val="dk1">
            <a:lumMod val="50000"/>
            <a:lumOff val="50000"/>
          </a:schemeClr>
        </a:solidFill>
      </a:ln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/>
  </cs:valueAxis>
  <cs:wall>
    <cs:lnRef idx="0"/>
    <cs:fillRef idx="0"/>
    <cs:effectRef idx="0"/>
    <cs:fontRef idx="minor">
      <a:schemeClr val="tx1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13">
  <cs:axisTitle>
    <cs:lnRef idx="0"/>
    <cs:fillRef idx="0"/>
    <cs:effectRef idx="0"/>
    <cs:fontRef idx="minor">
      <a:schemeClr val="lt1">
        <a:lumMod val="75000"/>
      </a:schemeClr>
    </cs:fontRef>
    <cs:defRPr sz="900" b="1" kern="1200"/>
  </cs:axisTitle>
  <cs:categoryAxis>
    <cs:lnRef idx="0"/>
    <cs:fillRef idx="0"/>
    <cs:effectRef idx="0"/>
    <cs:fontRef idx="minor">
      <a:schemeClr val="lt1">
        <a:lumMod val="75000"/>
      </a:schemeClr>
    </cs:fontRef>
    <cs:defRPr sz="900" kern="1200"/>
  </cs:categoryAxis>
  <cs:chartArea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>
        <a:lumMod val="75000"/>
      </a:schemeClr>
    </cs:fontRef>
    <cs:defRPr sz="900" kern="1200"/>
  </cs:dataLabel>
  <cs:dataLabelCallout>
    <cs:lnRef idx="0"/>
    <cs:fillRef idx="0"/>
    <cs:effectRef idx="0"/>
    <cs:fontRef idx="minor">
      <a:schemeClr val="lt1">
        <a:lumMod val="15000"/>
        <a:lumOff val="85000"/>
      </a:schemeClr>
    </cs:fontRef>
    <cs:spPr>
      <a:solidFill>
        <a:schemeClr val="dk1">
          <a:lumMod val="65000"/>
          <a:lumOff val="35000"/>
        </a:schemeClr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/>
    <cs:effectRef idx="0">
      <cs:styleClr val="auto"/>
    </cs:effectRef>
    <cs:fontRef idx="minor">
      <a:schemeClr val="dk1"/>
    </cs:fontRef>
    <cs:spPr>
      <a:ln w="9525" cap="flat" cmpd="sng" algn="ctr">
        <a:solidFill>
          <a:schemeClr val="phClr"/>
        </a:solidFill>
        <a:miter lim="800000"/>
      </a:ln>
      <a:effectLst>
        <a:glow rad="63500">
          <a:schemeClr val="phClr">
            <a:satMod val="175000"/>
            <a:alpha val="25000"/>
          </a:schemeClr>
        </a:glow>
      </a:effectLst>
    </cs:spPr>
  </cs:dataPoint>
  <cs:dataPoint3D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ln w="9525" cap="flat" cmpd="sng" algn="ctr">
        <a:solidFill>
          <a:schemeClr val="phClr"/>
        </a:solidFill>
        <a:miter lim="800000"/>
      </a:ln>
      <a:effectLst>
        <a:glow rad="63500">
          <a:schemeClr val="phClr">
            <a:satMod val="175000"/>
            <a:alpha val="25000"/>
          </a:schemeClr>
        </a:glow>
      </a:effectLst>
    </cs:spPr>
  </cs:dataPoint3D>
  <cs:dataPointLine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ln w="22225" cap="rnd">
        <a:solidFill>
          <a:schemeClr val="phClr"/>
        </a:solidFill>
      </a:ln>
      <a:effectLst>
        <a:glow rad="139700">
          <a:schemeClr val="phClr">
            <a:satMod val="175000"/>
            <a:alpha val="14000"/>
          </a:schemeClr>
        </a:glow>
      </a:effectLst>
    </cs:spPr>
  </cs:dataPointLine>
  <cs:dataPointMarker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solidFill>
        <a:schemeClr val="phClr">
          <a:lumMod val="60000"/>
          <a:lumOff val="40000"/>
        </a:schemeClr>
      </a:solidFill>
      <a:effectLst>
        <a:glow rad="63500">
          <a:schemeClr val="phClr">
            <a:satMod val="175000"/>
            <a:alpha val="25000"/>
          </a:schemeClr>
        </a:glow>
      </a:effectLst>
    </cs:spPr>
  </cs:dataPointMarker>
  <cs:dataPointMarkerLayout symbol="circle" size="4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75000"/>
      </a:schemeClr>
    </cs:fontRef>
    <cs:spPr>
      <a:ln w="9525">
        <a:solidFill>
          <a:schemeClr val="dk1">
            <a:lumMod val="50000"/>
            <a:lumOff val="50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lt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75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75000"/>
                <a:lumOff val="25000"/>
              </a:schemeClr>
            </a:gs>
            <a:gs pos="0">
              <a:schemeClr val="dk1">
                <a:lumMod val="65000"/>
                <a:lumOff val="35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75000"/>
                <a:lumOff val="25000"/>
                <a:alpha val="25000"/>
              </a:schemeClr>
            </a:gs>
            <a:gs pos="0">
              <a:schemeClr val="dk1">
                <a:lumMod val="65000"/>
                <a:lumOff val="35000"/>
                <a:alpha val="25000"/>
              </a:schemeClr>
            </a:gs>
          </a:gsLst>
          <a:lin ang="5400000" scaled="0"/>
        </a:gra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leaderLine>
  <cs:legend>
    <cs:lnRef idx="0"/>
    <cs:fillRef idx="0"/>
    <cs:effectRef idx="0"/>
    <cs:fontRef idx="minor">
      <a:schemeClr val="lt1">
        <a:lumMod val="75000"/>
      </a:schemeClr>
    </cs:fontRef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lt1">
        <a:lumMod val="75000"/>
      </a:schemeClr>
    </cs:fontRef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85000"/>
      </a:schemeClr>
    </cs:fontRef>
    <cs:defRPr sz="1400" b="1" kern="1200" cap="none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25400" cap="rnd">
        <a:solidFill>
          <a:schemeClr val="phClr">
            <a:alpha val="50000"/>
          </a:schemeClr>
        </a:solidFill>
      </a:ln>
    </cs:spPr>
  </cs:trendline>
  <cs:trendlineLabel>
    <cs:lnRef idx="0"/>
    <cs:fillRef idx="0"/>
    <cs:effectRef idx="0"/>
    <cs:fontRef idx="minor">
      <a:schemeClr val="lt1">
        <a:lumMod val="7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>
          <a:lumMod val="85000"/>
        </a:schemeClr>
      </a:solidFill>
      <a:ln w="9525">
        <a:solidFill>
          <a:schemeClr val="dk1">
            <a:lumMod val="50000"/>
          </a:schemeClr>
        </a:solidFill>
        <a:round/>
      </a:ln>
    </cs:spPr>
  </cs:upBar>
  <cs:valueAxis>
    <cs:lnRef idx="0"/>
    <cs:fillRef idx="0"/>
    <cs:effectRef idx="0"/>
    <cs:fontRef idx="minor">
      <a:schemeClr val="lt1">
        <a:lumMod val="75000"/>
      </a:schemeClr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6.xml><?xml version="1.0" encoding="utf-8"?>
<cs:chartStyle xmlns:cs="http://schemas.microsoft.com/office/drawing/2012/chartStyle" xmlns:a="http://schemas.openxmlformats.org/drawingml/2006/main" id="3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108403-DB6B-484C-B92F-C00423DCCBAA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FAED37-C4E8-47ED-B2D2-B34A0F73A4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02832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FAED37-C4E8-47ED-B2D2-B34A0F73A4D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53607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FAED37-C4E8-47ED-B2D2-B34A0F73A4D3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6568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BDCD51-A574-C85C-58B8-1484FCE38A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52ACAC-5B24-C766-9EE0-C5D9B340B9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A4C2E2-A54F-0695-989E-AA28A3659C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B7C7DD-02C6-4F24-B880-EB6FA0FE11D1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738C72-E4E4-6E1E-F926-03BCE95E7B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AF7159-9A14-3BBA-FBB7-350CC0033E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CDBFA-F372-440F-AEC2-4E62363D1E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30263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ECEF07-42BB-4907-366F-63008903FD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0B7C69-86B5-2251-5CC8-475DE5A52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485338-AEF3-AF8C-2D72-56E91623F2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B7C7DD-02C6-4F24-B880-EB6FA0FE11D1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6E03CC-C3B5-98B8-0A5C-AC6262961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7CA903-BFBC-835B-7F8F-401BEF8C6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CDBFA-F372-440F-AEC2-4E62363D1E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87278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08FBC0-88A9-E5A8-8DF9-93E95B6A42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275520-839A-7F05-4F43-64565CE7C7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A55EA2-6383-0695-FA46-F88C9FE5CD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B7C7DD-02C6-4F24-B880-EB6FA0FE11D1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DE0338-6540-B3AD-C01C-594A8019A7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5920BE-9A9A-B944-FB4E-CF956EEEC9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CDBFA-F372-440F-AEC2-4E62363D1E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54814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E2B5D4-FAFC-2CB7-A612-39E6529C2C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1A3815-F2E1-C41E-572F-0BED4363CD3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684314-B90D-3F14-906C-56AFFE65AF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C40F64-BF2C-D9F1-6276-F20EB06C16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B7C7DD-02C6-4F24-B880-EB6FA0FE11D1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669758-8548-778D-4774-7F25E7887F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FEA50B-4612-8092-8DDD-D023217EF7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CDBFA-F372-440F-AEC2-4E62363D1E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47484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E5900-CABF-35E4-C054-232C00B94E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A05822-A5FF-3683-EBE1-40A444E20B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BDAB99-7CFF-87E5-D024-57793BA65B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9629BAA-4483-7353-6C0C-CC68B2802F1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1786745-B44C-9811-7205-6F0C2DD235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A9B9BF9-E98D-42CF-C16C-03E491E37E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B7C7DD-02C6-4F24-B880-EB6FA0FE11D1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ACC56D3-CA58-8F08-45CE-94D79E60AB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3035790-C59A-39E4-E174-C11ACD870E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CDBFA-F372-440F-AEC2-4E62363D1E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73438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22288-DA12-FF08-BB2F-C22DA52CE4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442EB67-C799-DBB1-65AE-613BCB2AF7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B7C7DD-02C6-4F24-B880-EB6FA0FE11D1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0B11A3-6714-B89B-EE8E-A9209161E7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3537A6-29AE-8617-E491-6A544E7037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CDBFA-F372-440F-AEC2-4E62363D1E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21550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1A8F2CC-968D-7F82-54C5-317FE19465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B7C7DD-02C6-4F24-B880-EB6FA0FE11D1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177B19-880D-DA0A-C2E6-A43D7DA7E6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28D842-CEF0-2152-022C-FC94D7034A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CDBFA-F372-440F-AEC2-4E62363D1E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58814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319B52-4BD0-DEDE-FDF5-D01665C343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6D2734-BE1D-B39F-519E-EEEA38DCE9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25678E-D054-352E-A90F-E276C29A38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27668A-BFFA-9A86-58BB-B76E6628B9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B7C7DD-02C6-4F24-B880-EB6FA0FE11D1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C862A7-4B6E-2B4C-FA6E-C6A1BB243C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84E47F-391B-2CFB-65B5-35DBD74B5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CDBFA-F372-440F-AEC2-4E62363D1E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2706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631317-606F-D721-8A32-E969A7E413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BBBFD0E-1636-5301-F8D6-CC4142B5006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2B9683-773E-349C-745B-A47B0DF5D6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4A428F-3B14-E597-B9D2-149745C047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B7C7DD-02C6-4F24-B880-EB6FA0FE11D1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00943E-1255-60D6-92E9-338D8F2D14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756536-C549-E6CD-B608-865D6F97FF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CDBFA-F372-440F-AEC2-4E62363D1E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1826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6F070B-DFCD-C3D6-C03B-745582BE21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C14597E-6D12-E014-4586-E466588A5A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951A0B-9B22-1765-FB1B-AC20D9B600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B7C7DD-02C6-4F24-B880-EB6FA0FE11D1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CCD6FC-4F3A-1C83-0004-E35AFCA00A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EDF31E-2FBE-4726-FEE9-459EDCBD1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CDBFA-F372-440F-AEC2-4E62363D1E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76833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7EB2A4E-FD3C-0DA3-47BE-C5BC66A349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20A1EA-D5B5-9F9D-2B9E-A62BC56D58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34C6A5-2EBD-190B-EE06-E3041C2219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B7C7DD-02C6-4F24-B880-EB6FA0FE11D1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1D4904-BBAE-AAB2-2348-34C4ACD05D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ECEC3C-10FB-27D0-0D11-517E7CFCEB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CDBFA-F372-440F-AEC2-4E62363D1E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5364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B9F2AE8-0502-4350-AF0B-6FC295F9D9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876970-2DFB-C672-31D4-5EF4F11AA2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874C11-B7D6-F5B4-7291-C5920C3ADD2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0B7C7DD-02C6-4F24-B880-EB6FA0FE11D1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ED5457-4235-010B-38F3-4950FEE4EEA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B5F3CA-A570-629D-DE4F-82AB4FF4E4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99CDBFA-F372-440F-AEC2-4E62363D1E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29681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microsoft.com/office/2014/relationships/chartEx" Target="../charts/chartEx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BE5417-D2A7-3E4F-7825-990790845C8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Master Client – Data Visualization</a:t>
            </a:r>
          </a:p>
        </p:txBody>
      </p:sp>
    </p:spTree>
    <p:extLst>
      <p:ext uri="{BB962C8B-B14F-4D97-AF65-F5344CB8AC3E}">
        <p14:creationId xmlns:p14="http://schemas.microsoft.com/office/powerpoint/2010/main" val="25554977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12609869-9E80-471B-A487-A53288E0E7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A7FD3DC-5D68-F870-19EE-00876A028A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2721" y="502020"/>
            <a:ext cx="6287391" cy="607113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r>
              <a:rPr lang="en-US" sz="4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Coke Vs Pepsi Split By State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483A5BD-54EA-D335-ABF4-8733A65B3394}"/>
              </a:ext>
            </a:extLst>
          </p:cNvPr>
          <p:cNvSpPr txBox="1"/>
          <p:nvPr/>
        </p:nvSpPr>
        <p:spPr>
          <a:xfrm>
            <a:off x="457201" y="2405894"/>
            <a:ext cx="5750558" cy="353508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Coke has the high share in MO, NM, MI and MN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aseline="0" dirty="0"/>
              <a:t>Pepsi shows relative strength ME (100% share) and CA (around 50%)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aseline="0" dirty="0"/>
              <a:t>There are a few states where only Pepsi is poured are ME, NY, CT,  OR, NV, AZ and VT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aseline="0" dirty="0"/>
              <a:t>Coke dominates nationwide, but Pepsi is strong in selected states only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004738A-9D34-43E8-97D2-CA0EED4F8B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5"/>
            <a:ext cx="4092521" cy="6858000"/>
          </a:xfrm>
          <a:prstGeom prst="rect">
            <a:avLst/>
          </a:prstGeom>
          <a:gradFill>
            <a:gsLst>
              <a:gs pos="8000">
                <a:srgbClr val="000000">
                  <a:alpha val="94000"/>
                </a:srgbClr>
              </a:gs>
              <a:gs pos="100000">
                <a:schemeClr val="accent1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8B8D07F-F13E-443E-BA68-2D26672D76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"/>
            <a:ext cx="4092521" cy="6400369"/>
          </a:xfrm>
          <a:prstGeom prst="rect">
            <a:avLst/>
          </a:prstGeom>
          <a:gradFill>
            <a:gsLst>
              <a:gs pos="31000">
                <a:schemeClr val="accent1">
                  <a:lumMod val="50000"/>
                  <a:alpha val="0"/>
                </a:schemeClr>
              </a:gs>
              <a:gs pos="100000">
                <a:schemeClr val="accent1">
                  <a:lumMod val="50000"/>
                  <a:alpha val="26000"/>
                </a:scheme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813A4FA-24A5-41ED-A534-3807D1B2F3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2"/>
            <a:ext cx="4068667" cy="6400389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72000">
                <a:srgbClr val="000000">
                  <a:alpha val="21000"/>
                </a:srgb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3944F27-CA70-4E84-A51A-E6BF895589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10"/>
            <a:ext cx="3611467" cy="6857997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93000">
                <a:srgbClr val="000000">
                  <a:alpha val="29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3AF3830C-14F9-4E53-B8CA-8FE71A86DE9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09878468"/>
              </p:ext>
            </p:extLst>
          </p:nvPr>
        </p:nvGraphicFramePr>
        <p:xfrm>
          <a:off x="6380480" y="579121"/>
          <a:ext cx="5638799" cy="57768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6699962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8752EE-4427-4EEE-CCFA-FD3DF214D0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112433" cy="1800401"/>
          </a:xfrm>
          <a:noFill/>
        </p:spPr>
        <p:txBody>
          <a:bodyPr vert="horz" lIns="91440" tIns="45720" rIns="91440" bIns="45720" rtlCol="0" anchor="ctr">
            <a:normAutofit fontScale="90000"/>
          </a:bodyPr>
          <a:lstStyle/>
          <a:p>
            <a:pPr algn="ctr"/>
            <a:r>
              <a:rPr lang="en-US" sz="3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Top 5 states that pour Coke</a:t>
            </a:r>
          </a:p>
        </p:txBody>
      </p:sp>
      <p:pic>
        <p:nvPicPr>
          <p:cNvPr id="7" name="Picture 6" descr="A graph of a graph&#10;&#10;AI-generated content may be incorrect.">
            <a:extLst>
              <a:ext uri="{FF2B5EF4-FFF2-40B4-BE49-F238E27FC236}">
                <a16:creationId xmlns:a16="http://schemas.microsoft.com/office/drawing/2014/main" id="{C37DF310-3564-2377-1F3D-920A656A4C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7316" y="304800"/>
            <a:ext cx="7302924" cy="6096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13AC775-4652-0E9D-FAD6-2AD8F97221CF}"/>
              </a:ext>
            </a:extLst>
          </p:cNvPr>
          <p:cNvSpPr txBox="1"/>
          <p:nvPr/>
        </p:nvSpPr>
        <p:spPr>
          <a:xfrm>
            <a:off x="297327" y="5038447"/>
            <a:ext cx="4359340" cy="16158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COKE dominates in states such as </a:t>
            </a:r>
            <a:r>
              <a:rPr lang="en-US" sz="1100" b="1" dirty="0"/>
              <a:t>California, Texas, Michigan, and Illinois</a:t>
            </a:r>
            <a:r>
              <a:rPr lang="en-US" sz="1100" dirty="0"/>
              <a:t>, where theater networks and DMB installations are the highest.</a:t>
            </a:r>
            <a:br>
              <a:rPr lang="en-US" sz="1100" dirty="0"/>
            </a:br>
            <a:r>
              <a:rPr lang="en-US" sz="1100" dirty="0"/>
              <a:t>This reflects </a:t>
            </a:r>
            <a:r>
              <a:rPr lang="en-US" sz="1100" b="1" dirty="0"/>
              <a:t>strong brand loyalty and established partnerships</a:t>
            </a:r>
            <a:r>
              <a:rPr lang="en-US" sz="1100" dirty="0"/>
              <a:t> in these markets.</a:t>
            </a:r>
            <a:br>
              <a:rPr lang="en-US" sz="1100" dirty="0"/>
            </a:br>
            <a:r>
              <a:rPr lang="en-US" sz="1100" dirty="0"/>
              <a:t>By focusing on </a:t>
            </a:r>
            <a:r>
              <a:rPr lang="en-US" sz="1100" b="1" dirty="0"/>
              <a:t>localized digital content creation</a:t>
            </a:r>
            <a:r>
              <a:rPr lang="en-US" sz="1100" dirty="0"/>
              <a:t> and </a:t>
            </a:r>
            <a:r>
              <a:rPr lang="en-US" sz="1100" b="1" dirty="0"/>
              <a:t>enhancing Coke’s visibility</a:t>
            </a:r>
            <a:r>
              <a:rPr lang="en-US" sz="1100" dirty="0"/>
              <a:t> across these high-performing regions, we can further </a:t>
            </a:r>
            <a:r>
              <a:rPr lang="en-US" sz="1100" b="1" dirty="0"/>
              <a:t>strengthen our partnership  with Coke </a:t>
            </a:r>
            <a:r>
              <a:rPr lang="en-US" sz="1100" dirty="0"/>
              <a:t>in the cinema experience.</a:t>
            </a:r>
          </a:p>
        </p:txBody>
      </p:sp>
    </p:spTree>
    <p:extLst>
      <p:ext uri="{BB962C8B-B14F-4D97-AF65-F5344CB8AC3E}">
        <p14:creationId xmlns:p14="http://schemas.microsoft.com/office/powerpoint/2010/main" val="28167161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D1E98D-8FE0-6640-8B97-59A84A7D0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Top 2 states that pour Pepsi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09D70BA-E985-4007-6F21-97B0E86EC22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9851" b="12622"/>
          <a:stretch>
            <a:fillRect/>
          </a:stretch>
        </p:blipFill>
        <p:spPr>
          <a:xfrm>
            <a:off x="1485400" y="1966293"/>
            <a:ext cx="9221199" cy="4452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99720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CAF440-B395-ADE9-EDBB-DAFA669E6E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Coke Vs Pepsi Share Across All Theaters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C70FC9-C5AA-3A00-479E-531B764CAD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868332" cy="4351338"/>
          </a:xfrm>
        </p:spPr>
        <p:txBody>
          <a:bodyPr/>
          <a:lstStyle/>
          <a:p>
            <a:r>
              <a:rPr lang="en-US" sz="2000" dirty="0"/>
              <a:t>Coke leads with approximately 70%  (69 of 113) of the overall share across 113 theaters. Suggest coke as a dominant choice for most theaters</a:t>
            </a:r>
          </a:p>
          <a:p>
            <a:r>
              <a:rPr lang="en-US" sz="1800" dirty="0"/>
              <a:t> </a:t>
            </a:r>
            <a:r>
              <a:rPr lang="en-US" sz="2000" dirty="0"/>
              <a:t>Pepsi only holds about approximately 30% (35 of 113) of the overall share across total theaters</a:t>
            </a:r>
            <a:endParaRPr lang="en-US" dirty="0"/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DE9A8A52-6A10-443E-86FC-89006AE7FEE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23621342"/>
              </p:ext>
            </p:extLst>
          </p:nvPr>
        </p:nvGraphicFramePr>
        <p:xfrm>
          <a:off x="5850466" y="1757891"/>
          <a:ext cx="5613401" cy="372713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6647823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1586AF-4B3A-6238-FC76-8D4BC2A0ED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7569200" cy="394696"/>
          </a:xfrm>
        </p:spPr>
        <p:txBody>
          <a:bodyPr>
            <a:normAutofit fontScale="90000"/>
          </a:bodyPr>
          <a:lstStyle/>
          <a:p>
            <a:r>
              <a:rPr lang="en-US" dirty="0"/>
              <a:t>Geographic Distribution of Theaters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AB17F5-E325-B0CD-5064-FEBB7E0EE4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2192867" cy="2864908"/>
          </a:xfrm>
        </p:spPr>
        <p:txBody>
          <a:bodyPr>
            <a:normAutofit lnSpcReduction="10000"/>
          </a:bodyPr>
          <a:lstStyle/>
          <a:p>
            <a:r>
              <a:rPr lang="en-US" sz="1800" dirty="0"/>
              <a:t>Theater screens are highly concentrated in southern and midwestern regions</a:t>
            </a:r>
          </a:p>
          <a:p>
            <a:r>
              <a:rPr lang="en-US" sz="1800" dirty="0"/>
              <a:t>Western and Mountain states such as (Nevada, Colorado) has limited penetration</a:t>
            </a:r>
          </a:p>
          <a:p>
            <a:endParaRPr lang="en-US" dirty="0"/>
          </a:p>
        </p:txBody>
      </p:sp>
      <mc:AlternateContent xmlns:mc="http://schemas.openxmlformats.org/markup-compatibility/2006" xmlns:cx4="http://schemas.microsoft.com/office/drawing/2016/5/10/chartex">
        <mc:Choice Requires="cx4">
          <p:graphicFrame>
            <p:nvGraphicFramePr>
              <p:cNvPr id="4" name="Chart 3">
                <a:extLst>
                  <a:ext uri="{FF2B5EF4-FFF2-40B4-BE49-F238E27FC236}">
                    <a16:creationId xmlns:a16="http://schemas.microsoft.com/office/drawing/2014/main" id="{8A11BC75-9643-CF42-A738-E42C877F7469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3616247077"/>
                  </p:ext>
                </p:extLst>
              </p:nvPr>
            </p:nvGraphicFramePr>
            <p:xfrm>
              <a:off x="5049964" y="1806385"/>
              <a:ext cx="6627495" cy="3759518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2"/>
              </a:graphicData>
            </a:graphic>
          </p:graphicFrame>
        </mc:Choice>
        <mc:Fallback xmlns="">
          <p:pic>
            <p:nvPicPr>
              <p:cNvPr id="4" name="Chart 3">
                <a:extLst>
                  <a:ext uri="{FF2B5EF4-FFF2-40B4-BE49-F238E27FC236}">
                    <a16:creationId xmlns:a16="http://schemas.microsoft.com/office/drawing/2014/main" id="{8A11BC75-9643-CF42-A738-E42C877F7469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049964" y="1806385"/>
                <a:ext cx="6627495" cy="3759518"/>
              </a:xfrm>
              <a:prstGeom prst="rect">
                <a:avLst/>
              </a:prstGeom>
            </p:spPr>
          </p:pic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72B51B9B-FF10-BCB4-AE37-E6F2F75135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27400" y="759822"/>
            <a:ext cx="8779933" cy="5942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91152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C86402-5E5E-B61B-4259-CC8847A9B9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0623" y="154914"/>
            <a:ext cx="10515600" cy="684742"/>
          </a:xfrm>
        </p:spPr>
        <p:txBody>
          <a:bodyPr>
            <a:normAutofit fontScale="90000"/>
          </a:bodyPr>
          <a:lstStyle/>
          <a:p>
            <a:r>
              <a:rPr lang="en-US" dirty="0"/>
              <a:t>Top States by Theater Screens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3AA688-41D9-4726-2B22-32BA32B17B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0623" y="5093097"/>
            <a:ext cx="11504126" cy="1609989"/>
          </a:xfrm>
        </p:spPr>
        <p:txBody>
          <a:bodyPr>
            <a:normAutofit/>
          </a:bodyPr>
          <a:lstStyle/>
          <a:p>
            <a:r>
              <a:rPr lang="en-US" sz="2000" dirty="0"/>
              <a:t>Texas (TX) and Michigan (MI) are the largest markets with about 473 and 369 screens respectively. So, together they account for over 35% of all the screens</a:t>
            </a:r>
          </a:p>
          <a:p>
            <a:r>
              <a:rPr lang="en-US" sz="2000" dirty="0"/>
              <a:t> Several states fall below 50 screens</a:t>
            </a:r>
          </a:p>
          <a:p>
            <a:r>
              <a:rPr lang="en-US" sz="2000" dirty="0"/>
              <a:t>Useful for targeting the state specific events/conference where we can increase our reach.</a:t>
            </a:r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01531CCC-8719-3514-1E9F-3559A247054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18301010"/>
              </p:ext>
            </p:extLst>
          </p:nvPr>
        </p:nvGraphicFramePr>
        <p:xfrm>
          <a:off x="1280730" y="928306"/>
          <a:ext cx="9984678" cy="416479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1035727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19F955F-F676-BE94-D5B0-F5074B923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 fontScale="90000"/>
          </a:bodyPr>
          <a:lstStyle/>
          <a:p>
            <a:r>
              <a:rPr lang="en-US" sz="3800" dirty="0"/>
              <a:t>Screen and DMB distribution by Theater Chain</a:t>
            </a:r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6357EC4F-235E-4222-A36F-C7878ACE37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08BFAB-BA7E-D5E5-8C75-8D249AE1F2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anchor="t">
            <a:normAutofit fontScale="92500" lnSpcReduction="10000"/>
          </a:bodyPr>
          <a:lstStyle/>
          <a:p>
            <a:r>
              <a:rPr lang="en-US" sz="2200" dirty="0"/>
              <a:t>Emagine Entertainment has the highest number of DMB but less number of screens compared to Santikos</a:t>
            </a:r>
          </a:p>
          <a:p>
            <a:r>
              <a:rPr lang="en-US" sz="2200" dirty="0"/>
              <a:t>Also, Santa Rosa Cinema and Phoenix Theaters have more DMBs compared to screens, so it shows that it has a great potential for digital marketing or digital assets production</a:t>
            </a:r>
          </a:p>
          <a:p>
            <a:endParaRPr lang="en-US" sz="2200" dirty="0"/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512A5DFA-F08E-B471-90E8-7D7D67F456D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95066402"/>
              </p:ext>
            </p:extLst>
          </p:nvPr>
        </p:nvGraphicFramePr>
        <p:xfrm>
          <a:off x="4654296" y="640080"/>
          <a:ext cx="6903720" cy="5577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6179592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65DBBEF-238B-476B-96AB-8AAC3224EC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B771198-1014-23E9-027E-2DDAB01F19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9416" y="211667"/>
            <a:ext cx="3701583" cy="1537548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r>
              <a:rPr lang="en-US" sz="4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Top 5 states by screens and DMB’s distribution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4409267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0B460C9C-B223-49D0-593A-928EC291F4E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74482139"/>
              </p:ext>
            </p:extLst>
          </p:nvPr>
        </p:nvGraphicFramePr>
        <p:xfrm>
          <a:off x="4654296" y="640080"/>
          <a:ext cx="7214616" cy="55504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21B77441-6B90-29A1-954F-0694032E93CA}"/>
              </a:ext>
            </a:extLst>
          </p:cNvPr>
          <p:cNvSpPr txBox="1"/>
          <p:nvPr/>
        </p:nvSpPr>
        <p:spPr>
          <a:xfrm>
            <a:off x="404029" y="1828800"/>
            <a:ext cx="3927179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This chart will help our team to identify where to focus on which states for the digital assets production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Texas and California have the highest number of DMB’s so these states will require more frequent content to update </a:t>
            </a:r>
          </a:p>
        </p:txBody>
      </p:sp>
    </p:spTree>
    <p:extLst>
      <p:ext uri="{BB962C8B-B14F-4D97-AF65-F5344CB8AC3E}">
        <p14:creationId xmlns:p14="http://schemas.microsoft.com/office/powerpoint/2010/main" val="22088404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0130A3-DED6-B462-DD6B-1F05B730D8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3"/>
            <a:ext cx="9888496" cy="581438"/>
          </a:xfrm>
        </p:spPr>
        <p:txBody>
          <a:bodyPr anchor="t">
            <a:normAutofit fontScale="90000"/>
          </a:bodyPr>
          <a:lstStyle/>
          <a:p>
            <a:r>
              <a:rPr lang="en-US" sz="4000" b="1">
                <a:solidFill>
                  <a:schemeClr val="bg1"/>
                </a:solidFill>
              </a:rPr>
              <a:t>Insights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AE4844-AC9C-0727-7659-9C968C6C30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2240" y="1767840"/>
            <a:ext cx="12049750" cy="4876800"/>
          </a:xfrm>
        </p:spPr>
        <p:txBody>
          <a:bodyPr>
            <a:normAutofit fontScale="32500" lnSpcReduction="20000"/>
          </a:bodyPr>
          <a:lstStyle/>
          <a:p>
            <a:pPr marL="0" indent="0">
              <a:buNone/>
            </a:pPr>
            <a:r>
              <a:rPr lang="en-US" sz="3500" b="1" i="1" dirty="0"/>
              <a:t>Coke vs Pepsi Performance</a:t>
            </a:r>
            <a:br>
              <a:rPr lang="en-US" sz="2000" dirty="0"/>
            </a:br>
            <a:endParaRPr lang="en-US" sz="2000" dirty="0"/>
          </a:p>
          <a:p>
            <a:r>
              <a:rPr lang="en-US" sz="3000" dirty="0"/>
              <a:t>Coke maintains clear market leadership, holding approximately </a:t>
            </a:r>
            <a:r>
              <a:rPr lang="en-US" sz="3000" b="1" dirty="0"/>
              <a:t>70% share (69 of 113 theaters)</a:t>
            </a:r>
            <a:r>
              <a:rPr lang="en-US" sz="3000" dirty="0"/>
              <a:t>, making it the dominant beverage partner across the network.</a:t>
            </a:r>
          </a:p>
          <a:p>
            <a:r>
              <a:rPr lang="en-US" sz="3000" b="1" dirty="0"/>
              <a:t>Pepsi holds 30% (35 of 113 theaters)</a:t>
            </a:r>
            <a:r>
              <a:rPr lang="en-US" sz="3000" dirty="0"/>
              <a:t>, showing a smaller portion of our network.</a:t>
            </a:r>
          </a:p>
          <a:p>
            <a:r>
              <a:rPr lang="en-US" sz="3000" b="1" dirty="0"/>
              <a:t>Coke dominates in key states</a:t>
            </a:r>
            <a:r>
              <a:rPr lang="en-US" sz="3000" dirty="0"/>
              <a:t> such as </a:t>
            </a:r>
            <a:r>
              <a:rPr lang="en-US" sz="3000" b="1" dirty="0"/>
              <a:t>California, Texas, Michigan, and Illinois,</a:t>
            </a:r>
            <a:r>
              <a:rPr lang="en-US" sz="3000" dirty="0"/>
              <a:t> where theater networks and digital menu board (DMB) installations are strongest, reflecting </a:t>
            </a:r>
            <a:r>
              <a:rPr lang="en-US" sz="3000" b="1" dirty="0"/>
              <a:t>brand loyalty and established partnerships</a:t>
            </a:r>
            <a:r>
              <a:rPr lang="en-US" sz="3000" dirty="0"/>
              <a:t>.</a:t>
            </a:r>
          </a:p>
          <a:p>
            <a:r>
              <a:rPr lang="en-US" sz="3000" b="1" dirty="0"/>
              <a:t>Pepsi shows relative strength</a:t>
            </a:r>
            <a:r>
              <a:rPr lang="en-US" sz="3000" dirty="0"/>
              <a:t> in specific markets such as </a:t>
            </a:r>
            <a:r>
              <a:rPr lang="en-US" sz="3000" b="1" dirty="0"/>
              <a:t>Maine (100% share)</a:t>
            </a:r>
            <a:r>
              <a:rPr lang="en-US" sz="3000" dirty="0"/>
              <a:t> and </a:t>
            </a:r>
            <a:r>
              <a:rPr lang="en-US" sz="3000" b="1" dirty="0"/>
              <a:t>California (</a:t>
            </a:r>
            <a:r>
              <a:rPr lang="en-US" sz="3000" b="1" dirty="0" err="1"/>
              <a:t>approx</a:t>
            </a:r>
            <a:r>
              <a:rPr lang="en-US" sz="3000" b="1" dirty="0"/>
              <a:t> 50%)</a:t>
            </a:r>
            <a:r>
              <a:rPr lang="en-US" sz="3000" dirty="0"/>
              <a:t>, indicating </a:t>
            </a:r>
            <a:r>
              <a:rPr lang="en-US" sz="3000" b="1" dirty="0"/>
              <a:t>regional influence</a:t>
            </a:r>
            <a:r>
              <a:rPr lang="en-US" sz="3000" dirty="0"/>
              <a:t>.</a:t>
            </a:r>
          </a:p>
          <a:p>
            <a:r>
              <a:rPr lang="en-US" sz="3000" dirty="0"/>
              <a:t>States where </a:t>
            </a:r>
            <a:r>
              <a:rPr lang="en-US" sz="3000" b="1" dirty="0"/>
              <a:t>only Pepsi is poured</a:t>
            </a:r>
            <a:r>
              <a:rPr lang="en-US" sz="3000" dirty="0"/>
              <a:t> include </a:t>
            </a:r>
            <a:r>
              <a:rPr lang="en-US" sz="3000" b="1" dirty="0"/>
              <a:t>Maine, New York, Connecticut, Oregon, Nevada, Arizona, and Vermont</a:t>
            </a:r>
            <a:r>
              <a:rPr lang="en-US" sz="3000" dirty="0"/>
              <a:t>, highlighting </a:t>
            </a:r>
            <a:r>
              <a:rPr lang="en-US" sz="3000" b="1" dirty="0"/>
              <a:t>limited but exclusive territories</a:t>
            </a:r>
            <a:r>
              <a:rPr lang="en-US" sz="3000" dirty="0"/>
              <a:t> for the brand.</a:t>
            </a:r>
          </a:p>
          <a:p>
            <a:r>
              <a:rPr lang="en-US" sz="3000" dirty="0"/>
              <a:t>Overall, </a:t>
            </a:r>
            <a:r>
              <a:rPr lang="en-US" sz="3000" b="1" dirty="0"/>
              <a:t>Coke dominates nationwide</a:t>
            </a:r>
            <a:r>
              <a:rPr lang="en-US" sz="3000" dirty="0"/>
              <a:t>, while </a:t>
            </a:r>
            <a:r>
              <a:rPr lang="en-US" sz="3000" b="1" dirty="0"/>
              <a:t>Pepsi’s presence remains localized</a:t>
            </a:r>
            <a:r>
              <a:rPr lang="en-US" sz="3000" dirty="0"/>
              <a:t> to select states.</a:t>
            </a:r>
          </a:p>
          <a:p>
            <a:r>
              <a:rPr lang="en-US" sz="3000" b="1" dirty="0"/>
              <a:t>Focus digital content creation</a:t>
            </a:r>
            <a:r>
              <a:rPr lang="en-US" sz="3000" dirty="0"/>
              <a:t> in Coke-dominant states (CA, TX, MI, IL) to </a:t>
            </a:r>
            <a:r>
              <a:rPr lang="en-US" sz="3000" b="1" dirty="0"/>
              <a:t>reinforce brand leadership</a:t>
            </a:r>
            <a:r>
              <a:rPr lang="en-US" sz="3000" dirty="0"/>
              <a:t> and maintain high visibility.</a:t>
            </a:r>
          </a:p>
          <a:p>
            <a:pPr marL="0" indent="0">
              <a:buNone/>
            </a:pPr>
            <a:r>
              <a:rPr lang="en-US" sz="3400" b="1" i="1" dirty="0"/>
              <a:t>Theater &amp; Screen Distribution</a:t>
            </a:r>
            <a:br>
              <a:rPr lang="en-US" dirty="0"/>
            </a:br>
            <a:endParaRPr lang="en-US" dirty="0"/>
          </a:p>
          <a:p>
            <a:r>
              <a:rPr lang="en-US" sz="3100" b="1" dirty="0"/>
              <a:t>Texas (473 screens)</a:t>
            </a:r>
            <a:r>
              <a:rPr lang="en-US" sz="3100" dirty="0"/>
              <a:t> and </a:t>
            </a:r>
            <a:r>
              <a:rPr lang="en-US" sz="3100" b="1" dirty="0"/>
              <a:t>Michigan (369 screens)</a:t>
            </a:r>
            <a:r>
              <a:rPr lang="en-US" sz="3100" dirty="0"/>
              <a:t> are the </a:t>
            </a:r>
            <a:r>
              <a:rPr lang="en-US" sz="3100" b="1" dirty="0"/>
              <a:t>largest theater markets</a:t>
            </a:r>
            <a:r>
              <a:rPr lang="en-US" sz="3100" dirty="0"/>
              <a:t>, together accounting for </a:t>
            </a:r>
            <a:r>
              <a:rPr lang="en-US" sz="3100" b="1" dirty="0"/>
              <a:t>over 35% of all screens</a:t>
            </a:r>
            <a:r>
              <a:rPr lang="en-US" sz="3100" dirty="0"/>
              <a:t>.</a:t>
            </a:r>
          </a:p>
          <a:p>
            <a:r>
              <a:rPr lang="en-US" sz="3100" dirty="0"/>
              <a:t>Theater screens are </a:t>
            </a:r>
            <a:r>
              <a:rPr lang="en-US" sz="3100" b="1" dirty="0"/>
              <a:t>highly concentrated in southern and midwestern states</a:t>
            </a:r>
            <a:r>
              <a:rPr lang="en-US" sz="3100" dirty="0"/>
              <a:t>, with limited penetration in </a:t>
            </a:r>
            <a:r>
              <a:rPr lang="en-US" sz="3100" b="1" dirty="0"/>
              <a:t>western and mountain states</a:t>
            </a:r>
            <a:r>
              <a:rPr lang="en-US" sz="3100" dirty="0"/>
              <a:t> such as </a:t>
            </a:r>
            <a:r>
              <a:rPr lang="en-US" sz="3100" b="1" dirty="0"/>
              <a:t>Nevada and Colorado</a:t>
            </a:r>
            <a:r>
              <a:rPr lang="en-US" sz="3100" dirty="0"/>
              <a:t>.</a:t>
            </a:r>
          </a:p>
          <a:p>
            <a:r>
              <a:rPr lang="en-US" sz="3100" b="1" dirty="0"/>
              <a:t>Several states fall below 50 screens</a:t>
            </a:r>
            <a:r>
              <a:rPr lang="en-US" sz="3100" dirty="0"/>
              <a:t>, to boost our visibility in these markets, we can encourage attending local events or which can be </a:t>
            </a:r>
            <a:r>
              <a:rPr lang="en-US" sz="3100" b="1" dirty="0"/>
              <a:t>strategically targeted for local events, sponsorships, or brand activations</a:t>
            </a:r>
            <a:r>
              <a:rPr lang="en-US" sz="3100" dirty="0"/>
              <a:t> to increase visibility in smaller markets.</a:t>
            </a:r>
          </a:p>
          <a:p>
            <a:r>
              <a:rPr lang="en-US" sz="3100" dirty="0"/>
              <a:t>We can utilize </a:t>
            </a:r>
            <a:r>
              <a:rPr lang="en-US" sz="3100" b="1" dirty="0"/>
              <a:t>state-level screen concentration</a:t>
            </a:r>
            <a:r>
              <a:rPr lang="en-US" sz="3100" dirty="0"/>
              <a:t> to prioritize </a:t>
            </a:r>
            <a:r>
              <a:rPr lang="en-US" sz="3100" b="1" dirty="0"/>
              <a:t>marketing events, attending conferences and sponsorships</a:t>
            </a:r>
            <a:r>
              <a:rPr lang="en-US" sz="3100" dirty="0"/>
              <a:t> where audience density is highest.</a:t>
            </a:r>
          </a:p>
          <a:p>
            <a:r>
              <a:rPr lang="en-US" sz="3100" b="1" i="1" dirty="0"/>
              <a:t>Digital Menu Board (DMB) Insights</a:t>
            </a:r>
            <a:br>
              <a:rPr lang="en-US" sz="3100" dirty="0"/>
            </a:br>
            <a:endParaRPr lang="en-US" sz="3100" dirty="0"/>
          </a:p>
          <a:p>
            <a:r>
              <a:rPr lang="en-US" sz="3100" b="1" dirty="0"/>
              <a:t>Texas, Michigan, and California </a:t>
            </a:r>
            <a:r>
              <a:rPr lang="en-US" sz="3100" dirty="0"/>
              <a:t>have the </a:t>
            </a:r>
            <a:r>
              <a:rPr lang="en-US" sz="3100" b="1" dirty="0"/>
              <a:t>highest number of DMBs</a:t>
            </a:r>
            <a:r>
              <a:rPr lang="en-US" sz="3100" dirty="0"/>
              <a:t>, making them priority regions for </a:t>
            </a:r>
            <a:r>
              <a:rPr lang="en-US" sz="3100" b="1" dirty="0"/>
              <a:t>frequent digital content updates and localized creative assets</a:t>
            </a:r>
            <a:r>
              <a:rPr lang="en-US" sz="3100" dirty="0"/>
              <a:t>.</a:t>
            </a:r>
          </a:p>
          <a:p>
            <a:r>
              <a:rPr lang="en-US" sz="3100" b="1" dirty="0"/>
              <a:t>Emagine Entertainment</a:t>
            </a:r>
            <a:r>
              <a:rPr lang="en-US" sz="3100" dirty="0"/>
              <a:t> has the </a:t>
            </a:r>
            <a:r>
              <a:rPr lang="en-US" sz="3100" b="1" dirty="0"/>
              <a:t>highest number of DMBs</a:t>
            </a:r>
            <a:r>
              <a:rPr lang="en-US" sz="3100" dirty="0"/>
              <a:t>, though </a:t>
            </a:r>
            <a:r>
              <a:rPr lang="en-US" sz="3100" b="1" dirty="0"/>
              <a:t>fewer screens compared to Santikos</a:t>
            </a:r>
            <a:r>
              <a:rPr lang="en-US" sz="3100" dirty="0"/>
              <a:t>, suggesting stronger </a:t>
            </a:r>
            <a:r>
              <a:rPr lang="en-US" sz="3100" b="1" dirty="0"/>
              <a:t>digital focus despite smaller scale</a:t>
            </a:r>
            <a:r>
              <a:rPr lang="en-US" sz="3100" dirty="0"/>
              <a:t>.</a:t>
            </a:r>
          </a:p>
          <a:p>
            <a:r>
              <a:rPr lang="en-US" sz="3100" b="1" dirty="0"/>
              <a:t>Santa Rosa Cinema</a:t>
            </a:r>
            <a:r>
              <a:rPr lang="en-US" sz="3100" dirty="0"/>
              <a:t> and </a:t>
            </a:r>
            <a:r>
              <a:rPr lang="en-US" sz="3100" b="1" dirty="0"/>
              <a:t>Phoenix Theaters</a:t>
            </a:r>
            <a:r>
              <a:rPr lang="en-US" sz="3100" dirty="0"/>
              <a:t> show </a:t>
            </a:r>
            <a:r>
              <a:rPr lang="en-US" sz="3100" b="1" dirty="0"/>
              <a:t>more DMBs than screens</a:t>
            </a:r>
            <a:r>
              <a:rPr lang="en-US" sz="3100" dirty="0"/>
              <a:t>, indicating a </a:t>
            </a:r>
            <a:r>
              <a:rPr lang="en-US" sz="3100" b="1" dirty="0"/>
              <a:t>high level of digital readiness and strong potential for digital marketing activations</a:t>
            </a:r>
            <a:r>
              <a:rPr lang="en-US" sz="3100" dirty="0"/>
              <a:t>.</a:t>
            </a:r>
          </a:p>
          <a:p>
            <a:r>
              <a:rPr lang="en-US" sz="3100" dirty="0"/>
              <a:t>The presence of multiple DMBs per screen highlights </a:t>
            </a:r>
            <a:r>
              <a:rPr lang="en-US" sz="3100" b="1" dirty="0"/>
              <a:t>opportunities for more dynamic content rotation</a:t>
            </a:r>
            <a:endParaRPr lang="en-US" sz="3100" dirty="0"/>
          </a:p>
          <a:p>
            <a:endParaRPr lang="en-US" sz="600" dirty="0"/>
          </a:p>
        </p:txBody>
      </p:sp>
    </p:spTree>
    <p:extLst>
      <p:ext uri="{BB962C8B-B14F-4D97-AF65-F5344CB8AC3E}">
        <p14:creationId xmlns:p14="http://schemas.microsoft.com/office/powerpoint/2010/main" val="7201725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227</TotalTime>
  <Words>845</Words>
  <Application>Microsoft Office PowerPoint</Application>
  <PresentationFormat>Widescreen</PresentationFormat>
  <Paragraphs>53</Paragraphs>
  <Slides>10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Master Client – Data Visualization</vt:lpstr>
      <vt:lpstr>Coke Vs Pepsi Split By State</vt:lpstr>
      <vt:lpstr>Top 5 states that pour Coke</vt:lpstr>
      <vt:lpstr>Top 2 states that pour Pepsi</vt:lpstr>
      <vt:lpstr>Coke Vs Pepsi Share Across All Theaters</vt:lpstr>
      <vt:lpstr>Geographic Distribution of Theaters</vt:lpstr>
      <vt:lpstr>Top States by Theater Screens</vt:lpstr>
      <vt:lpstr>Screen and DMB distribution by Theater Chain</vt:lpstr>
      <vt:lpstr>Top 5 states by screens and DMB’s distribution</vt:lpstr>
      <vt:lpstr>Insights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Prateeksha Mehta</dc:creator>
  <cp:lastModifiedBy>Prateeksha Mehta</cp:lastModifiedBy>
  <cp:revision>24</cp:revision>
  <dcterms:created xsi:type="dcterms:W3CDTF">2025-09-29T16:50:28Z</dcterms:created>
  <dcterms:modified xsi:type="dcterms:W3CDTF">2025-10-29T18:28:11Z</dcterms:modified>
</cp:coreProperties>
</file>