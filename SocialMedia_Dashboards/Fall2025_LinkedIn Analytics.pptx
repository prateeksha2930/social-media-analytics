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2.xml" ContentType="application/vnd.openxmlformats-officedocument.theme+xml"/>
  <Override PartName="/ppt/theme/theme3.xml" ContentType="application/vnd.openxmlformats-officedocument.them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56" r:id="rId5"/>
    <p:sldId id="257" r:id="rId6"/>
    <p:sldId id="267" r:id="rId7"/>
    <p:sldId id="258" r:id="rId8"/>
    <p:sldId id="259" r:id="rId9"/>
    <p:sldId id="260" r:id="rId10"/>
    <p:sldId id="261" r:id="rId11"/>
    <p:sldId id="268" r:id="rId12"/>
    <p:sldId id="262" r:id="rId13"/>
    <p:sldId id="263" r:id="rId14"/>
    <p:sldId id="266"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63" y="7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pratu\OneDrive\Desktop\OC%20Team\Onnicreative_Visitor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pratu\OneDrive\Desktop\OC%20Team\Onnicreative_Visitor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pratu\OneDrive\Desktop\OC%20Team\Onnicreative_Visitor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pratu\OneDrive\Desktop\OC%20Team\Onnicreative_Visitor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pratu\OneDrive\Desktop\OC%20Team\Onnicreative_Visitor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pratu\OneDrive\Desktop\OC%20Team\Onnicreative_Visitor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pratu\OneDrive\Desktop\OC%20Team\Onnicreative_followers_LinkedIn.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pratu\OneDrive\Desktop\OC%20Team\Onnicreative_followers_LinkedIn.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pratu\OneDrive\Desktop\OC%20Team\Onnicreative_followers_LinkedIn.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pratu\OneDrive\Desktop\OC%20Team\Onnicreative_followers_LinkedIn.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pratu\OneDrive\Desktop\OC%20Team\Onnicreative_followers_LinkedIn.xlsx" TargetMode="External"/><Relationship Id="rId2" Type="http://schemas.microsoft.com/office/2011/relationships/chartColorStyle" Target="colors17.xml"/><Relationship Id="rId1" Type="http://schemas.microsoft.com/office/2011/relationships/chartStyle" Target="styl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28" b="1" i="0" u="none" strike="noStrike" kern="1200" baseline="0">
                <a:solidFill>
                  <a:schemeClr val="tx1"/>
                </a:solidFill>
                <a:latin typeface="+mn-lt"/>
                <a:ea typeface="+mn-ea"/>
                <a:cs typeface="+mn-cs"/>
              </a:defRPr>
            </a:pPr>
            <a:r>
              <a:rPr lang="en-US" dirty="0">
                <a:solidFill>
                  <a:schemeClr val="tx1"/>
                </a:solidFill>
              </a:rPr>
              <a:t>Chart Title</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gradFill rotWithShape="1">
              <a:gsLst>
                <a:gs pos="0">
                  <a:schemeClr val="accent1">
                    <a:shade val="65000"/>
                    <a:satMod val="103000"/>
                    <a:lumMod val="102000"/>
                    <a:tint val="94000"/>
                  </a:schemeClr>
                </a:gs>
                <a:gs pos="50000">
                  <a:schemeClr val="accent1">
                    <a:shade val="65000"/>
                    <a:satMod val="110000"/>
                    <a:lumMod val="100000"/>
                    <a:shade val="100000"/>
                  </a:schemeClr>
                </a:gs>
                <a:gs pos="100000">
                  <a:schemeClr val="accent1">
                    <a:shade val="65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A78-445B-A8CC-92BE541CC7A9}"/>
            </c:ext>
          </c:extLst>
        </c:ser>
        <c:ser>
          <c:idx val="1"/>
          <c:order val="1"/>
          <c:tx>
            <c:strRef>
              <c:f>Sheet1!$C$1</c:f>
              <c:strCache>
                <c:ptCount val="1"/>
                <c:pt idx="0">
                  <c:v>Series 2</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A78-445B-A8CC-92BE541CC7A9}"/>
            </c:ext>
          </c:extLst>
        </c:ser>
        <c:ser>
          <c:idx val="2"/>
          <c:order val="2"/>
          <c:tx>
            <c:strRef>
              <c:f>Sheet1!$D$1</c:f>
              <c:strCache>
                <c:ptCount val="1"/>
                <c:pt idx="0">
                  <c:v>Series 3</c:v>
                </c:pt>
              </c:strCache>
            </c:strRef>
          </c:tx>
          <c:spPr>
            <a:gradFill rotWithShape="1">
              <a:gsLst>
                <a:gs pos="0">
                  <a:schemeClr val="accent1">
                    <a:tint val="65000"/>
                    <a:satMod val="103000"/>
                    <a:lumMod val="102000"/>
                    <a:tint val="94000"/>
                  </a:schemeClr>
                </a:gs>
                <a:gs pos="50000">
                  <a:schemeClr val="accent1">
                    <a:tint val="65000"/>
                    <a:satMod val="110000"/>
                    <a:lumMod val="100000"/>
                    <a:shade val="100000"/>
                  </a:schemeClr>
                </a:gs>
                <a:gs pos="100000">
                  <a:schemeClr val="accent1">
                    <a:tint val="65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9A78-445B-A8CC-92BE541CC7A9}"/>
            </c:ext>
          </c:extLst>
        </c:ser>
        <c:dLbls>
          <c:showLegendKey val="0"/>
          <c:showVal val="0"/>
          <c:showCatName val="0"/>
          <c:showSerName val="0"/>
          <c:showPercent val="0"/>
          <c:showBubbleSize val="0"/>
        </c:dLbls>
        <c:gapWidth val="100"/>
        <c:overlap val="-24"/>
        <c:axId val="497471160"/>
        <c:axId val="497480672"/>
      </c:barChart>
      <c:catAx>
        <c:axId val="49747116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97480672"/>
        <c:crosses val="autoZero"/>
        <c:auto val="1"/>
        <c:lblAlgn val="ctr"/>
        <c:lblOffset val="100"/>
        <c:noMultiLvlLbl val="0"/>
      </c:catAx>
      <c:valAx>
        <c:axId val="497480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497471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dirty="0">
                <a:solidFill>
                  <a:schemeClr val="tx1"/>
                </a:solidFill>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1-41F2-304B-B364-C90DE7A44D54}"/>
              </c:ext>
            </c:extLst>
          </c:dPt>
          <c:dPt>
            <c:idx val="1"/>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3-41F2-304B-B364-C90DE7A44D54}"/>
              </c:ext>
            </c:extLst>
          </c:dPt>
          <c:dPt>
            <c:idx val="2"/>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5-41F2-304B-B364-C90DE7A44D54}"/>
              </c:ext>
            </c:extLst>
          </c:dPt>
          <c:dPt>
            <c:idx val="3"/>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7-41F2-304B-B364-C90DE7A44D54}"/>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B1C6-4E24-B9B6-B6C7BA5A172D}"/>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areaChart>
        <c:grouping val="standard"/>
        <c:varyColors val="0"/>
        <c:ser>
          <c:idx val="0"/>
          <c:order val="0"/>
          <c:tx>
            <c:strRef>
              <c:f>Sheet1!$B$1</c:f>
              <c:strCache>
                <c:ptCount val="1"/>
                <c:pt idx="0">
                  <c:v>Series 1</c:v>
                </c:pt>
              </c:strCache>
            </c:strRef>
          </c:tx>
          <c:spPr>
            <a:solidFill>
              <a:schemeClr val="accent6">
                <a:tint val="77000"/>
              </a:schemeClr>
            </a:solidFill>
            <a:ln>
              <a:noFill/>
            </a:ln>
            <a:effectLst/>
          </c:spPr>
          <c:cat>
            <c:numRef>
              <c:f>Sheet1!$A$2:$A$6</c:f>
              <c:numCache>
                <c:formatCode>m/d/yyyy</c:formatCode>
                <c:ptCount val="5"/>
                <c:pt idx="0">
                  <c:v>37261</c:v>
                </c:pt>
                <c:pt idx="1">
                  <c:v>37262</c:v>
                </c:pt>
                <c:pt idx="2">
                  <c:v>37263</c:v>
                </c:pt>
                <c:pt idx="3">
                  <c:v>37264</c:v>
                </c:pt>
                <c:pt idx="4">
                  <c:v>37265</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C014-4F31-8AEE-556C441A5411}"/>
            </c:ext>
          </c:extLst>
        </c:ser>
        <c:ser>
          <c:idx val="1"/>
          <c:order val="1"/>
          <c:tx>
            <c:strRef>
              <c:f>Sheet1!$C$1</c:f>
              <c:strCache>
                <c:ptCount val="1"/>
                <c:pt idx="0">
                  <c:v>Series 2</c:v>
                </c:pt>
              </c:strCache>
            </c:strRef>
          </c:tx>
          <c:spPr>
            <a:solidFill>
              <a:schemeClr val="accent6">
                <a:shade val="76000"/>
              </a:schemeClr>
            </a:solidFill>
            <a:ln>
              <a:noFill/>
            </a:ln>
            <a:effectLst/>
          </c:spPr>
          <c:cat>
            <c:numRef>
              <c:f>Sheet1!$A$2:$A$6</c:f>
              <c:numCache>
                <c:formatCode>m/d/yyyy</c:formatCode>
                <c:ptCount val="5"/>
                <c:pt idx="0">
                  <c:v>37261</c:v>
                </c:pt>
                <c:pt idx="1">
                  <c:v>37262</c:v>
                </c:pt>
                <c:pt idx="2">
                  <c:v>37263</c:v>
                </c:pt>
                <c:pt idx="3">
                  <c:v>37264</c:v>
                </c:pt>
                <c:pt idx="4">
                  <c:v>37265</c:v>
                </c:pt>
              </c:numCache>
            </c:num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C014-4F31-8AEE-556C441A5411}"/>
            </c:ext>
          </c:extLst>
        </c:ser>
        <c:dLbls>
          <c:showLegendKey val="0"/>
          <c:showVal val="0"/>
          <c:showCatName val="0"/>
          <c:showSerName val="0"/>
          <c:showPercent val="0"/>
          <c:showBubbleSize val="0"/>
        </c:dLbls>
        <c:axId val="534877008"/>
        <c:axId val="534872744"/>
      </c:areaChart>
      <c:dateAx>
        <c:axId val="534877008"/>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534872744"/>
        <c:crosses val="autoZero"/>
        <c:auto val="1"/>
        <c:lblOffset val="100"/>
        <c:baseTimeUnit val="days"/>
      </c:dateAx>
      <c:valAx>
        <c:axId val="5348727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53487700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dirty="0">
                <a:solidFill>
                  <a:schemeClr val="tx1"/>
                </a:solidFill>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5"/>
            <c:spPr>
              <a:solidFill>
                <a:schemeClr val="accent6"/>
              </a:solidFill>
              <a:ln w="9525">
                <a:solidFill>
                  <a:schemeClr val="accent6"/>
                </a:solidFill>
              </a:ln>
              <a:effectLst/>
            </c:spPr>
          </c:marker>
          <c:xVal>
            <c:numRef>
              <c:f>Sheet1!$A$2:$A$4</c:f>
              <c:numCache>
                <c:formatCode>General</c:formatCode>
                <c:ptCount val="3"/>
                <c:pt idx="0">
                  <c:v>0.7</c:v>
                </c:pt>
                <c:pt idx="1">
                  <c:v>1.8</c:v>
                </c:pt>
                <c:pt idx="2">
                  <c:v>2.6</c:v>
                </c:pt>
              </c:numCache>
            </c:numRef>
          </c:xVal>
          <c:yVal>
            <c:numRef>
              <c:f>Sheet1!$B$2:$B$4</c:f>
              <c:numCache>
                <c:formatCode>General</c:formatCode>
                <c:ptCount val="3"/>
                <c:pt idx="0">
                  <c:v>2.7</c:v>
                </c:pt>
                <c:pt idx="1">
                  <c:v>3.2</c:v>
                </c:pt>
                <c:pt idx="2">
                  <c:v>0.8</c:v>
                </c:pt>
              </c:numCache>
            </c:numRef>
          </c:yVal>
          <c:smooth val="0"/>
          <c:extLst>
            <c:ext xmlns:c16="http://schemas.microsoft.com/office/drawing/2014/chart" uri="{C3380CC4-5D6E-409C-BE32-E72D297353CC}">
              <c16:uniqueId val="{00000000-1ED0-4F26-9BFD-DE448A7DB074}"/>
            </c:ext>
          </c:extLst>
        </c:ser>
        <c:dLbls>
          <c:showLegendKey val="0"/>
          <c:showVal val="0"/>
          <c:showCatName val="0"/>
          <c:showSerName val="0"/>
          <c:showPercent val="0"/>
          <c:showBubbleSize val="0"/>
        </c:dLbls>
        <c:axId val="684913872"/>
        <c:axId val="684914528"/>
      </c:scatterChart>
      <c:valAx>
        <c:axId val="6849138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84914528"/>
        <c:crosses val="autoZero"/>
        <c:crossBetween val="midCat"/>
      </c:valAx>
      <c:valAx>
        <c:axId val="684914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8491387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dirty="0">
                <a:solidFill>
                  <a:schemeClr val="tx1"/>
                </a:solidFill>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1-1334-49D9-8ADE-E7B4694BB660}"/>
              </c:ext>
            </c:extLst>
          </c:dPt>
          <c:dPt>
            <c:idx val="1"/>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3-1334-49D9-8ADE-E7B4694BB660}"/>
              </c:ext>
            </c:extLst>
          </c:dPt>
          <c:dPt>
            <c:idx val="2"/>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5-1334-49D9-8ADE-E7B4694BB660}"/>
              </c:ext>
            </c:extLst>
          </c:dPt>
          <c:dPt>
            <c:idx val="3"/>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7-1334-49D9-8ADE-E7B4694BB660}"/>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334-49D9-8ADE-E7B4694BB66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dirty="0">
                <a:solidFill>
                  <a:schemeClr val="tx1"/>
                </a:solidFill>
              </a:rPr>
              <a:t>Chart</a:t>
            </a:r>
            <a:r>
              <a:rPr lang="en-US" baseline="0" dirty="0">
                <a:solidFill>
                  <a:schemeClr val="tx1"/>
                </a:solidFill>
              </a:rPr>
              <a:t> Title</a:t>
            </a:r>
            <a:endParaRPr lang="en-US" dirty="0">
              <a:solidFill>
                <a:schemeClr val="tx1"/>
              </a:solidFill>
            </a:endParaRPr>
          </a:p>
        </c:rich>
      </c:tx>
      <c:layout>
        <c:manualLayout>
          <c:xMode val="edge"/>
          <c:yMode val="edge"/>
          <c:x val="0.25109747916117192"/>
          <c:y val="3.412835378257712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1.686046614542307E-2"/>
          <c:y val="0.22804565997518034"/>
          <c:w val="0.93817829080011539"/>
          <c:h val="0.47863645671369215"/>
        </c:manualLayout>
      </c:layout>
      <c:pie3DChart>
        <c:varyColors val="1"/>
        <c:ser>
          <c:idx val="0"/>
          <c:order val="0"/>
          <c:tx>
            <c:strRef>
              <c:f>Sheet1!$B$1</c:f>
              <c:strCache>
                <c:ptCount val="1"/>
                <c:pt idx="0">
                  <c:v>Sales</c:v>
                </c:pt>
              </c:strCache>
            </c:strRef>
          </c:tx>
          <c:explosion val="25"/>
          <c:dPt>
            <c:idx val="0"/>
            <c:bubble3D val="0"/>
            <c:spPr>
              <a:solidFill>
                <a:schemeClr val="accent1">
                  <a:shade val="58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99E9-5843-8B7E-E218E4E843F8}"/>
              </c:ext>
            </c:extLst>
          </c:dPt>
          <c:dPt>
            <c:idx val="1"/>
            <c:bubble3D val="0"/>
            <c:spPr>
              <a:solidFill>
                <a:schemeClr val="accent1">
                  <a:shade val="8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99E9-5843-8B7E-E218E4E843F8}"/>
              </c:ext>
            </c:extLst>
          </c:dPt>
          <c:dPt>
            <c:idx val="2"/>
            <c:bubble3D val="0"/>
            <c:spPr>
              <a:solidFill>
                <a:schemeClr val="accent1">
                  <a:tint val="8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99E9-5843-8B7E-E218E4E843F8}"/>
              </c:ext>
            </c:extLst>
          </c:dPt>
          <c:dPt>
            <c:idx val="3"/>
            <c:bubble3D val="0"/>
            <c:spPr>
              <a:solidFill>
                <a:schemeClr val="accent1">
                  <a:tint val="58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99E9-5843-8B7E-E218E4E843F8}"/>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97CB-4DB1-BC2F-E9FD1AEF1FE3}"/>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[Onnicreative_Visitors.xlsx]Sheet3!PivotTable6</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Unique Visitors by Month</a:t>
            </a:r>
          </a:p>
        </c:rich>
      </c:tx>
      <c:layout>
        <c:manualLayout>
          <c:xMode val="edge"/>
          <c:yMode val="edge"/>
          <c:x val="0.31393008237177988"/>
          <c:y val="1.861215600943650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Sheet3!$B$3:$B$4</c:f>
              <c:strCache>
                <c:ptCount val="1"/>
                <c:pt idx="0">
                  <c:v>Sum of Total unique visitors (desktop)</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Sheet3!$A$5:$A$9</c:f>
              <c:strCache>
                <c:ptCount val="4"/>
                <c:pt idx="0">
                  <c:v>July</c:v>
                </c:pt>
                <c:pt idx="1">
                  <c:v>August</c:v>
                </c:pt>
                <c:pt idx="2">
                  <c:v>September</c:v>
                </c:pt>
                <c:pt idx="3">
                  <c:v>October</c:v>
                </c:pt>
              </c:strCache>
            </c:strRef>
          </c:cat>
          <c:val>
            <c:numRef>
              <c:f>Sheet3!$B$5:$B$9</c:f>
              <c:numCache>
                <c:formatCode>General</c:formatCode>
                <c:ptCount val="4"/>
                <c:pt idx="0">
                  <c:v>153</c:v>
                </c:pt>
                <c:pt idx="1">
                  <c:v>111</c:v>
                </c:pt>
                <c:pt idx="2">
                  <c:v>57</c:v>
                </c:pt>
                <c:pt idx="3">
                  <c:v>14</c:v>
                </c:pt>
              </c:numCache>
            </c:numRef>
          </c:val>
          <c:extLst>
            <c:ext xmlns:c16="http://schemas.microsoft.com/office/drawing/2014/chart" uri="{C3380CC4-5D6E-409C-BE32-E72D297353CC}">
              <c16:uniqueId val="{00000000-736A-4821-9C85-493E0FF09380}"/>
            </c:ext>
          </c:extLst>
        </c:ser>
        <c:ser>
          <c:idx val="1"/>
          <c:order val="1"/>
          <c:tx>
            <c:strRef>
              <c:f>Sheet3!$C$3:$C$4</c:f>
              <c:strCache>
                <c:ptCount val="1"/>
                <c:pt idx="0">
                  <c:v>Sum of Total unique visitors (mobile)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Sheet3!$A$5:$A$9</c:f>
              <c:strCache>
                <c:ptCount val="4"/>
                <c:pt idx="0">
                  <c:v>July</c:v>
                </c:pt>
                <c:pt idx="1">
                  <c:v>August</c:v>
                </c:pt>
                <c:pt idx="2">
                  <c:v>September</c:v>
                </c:pt>
                <c:pt idx="3">
                  <c:v>October</c:v>
                </c:pt>
              </c:strCache>
            </c:strRef>
          </c:cat>
          <c:val>
            <c:numRef>
              <c:f>Sheet3!$C$5:$C$9</c:f>
              <c:numCache>
                <c:formatCode>General</c:formatCode>
                <c:ptCount val="4"/>
                <c:pt idx="0">
                  <c:v>63</c:v>
                </c:pt>
                <c:pt idx="1">
                  <c:v>69</c:v>
                </c:pt>
                <c:pt idx="2">
                  <c:v>53</c:v>
                </c:pt>
                <c:pt idx="3">
                  <c:v>7</c:v>
                </c:pt>
              </c:numCache>
            </c:numRef>
          </c:val>
          <c:extLst>
            <c:ext xmlns:c16="http://schemas.microsoft.com/office/drawing/2014/chart" uri="{C3380CC4-5D6E-409C-BE32-E72D297353CC}">
              <c16:uniqueId val="{00000002-736A-4821-9C85-493E0FF09380}"/>
            </c:ext>
          </c:extLst>
        </c:ser>
        <c:dLbls>
          <c:showLegendKey val="0"/>
          <c:showVal val="0"/>
          <c:showCatName val="0"/>
          <c:showSerName val="0"/>
          <c:showPercent val="0"/>
          <c:showBubbleSize val="0"/>
        </c:dLbls>
        <c:gapWidth val="219"/>
        <c:overlap val="-27"/>
        <c:axId val="108752416"/>
        <c:axId val="108752896"/>
      </c:barChart>
      <c:catAx>
        <c:axId val="108752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52896"/>
        <c:crosses val="autoZero"/>
        <c:auto val="1"/>
        <c:lblAlgn val="ctr"/>
        <c:lblOffset val="100"/>
        <c:noMultiLvlLbl val="0"/>
      </c:catAx>
      <c:valAx>
        <c:axId val="108752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524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[Onnicreative_Visitors.xlsx]Sheet3!PivotTable7</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Different Page Views by Month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Sheet3!$B$29:$B$30</c:f>
              <c:strCache>
                <c:ptCount val="1"/>
                <c:pt idx="0">
                  <c:v>Sum of Jobs page views (total)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Sheet3!$A$31:$A$35</c:f>
              <c:strCache>
                <c:ptCount val="4"/>
                <c:pt idx="0">
                  <c:v>July</c:v>
                </c:pt>
                <c:pt idx="1">
                  <c:v>August</c:v>
                </c:pt>
                <c:pt idx="2">
                  <c:v>September</c:v>
                </c:pt>
                <c:pt idx="3">
                  <c:v>October</c:v>
                </c:pt>
              </c:strCache>
            </c:strRef>
          </c:cat>
          <c:val>
            <c:numRef>
              <c:f>Sheet3!$B$31:$B$35</c:f>
              <c:numCache>
                <c:formatCode>General</c:formatCode>
                <c:ptCount val="4"/>
                <c:pt idx="0">
                  <c:v>122</c:v>
                </c:pt>
                <c:pt idx="1">
                  <c:v>103</c:v>
                </c:pt>
                <c:pt idx="2">
                  <c:v>48</c:v>
                </c:pt>
                <c:pt idx="3">
                  <c:v>9</c:v>
                </c:pt>
              </c:numCache>
            </c:numRef>
          </c:val>
          <c:extLst>
            <c:ext xmlns:c16="http://schemas.microsoft.com/office/drawing/2014/chart" uri="{C3380CC4-5D6E-409C-BE32-E72D297353CC}">
              <c16:uniqueId val="{00000000-3330-413F-AD7C-90E0B2008D7C}"/>
            </c:ext>
          </c:extLst>
        </c:ser>
        <c:ser>
          <c:idx val="1"/>
          <c:order val="1"/>
          <c:tx>
            <c:strRef>
              <c:f>Sheet3!$C$29:$C$30</c:f>
              <c:strCache>
                <c:ptCount val="1"/>
                <c:pt idx="0">
                  <c:v>Sum of Life page views (total)</c:v>
                </c:pt>
              </c:strCache>
            </c:strRef>
          </c:tx>
          <c:spPr>
            <a:solidFill>
              <a:schemeClr val="accent2"/>
            </a:solidFill>
            <a:ln>
              <a:noFill/>
            </a:ln>
            <a:effectLst/>
          </c:spPr>
          <c:invertIfNegative val="0"/>
          <c:cat>
            <c:strRef>
              <c:f>Sheet3!$A$31:$A$35</c:f>
              <c:strCache>
                <c:ptCount val="4"/>
                <c:pt idx="0">
                  <c:v>July</c:v>
                </c:pt>
                <c:pt idx="1">
                  <c:v>August</c:v>
                </c:pt>
                <c:pt idx="2">
                  <c:v>September</c:v>
                </c:pt>
                <c:pt idx="3">
                  <c:v>October</c:v>
                </c:pt>
              </c:strCache>
            </c:strRef>
          </c:cat>
          <c:val>
            <c:numRef>
              <c:f>Sheet3!$C$31:$C$35</c:f>
              <c:numCache>
                <c:formatCode>General</c:formatCode>
                <c:ptCount val="4"/>
                <c:pt idx="0">
                  <c:v>0</c:v>
                </c:pt>
                <c:pt idx="1">
                  <c:v>0</c:v>
                </c:pt>
                <c:pt idx="2">
                  <c:v>0</c:v>
                </c:pt>
                <c:pt idx="3">
                  <c:v>0</c:v>
                </c:pt>
              </c:numCache>
            </c:numRef>
          </c:val>
          <c:extLst>
            <c:ext xmlns:c16="http://schemas.microsoft.com/office/drawing/2014/chart" uri="{C3380CC4-5D6E-409C-BE32-E72D297353CC}">
              <c16:uniqueId val="{00000001-3330-413F-AD7C-90E0B2008D7C}"/>
            </c:ext>
          </c:extLst>
        </c:ser>
        <c:ser>
          <c:idx val="2"/>
          <c:order val="2"/>
          <c:tx>
            <c:strRef>
              <c:f>Sheet3!$D$29:$D$30</c:f>
              <c:strCache>
                <c:ptCount val="1"/>
                <c:pt idx="0">
                  <c:v>Sum of Overview page views (total)</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Sheet3!$A$31:$A$35</c:f>
              <c:strCache>
                <c:ptCount val="4"/>
                <c:pt idx="0">
                  <c:v>July</c:v>
                </c:pt>
                <c:pt idx="1">
                  <c:v>August</c:v>
                </c:pt>
                <c:pt idx="2">
                  <c:v>September</c:v>
                </c:pt>
                <c:pt idx="3">
                  <c:v>October</c:v>
                </c:pt>
              </c:strCache>
            </c:strRef>
          </c:cat>
          <c:val>
            <c:numRef>
              <c:f>Sheet3!$D$31:$D$35</c:f>
              <c:numCache>
                <c:formatCode>General</c:formatCode>
                <c:ptCount val="4"/>
                <c:pt idx="0">
                  <c:v>298</c:v>
                </c:pt>
                <c:pt idx="1">
                  <c:v>246</c:v>
                </c:pt>
                <c:pt idx="2">
                  <c:v>136</c:v>
                </c:pt>
                <c:pt idx="3">
                  <c:v>23</c:v>
                </c:pt>
              </c:numCache>
            </c:numRef>
          </c:val>
          <c:extLst>
            <c:ext xmlns:c16="http://schemas.microsoft.com/office/drawing/2014/chart" uri="{C3380CC4-5D6E-409C-BE32-E72D297353CC}">
              <c16:uniqueId val="{00000002-3330-413F-AD7C-90E0B2008D7C}"/>
            </c:ext>
          </c:extLst>
        </c:ser>
        <c:dLbls>
          <c:showLegendKey val="0"/>
          <c:showVal val="0"/>
          <c:showCatName val="0"/>
          <c:showSerName val="0"/>
          <c:showPercent val="0"/>
          <c:showBubbleSize val="0"/>
        </c:dLbls>
        <c:gapWidth val="219"/>
        <c:overlap val="-27"/>
        <c:axId val="108715456"/>
        <c:axId val="108720256"/>
      </c:barChart>
      <c:catAx>
        <c:axId val="108715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20256"/>
        <c:crosses val="autoZero"/>
        <c:auto val="1"/>
        <c:lblAlgn val="ctr"/>
        <c:lblOffset val="100"/>
        <c:noMultiLvlLbl val="0"/>
      </c:catAx>
      <c:valAx>
        <c:axId val="108720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154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[Onnicreative_Visitors.xlsx]Company size!PivotTable5</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Company</a:t>
            </a:r>
            <a:r>
              <a:rPr lang="en-US" baseline="0" dirty="0"/>
              <a:t> Size vs </a:t>
            </a:r>
            <a:r>
              <a:rPr lang="en-US" dirty="0"/>
              <a:t>Total Views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'Company size'!$B$12:$B$13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'Company size'!$A$14:$A$21</c:f>
              <c:strCache>
                <c:ptCount val="7"/>
                <c:pt idx="0">
                  <c:v>2-10</c:v>
                </c:pt>
                <c:pt idx="1">
                  <c:v>1001-5000</c:v>
                </c:pt>
                <c:pt idx="2">
                  <c:v>51-200</c:v>
                </c:pt>
                <c:pt idx="3">
                  <c:v>11-50</c:v>
                </c:pt>
                <c:pt idx="4">
                  <c:v>10001+</c:v>
                </c:pt>
                <c:pt idx="5">
                  <c:v>201-500</c:v>
                </c:pt>
                <c:pt idx="6">
                  <c:v>501-1000</c:v>
                </c:pt>
              </c:strCache>
            </c:strRef>
          </c:cat>
          <c:val>
            <c:numRef>
              <c:f>'Company size'!$B$14:$B$21</c:f>
              <c:numCache>
                <c:formatCode>General</c:formatCode>
                <c:ptCount val="7"/>
                <c:pt idx="0">
                  <c:v>230</c:v>
                </c:pt>
                <c:pt idx="1">
                  <c:v>122</c:v>
                </c:pt>
                <c:pt idx="2">
                  <c:v>115</c:v>
                </c:pt>
                <c:pt idx="3">
                  <c:v>97</c:v>
                </c:pt>
                <c:pt idx="4">
                  <c:v>78</c:v>
                </c:pt>
                <c:pt idx="5">
                  <c:v>68</c:v>
                </c:pt>
                <c:pt idx="6">
                  <c:v>34</c:v>
                </c:pt>
              </c:numCache>
            </c:numRef>
          </c:val>
          <c:extLst>
            <c:ext xmlns:c16="http://schemas.microsoft.com/office/drawing/2014/chart" uri="{C3380CC4-5D6E-409C-BE32-E72D297353CC}">
              <c16:uniqueId val="{00000000-7BF6-4FE1-9D91-1B511226769C}"/>
            </c:ext>
          </c:extLst>
        </c:ser>
        <c:dLbls>
          <c:showLegendKey val="0"/>
          <c:showVal val="0"/>
          <c:showCatName val="0"/>
          <c:showSerName val="0"/>
          <c:showPercent val="0"/>
          <c:showBubbleSize val="0"/>
        </c:dLbls>
        <c:gapWidth val="219"/>
        <c:overlap val="-27"/>
        <c:axId val="108742336"/>
        <c:axId val="108742816"/>
      </c:barChart>
      <c:catAx>
        <c:axId val="108742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42816"/>
        <c:crosses val="autoZero"/>
        <c:auto val="1"/>
        <c:lblAlgn val="ctr"/>
        <c:lblOffset val="100"/>
        <c:noMultiLvlLbl val="0"/>
      </c:catAx>
      <c:valAx>
        <c:axId val="1087428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423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[Onnicreative_Visitors.xlsx]Location!PivotTable1</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Location vs</a:t>
            </a:r>
            <a:r>
              <a:rPr lang="en-US" baseline="0"/>
              <a:t> </a:t>
            </a:r>
            <a:r>
              <a:rPr lang="en-US"/>
              <a:t>Total Views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Location!$B$20:$B$21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Location!$A$22:$A$35</c:f>
              <c:strCache>
                <c:ptCount val="13"/>
                <c:pt idx="0">
                  <c:v>Los Angeles Metropolitan Area</c:v>
                </c:pt>
                <c:pt idx="1">
                  <c:v>San Francisco Bay Area</c:v>
                </c:pt>
                <c:pt idx="2">
                  <c:v>Greater Boston</c:v>
                </c:pt>
                <c:pt idx="3">
                  <c:v>New York City Metropolitan Area</c:v>
                </c:pt>
                <c:pt idx="4">
                  <c:v>Greater Dublin, Ireland</c:v>
                </c:pt>
                <c:pt idx="5">
                  <c:v>Greater Indianapolis</c:v>
                </c:pt>
                <c:pt idx="6">
                  <c:v>London Area, United Kingdom, United Kingdom</c:v>
                </c:pt>
                <c:pt idx="7">
                  <c:v>Greater Ahmedabad Area, India</c:v>
                </c:pt>
                <c:pt idx="8">
                  <c:v>Dallas-Fort Worth Metroplex</c:v>
                </c:pt>
                <c:pt idx="9">
                  <c:v>Greater Chicago Area</c:v>
                </c:pt>
                <c:pt idx="10">
                  <c:v>Washington DC-Baltimore Area</c:v>
                </c:pt>
                <c:pt idx="11">
                  <c:v>Greater Madison Area</c:v>
                </c:pt>
                <c:pt idx="12">
                  <c:v>Greater Calgary Metropolitan Area, Canada</c:v>
                </c:pt>
              </c:strCache>
            </c:strRef>
          </c:cat>
          <c:val>
            <c:numRef>
              <c:f>Location!$B$22:$B$35</c:f>
              <c:numCache>
                <c:formatCode>General</c:formatCode>
                <c:ptCount val="13"/>
                <c:pt idx="0">
                  <c:v>829</c:v>
                </c:pt>
                <c:pt idx="1">
                  <c:v>102</c:v>
                </c:pt>
                <c:pt idx="2">
                  <c:v>94</c:v>
                </c:pt>
                <c:pt idx="3">
                  <c:v>44</c:v>
                </c:pt>
                <c:pt idx="4">
                  <c:v>35</c:v>
                </c:pt>
                <c:pt idx="5">
                  <c:v>33</c:v>
                </c:pt>
                <c:pt idx="6">
                  <c:v>20</c:v>
                </c:pt>
                <c:pt idx="7">
                  <c:v>17</c:v>
                </c:pt>
                <c:pt idx="8">
                  <c:v>17</c:v>
                </c:pt>
                <c:pt idx="9">
                  <c:v>12</c:v>
                </c:pt>
                <c:pt idx="10">
                  <c:v>11</c:v>
                </c:pt>
                <c:pt idx="11">
                  <c:v>9</c:v>
                </c:pt>
                <c:pt idx="12">
                  <c:v>8</c:v>
                </c:pt>
              </c:numCache>
            </c:numRef>
          </c:val>
          <c:extLst>
            <c:ext xmlns:c16="http://schemas.microsoft.com/office/drawing/2014/chart" uri="{C3380CC4-5D6E-409C-BE32-E72D297353CC}">
              <c16:uniqueId val="{00000000-5902-448A-AB07-EA84C810F146}"/>
            </c:ext>
          </c:extLst>
        </c:ser>
        <c:dLbls>
          <c:showLegendKey val="0"/>
          <c:showVal val="0"/>
          <c:showCatName val="0"/>
          <c:showSerName val="0"/>
          <c:showPercent val="0"/>
          <c:showBubbleSize val="0"/>
        </c:dLbls>
        <c:gapWidth val="219"/>
        <c:overlap val="-27"/>
        <c:axId val="2089132320"/>
        <c:axId val="2089128000"/>
      </c:barChart>
      <c:catAx>
        <c:axId val="2089132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9128000"/>
        <c:crosses val="autoZero"/>
        <c:auto val="1"/>
        <c:lblAlgn val="ctr"/>
        <c:lblOffset val="100"/>
        <c:noMultiLvlLbl val="0"/>
      </c:catAx>
      <c:valAx>
        <c:axId val="2089128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9132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[Onnicreative_Visitors.xlsx]Job function!PivotTable2</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Job</a:t>
            </a:r>
            <a:r>
              <a:rPr lang="en-US" baseline="0"/>
              <a:t> Function vs </a:t>
            </a:r>
            <a:r>
              <a:rPr lang="en-US"/>
              <a:t>Total Views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'Job function'!$B$18:$B$19</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'Job function'!$A$20:$A$33</c:f>
              <c:strCache>
                <c:ptCount val="13"/>
                <c:pt idx="0">
                  <c:v>Marketing</c:v>
                </c:pt>
                <c:pt idx="1">
                  <c:v>Arts and Design</c:v>
                </c:pt>
                <c:pt idx="2">
                  <c:v>Operations</c:v>
                </c:pt>
                <c:pt idx="3">
                  <c:v>Education</c:v>
                </c:pt>
                <c:pt idx="4">
                  <c:v>Media and Communication</c:v>
                </c:pt>
                <c:pt idx="5">
                  <c:v>Business Development</c:v>
                </c:pt>
                <c:pt idx="6">
                  <c:v>Administrative</c:v>
                </c:pt>
                <c:pt idx="7">
                  <c:v>Research</c:v>
                </c:pt>
                <c:pt idx="8">
                  <c:v>Engineering</c:v>
                </c:pt>
                <c:pt idx="9">
                  <c:v>Community and Social Services</c:v>
                </c:pt>
                <c:pt idx="10">
                  <c:v>Sales</c:v>
                </c:pt>
                <c:pt idx="11">
                  <c:v>Information Technology</c:v>
                </c:pt>
                <c:pt idx="12">
                  <c:v>Human Resources</c:v>
                </c:pt>
              </c:strCache>
            </c:strRef>
          </c:cat>
          <c:val>
            <c:numRef>
              <c:f>'Job function'!$B$20:$B$33</c:f>
              <c:numCache>
                <c:formatCode>General</c:formatCode>
                <c:ptCount val="13"/>
                <c:pt idx="0">
                  <c:v>172</c:v>
                </c:pt>
                <c:pt idx="1">
                  <c:v>148</c:v>
                </c:pt>
                <c:pt idx="2">
                  <c:v>74</c:v>
                </c:pt>
                <c:pt idx="3">
                  <c:v>54</c:v>
                </c:pt>
                <c:pt idx="4">
                  <c:v>51</c:v>
                </c:pt>
                <c:pt idx="5">
                  <c:v>43</c:v>
                </c:pt>
                <c:pt idx="6">
                  <c:v>32</c:v>
                </c:pt>
                <c:pt idx="7">
                  <c:v>18</c:v>
                </c:pt>
                <c:pt idx="8">
                  <c:v>15</c:v>
                </c:pt>
                <c:pt idx="9">
                  <c:v>14</c:v>
                </c:pt>
                <c:pt idx="10">
                  <c:v>12</c:v>
                </c:pt>
                <c:pt idx="11">
                  <c:v>10</c:v>
                </c:pt>
                <c:pt idx="12">
                  <c:v>9</c:v>
                </c:pt>
              </c:numCache>
            </c:numRef>
          </c:val>
          <c:extLst>
            <c:ext xmlns:c16="http://schemas.microsoft.com/office/drawing/2014/chart" uri="{C3380CC4-5D6E-409C-BE32-E72D297353CC}">
              <c16:uniqueId val="{00000000-C60E-454B-8059-E5EC821C2C6A}"/>
            </c:ext>
          </c:extLst>
        </c:ser>
        <c:dLbls>
          <c:showLegendKey val="0"/>
          <c:showVal val="0"/>
          <c:showCatName val="0"/>
          <c:showSerName val="0"/>
          <c:showPercent val="0"/>
          <c:showBubbleSize val="0"/>
        </c:dLbls>
        <c:gapWidth val="219"/>
        <c:overlap val="-27"/>
        <c:axId val="1521748736"/>
        <c:axId val="1522616480"/>
      </c:barChart>
      <c:catAx>
        <c:axId val="1521748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2616480"/>
        <c:crosses val="autoZero"/>
        <c:auto val="1"/>
        <c:lblAlgn val="ctr"/>
        <c:lblOffset val="100"/>
        <c:noMultiLvlLbl val="0"/>
      </c:catAx>
      <c:valAx>
        <c:axId val="1522616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17487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[Onnicreative_Visitors.xlsx]Industry_TotalViews!PivotTable3</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Industry vs</a:t>
            </a:r>
            <a:r>
              <a:rPr lang="en-US" baseline="0"/>
              <a:t> </a:t>
            </a:r>
            <a:r>
              <a:rPr lang="en-US"/>
              <a:t>Total Views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Industry_TotalViews!$B$3:$B$4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Industry_TotalViews!$A$5:$A$15</c:f>
              <c:strCache>
                <c:ptCount val="10"/>
                <c:pt idx="0">
                  <c:v>Advertising Services</c:v>
                </c:pt>
                <c:pt idx="1">
                  <c:v>Marketing Services</c:v>
                </c:pt>
                <c:pt idx="2">
                  <c:v>IT Services and IT Consulting</c:v>
                </c:pt>
                <c:pt idx="3">
                  <c:v>Graphic Design</c:v>
                </c:pt>
                <c:pt idx="4">
                  <c:v>Technology, Information and Internet</c:v>
                </c:pt>
                <c:pt idx="5">
                  <c:v>Education</c:v>
                </c:pt>
                <c:pt idx="6">
                  <c:v>Public Relations and Communications Services</c:v>
                </c:pt>
                <c:pt idx="7">
                  <c:v>Entertainment Providers</c:v>
                </c:pt>
                <c:pt idx="8">
                  <c:v>Higher Education</c:v>
                </c:pt>
                <c:pt idx="9">
                  <c:v>Hospitality</c:v>
                </c:pt>
              </c:strCache>
            </c:strRef>
          </c:cat>
          <c:val>
            <c:numRef>
              <c:f>Industry_TotalViews!$B$5:$B$15</c:f>
              <c:numCache>
                <c:formatCode>General</c:formatCode>
                <c:ptCount val="10"/>
                <c:pt idx="0">
                  <c:v>162</c:v>
                </c:pt>
                <c:pt idx="1">
                  <c:v>112</c:v>
                </c:pt>
                <c:pt idx="2">
                  <c:v>106</c:v>
                </c:pt>
                <c:pt idx="3">
                  <c:v>84</c:v>
                </c:pt>
                <c:pt idx="4">
                  <c:v>83</c:v>
                </c:pt>
                <c:pt idx="5">
                  <c:v>83</c:v>
                </c:pt>
                <c:pt idx="6">
                  <c:v>50</c:v>
                </c:pt>
                <c:pt idx="7">
                  <c:v>47</c:v>
                </c:pt>
                <c:pt idx="8">
                  <c:v>45</c:v>
                </c:pt>
                <c:pt idx="9">
                  <c:v>43</c:v>
                </c:pt>
              </c:numCache>
            </c:numRef>
          </c:val>
          <c:extLst>
            <c:ext xmlns:c16="http://schemas.microsoft.com/office/drawing/2014/chart" uri="{C3380CC4-5D6E-409C-BE32-E72D297353CC}">
              <c16:uniqueId val="{00000000-6E92-4C8A-A10B-E96BB0A8DBDF}"/>
            </c:ext>
          </c:extLst>
        </c:ser>
        <c:dLbls>
          <c:showLegendKey val="0"/>
          <c:showVal val="0"/>
          <c:showCatName val="0"/>
          <c:showSerName val="0"/>
          <c:showPercent val="0"/>
          <c:showBubbleSize val="0"/>
        </c:dLbls>
        <c:gapWidth val="219"/>
        <c:overlap val="-27"/>
        <c:axId val="108724576"/>
        <c:axId val="108741376"/>
      </c:barChart>
      <c:catAx>
        <c:axId val="108724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41376"/>
        <c:crosses val="autoZero"/>
        <c:auto val="1"/>
        <c:lblAlgn val="ctr"/>
        <c:lblOffset val="100"/>
        <c:noMultiLvlLbl val="0"/>
      </c:catAx>
      <c:valAx>
        <c:axId val="108741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7245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Follower Growth Over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'New followers'!$B$1</c:f>
              <c:strCache>
                <c:ptCount val="1"/>
                <c:pt idx="0">
                  <c:v>Sponsored followers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'New followers'!$A$2:$A$91</c:f>
              <c:strCache>
                <c:ptCount val="90"/>
                <c:pt idx="0">
                  <c:v>07/11/2025</c:v>
                </c:pt>
                <c:pt idx="1">
                  <c:v>07/12/2025</c:v>
                </c:pt>
                <c:pt idx="2">
                  <c:v>07/13/2025</c:v>
                </c:pt>
                <c:pt idx="3">
                  <c:v>07/14/2025</c:v>
                </c:pt>
                <c:pt idx="4">
                  <c:v>07/15/2025</c:v>
                </c:pt>
                <c:pt idx="5">
                  <c:v>07/16/2025</c:v>
                </c:pt>
                <c:pt idx="6">
                  <c:v>07/17/2025</c:v>
                </c:pt>
                <c:pt idx="7">
                  <c:v>07/18/2025</c:v>
                </c:pt>
                <c:pt idx="8">
                  <c:v>07/19/2025</c:v>
                </c:pt>
                <c:pt idx="9">
                  <c:v>07/20/2025</c:v>
                </c:pt>
                <c:pt idx="10">
                  <c:v>07/21/2025</c:v>
                </c:pt>
                <c:pt idx="11">
                  <c:v>07/22/2025</c:v>
                </c:pt>
                <c:pt idx="12">
                  <c:v>07/23/2025</c:v>
                </c:pt>
                <c:pt idx="13">
                  <c:v>07/24/2025</c:v>
                </c:pt>
                <c:pt idx="14">
                  <c:v>07/25/2025</c:v>
                </c:pt>
                <c:pt idx="15">
                  <c:v>07/26/2025</c:v>
                </c:pt>
                <c:pt idx="16">
                  <c:v>07/27/2025</c:v>
                </c:pt>
                <c:pt idx="17">
                  <c:v>07/28/2025</c:v>
                </c:pt>
                <c:pt idx="18">
                  <c:v>07/29/2025</c:v>
                </c:pt>
                <c:pt idx="19">
                  <c:v>07/30/2025</c:v>
                </c:pt>
                <c:pt idx="20">
                  <c:v>07/31/2025</c:v>
                </c:pt>
                <c:pt idx="21">
                  <c:v>08/01/2025</c:v>
                </c:pt>
                <c:pt idx="22">
                  <c:v>08/02/2025</c:v>
                </c:pt>
                <c:pt idx="23">
                  <c:v>08/03/2025</c:v>
                </c:pt>
                <c:pt idx="24">
                  <c:v>08/04/2025</c:v>
                </c:pt>
                <c:pt idx="25">
                  <c:v>08/05/2025</c:v>
                </c:pt>
                <c:pt idx="26">
                  <c:v>08/06/2025</c:v>
                </c:pt>
                <c:pt idx="27">
                  <c:v>08/07/2025</c:v>
                </c:pt>
                <c:pt idx="28">
                  <c:v>08/08/2025</c:v>
                </c:pt>
                <c:pt idx="29">
                  <c:v>08/09/2025</c:v>
                </c:pt>
                <c:pt idx="30">
                  <c:v>08/10/2025</c:v>
                </c:pt>
                <c:pt idx="31">
                  <c:v>08/11/2025</c:v>
                </c:pt>
                <c:pt idx="32">
                  <c:v>08/12/2025</c:v>
                </c:pt>
                <c:pt idx="33">
                  <c:v>08/13/2025</c:v>
                </c:pt>
                <c:pt idx="34">
                  <c:v>08/14/2025</c:v>
                </c:pt>
                <c:pt idx="35">
                  <c:v>08/15/2025</c:v>
                </c:pt>
                <c:pt idx="36">
                  <c:v>08/16/2025</c:v>
                </c:pt>
                <c:pt idx="37">
                  <c:v>08/17/2025</c:v>
                </c:pt>
                <c:pt idx="38">
                  <c:v>08/18/2025</c:v>
                </c:pt>
                <c:pt idx="39">
                  <c:v>08/19/2025</c:v>
                </c:pt>
                <c:pt idx="40">
                  <c:v>08/20/2025</c:v>
                </c:pt>
                <c:pt idx="41">
                  <c:v>08/21/2025</c:v>
                </c:pt>
                <c:pt idx="42">
                  <c:v>08/22/2025</c:v>
                </c:pt>
                <c:pt idx="43">
                  <c:v>08/23/2025</c:v>
                </c:pt>
                <c:pt idx="44">
                  <c:v>08/24/2025</c:v>
                </c:pt>
                <c:pt idx="45">
                  <c:v>08/25/2025</c:v>
                </c:pt>
                <c:pt idx="46">
                  <c:v>08/26/2025</c:v>
                </c:pt>
                <c:pt idx="47">
                  <c:v>08/27/2025</c:v>
                </c:pt>
                <c:pt idx="48">
                  <c:v>08/28/2025</c:v>
                </c:pt>
                <c:pt idx="49">
                  <c:v>08/29/2025</c:v>
                </c:pt>
                <c:pt idx="50">
                  <c:v>08/30/2025</c:v>
                </c:pt>
                <c:pt idx="51">
                  <c:v>08/31/2025</c:v>
                </c:pt>
                <c:pt idx="52">
                  <c:v>09/01/2025</c:v>
                </c:pt>
                <c:pt idx="53">
                  <c:v>09/02/2025</c:v>
                </c:pt>
                <c:pt idx="54">
                  <c:v>09/03/2025</c:v>
                </c:pt>
                <c:pt idx="55">
                  <c:v>09/04/2025</c:v>
                </c:pt>
                <c:pt idx="56">
                  <c:v>09/05/2025</c:v>
                </c:pt>
                <c:pt idx="57">
                  <c:v>09/06/2025</c:v>
                </c:pt>
                <c:pt idx="58">
                  <c:v>09/07/2025</c:v>
                </c:pt>
                <c:pt idx="59">
                  <c:v>09/08/2025</c:v>
                </c:pt>
                <c:pt idx="60">
                  <c:v>09/09/2025</c:v>
                </c:pt>
                <c:pt idx="61">
                  <c:v>09/10/2025</c:v>
                </c:pt>
                <c:pt idx="62">
                  <c:v>09/11/2025</c:v>
                </c:pt>
                <c:pt idx="63">
                  <c:v>09/12/2025</c:v>
                </c:pt>
                <c:pt idx="64">
                  <c:v>09/13/2025</c:v>
                </c:pt>
                <c:pt idx="65">
                  <c:v>09/14/2025</c:v>
                </c:pt>
                <c:pt idx="66">
                  <c:v>09/15/2025</c:v>
                </c:pt>
                <c:pt idx="67">
                  <c:v>09/16/2025</c:v>
                </c:pt>
                <c:pt idx="68">
                  <c:v>09/17/2025</c:v>
                </c:pt>
                <c:pt idx="69">
                  <c:v>09/18/2025</c:v>
                </c:pt>
                <c:pt idx="70">
                  <c:v>09/19/2025</c:v>
                </c:pt>
                <c:pt idx="71">
                  <c:v>09/20/2025</c:v>
                </c:pt>
                <c:pt idx="72">
                  <c:v>09/21/2025</c:v>
                </c:pt>
                <c:pt idx="73">
                  <c:v>09/22/2025</c:v>
                </c:pt>
                <c:pt idx="74">
                  <c:v>09/23/2025</c:v>
                </c:pt>
                <c:pt idx="75">
                  <c:v>09/24/2025</c:v>
                </c:pt>
                <c:pt idx="76">
                  <c:v>09/25/2025</c:v>
                </c:pt>
                <c:pt idx="77">
                  <c:v>09/26/2025</c:v>
                </c:pt>
                <c:pt idx="78">
                  <c:v>09/27/2025</c:v>
                </c:pt>
                <c:pt idx="79">
                  <c:v>09/28/2025</c:v>
                </c:pt>
                <c:pt idx="80">
                  <c:v>09/29/2025</c:v>
                </c:pt>
                <c:pt idx="81">
                  <c:v>09/30/2025</c:v>
                </c:pt>
                <c:pt idx="82">
                  <c:v>10/01/2025</c:v>
                </c:pt>
                <c:pt idx="83">
                  <c:v>10/02/2025</c:v>
                </c:pt>
                <c:pt idx="84">
                  <c:v>10/03/2025</c:v>
                </c:pt>
                <c:pt idx="85">
                  <c:v>10/04/2025</c:v>
                </c:pt>
                <c:pt idx="86">
                  <c:v>10/05/2025</c:v>
                </c:pt>
                <c:pt idx="87">
                  <c:v>10/06/2025</c:v>
                </c:pt>
                <c:pt idx="88">
                  <c:v>10/07/2025</c:v>
                </c:pt>
                <c:pt idx="89">
                  <c:v>10/08/2025</c:v>
                </c:pt>
              </c:strCache>
            </c:strRef>
          </c:cat>
          <c:val>
            <c:numRef>
              <c:f>'New followers'!$B$2:$B$91</c:f>
              <c:numCache>
                <c:formatCode>General</c:formatCode>
                <c:ptCount val="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numCache>
            </c:numRef>
          </c:val>
          <c:smooth val="0"/>
          <c:extLst>
            <c:ext xmlns:c16="http://schemas.microsoft.com/office/drawing/2014/chart" uri="{C3380CC4-5D6E-409C-BE32-E72D297353CC}">
              <c16:uniqueId val="{00000000-DEFD-45E4-935C-02ADC1FE4773}"/>
            </c:ext>
          </c:extLst>
        </c:ser>
        <c:ser>
          <c:idx val="1"/>
          <c:order val="1"/>
          <c:tx>
            <c:strRef>
              <c:f>'New followers'!$C$1</c:f>
              <c:strCache>
                <c:ptCount val="1"/>
                <c:pt idx="0">
                  <c:v>Organic followers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'New followers'!$A$2:$A$91</c:f>
              <c:strCache>
                <c:ptCount val="90"/>
                <c:pt idx="0">
                  <c:v>07/11/2025</c:v>
                </c:pt>
                <c:pt idx="1">
                  <c:v>07/12/2025</c:v>
                </c:pt>
                <c:pt idx="2">
                  <c:v>07/13/2025</c:v>
                </c:pt>
                <c:pt idx="3">
                  <c:v>07/14/2025</c:v>
                </c:pt>
                <c:pt idx="4">
                  <c:v>07/15/2025</c:v>
                </c:pt>
                <c:pt idx="5">
                  <c:v>07/16/2025</c:v>
                </c:pt>
                <c:pt idx="6">
                  <c:v>07/17/2025</c:v>
                </c:pt>
                <c:pt idx="7">
                  <c:v>07/18/2025</c:v>
                </c:pt>
                <c:pt idx="8">
                  <c:v>07/19/2025</c:v>
                </c:pt>
                <c:pt idx="9">
                  <c:v>07/20/2025</c:v>
                </c:pt>
                <c:pt idx="10">
                  <c:v>07/21/2025</c:v>
                </c:pt>
                <c:pt idx="11">
                  <c:v>07/22/2025</c:v>
                </c:pt>
                <c:pt idx="12">
                  <c:v>07/23/2025</c:v>
                </c:pt>
                <c:pt idx="13">
                  <c:v>07/24/2025</c:v>
                </c:pt>
                <c:pt idx="14">
                  <c:v>07/25/2025</c:v>
                </c:pt>
                <c:pt idx="15">
                  <c:v>07/26/2025</c:v>
                </c:pt>
                <c:pt idx="16">
                  <c:v>07/27/2025</c:v>
                </c:pt>
                <c:pt idx="17">
                  <c:v>07/28/2025</c:v>
                </c:pt>
                <c:pt idx="18">
                  <c:v>07/29/2025</c:v>
                </c:pt>
                <c:pt idx="19">
                  <c:v>07/30/2025</c:v>
                </c:pt>
                <c:pt idx="20">
                  <c:v>07/31/2025</c:v>
                </c:pt>
                <c:pt idx="21">
                  <c:v>08/01/2025</c:v>
                </c:pt>
                <c:pt idx="22">
                  <c:v>08/02/2025</c:v>
                </c:pt>
                <c:pt idx="23">
                  <c:v>08/03/2025</c:v>
                </c:pt>
                <c:pt idx="24">
                  <c:v>08/04/2025</c:v>
                </c:pt>
                <c:pt idx="25">
                  <c:v>08/05/2025</c:v>
                </c:pt>
                <c:pt idx="26">
                  <c:v>08/06/2025</c:v>
                </c:pt>
                <c:pt idx="27">
                  <c:v>08/07/2025</c:v>
                </c:pt>
                <c:pt idx="28">
                  <c:v>08/08/2025</c:v>
                </c:pt>
                <c:pt idx="29">
                  <c:v>08/09/2025</c:v>
                </c:pt>
                <c:pt idx="30">
                  <c:v>08/10/2025</c:v>
                </c:pt>
                <c:pt idx="31">
                  <c:v>08/11/2025</c:v>
                </c:pt>
                <c:pt idx="32">
                  <c:v>08/12/2025</c:v>
                </c:pt>
                <c:pt idx="33">
                  <c:v>08/13/2025</c:v>
                </c:pt>
                <c:pt idx="34">
                  <c:v>08/14/2025</c:v>
                </c:pt>
                <c:pt idx="35">
                  <c:v>08/15/2025</c:v>
                </c:pt>
                <c:pt idx="36">
                  <c:v>08/16/2025</c:v>
                </c:pt>
                <c:pt idx="37">
                  <c:v>08/17/2025</c:v>
                </c:pt>
                <c:pt idx="38">
                  <c:v>08/18/2025</c:v>
                </c:pt>
                <c:pt idx="39">
                  <c:v>08/19/2025</c:v>
                </c:pt>
                <c:pt idx="40">
                  <c:v>08/20/2025</c:v>
                </c:pt>
                <c:pt idx="41">
                  <c:v>08/21/2025</c:v>
                </c:pt>
                <c:pt idx="42">
                  <c:v>08/22/2025</c:v>
                </c:pt>
                <c:pt idx="43">
                  <c:v>08/23/2025</c:v>
                </c:pt>
                <c:pt idx="44">
                  <c:v>08/24/2025</c:v>
                </c:pt>
                <c:pt idx="45">
                  <c:v>08/25/2025</c:v>
                </c:pt>
                <c:pt idx="46">
                  <c:v>08/26/2025</c:v>
                </c:pt>
                <c:pt idx="47">
                  <c:v>08/27/2025</c:v>
                </c:pt>
                <c:pt idx="48">
                  <c:v>08/28/2025</c:v>
                </c:pt>
                <c:pt idx="49">
                  <c:v>08/29/2025</c:v>
                </c:pt>
                <c:pt idx="50">
                  <c:v>08/30/2025</c:v>
                </c:pt>
                <c:pt idx="51">
                  <c:v>08/31/2025</c:v>
                </c:pt>
                <c:pt idx="52">
                  <c:v>09/01/2025</c:v>
                </c:pt>
                <c:pt idx="53">
                  <c:v>09/02/2025</c:v>
                </c:pt>
                <c:pt idx="54">
                  <c:v>09/03/2025</c:v>
                </c:pt>
                <c:pt idx="55">
                  <c:v>09/04/2025</c:v>
                </c:pt>
                <c:pt idx="56">
                  <c:v>09/05/2025</c:v>
                </c:pt>
                <c:pt idx="57">
                  <c:v>09/06/2025</c:v>
                </c:pt>
                <c:pt idx="58">
                  <c:v>09/07/2025</c:v>
                </c:pt>
                <c:pt idx="59">
                  <c:v>09/08/2025</c:v>
                </c:pt>
                <c:pt idx="60">
                  <c:v>09/09/2025</c:v>
                </c:pt>
                <c:pt idx="61">
                  <c:v>09/10/2025</c:v>
                </c:pt>
                <c:pt idx="62">
                  <c:v>09/11/2025</c:v>
                </c:pt>
                <c:pt idx="63">
                  <c:v>09/12/2025</c:v>
                </c:pt>
                <c:pt idx="64">
                  <c:v>09/13/2025</c:v>
                </c:pt>
                <c:pt idx="65">
                  <c:v>09/14/2025</c:v>
                </c:pt>
                <c:pt idx="66">
                  <c:v>09/15/2025</c:v>
                </c:pt>
                <c:pt idx="67">
                  <c:v>09/16/2025</c:v>
                </c:pt>
                <c:pt idx="68">
                  <c:v>09/17/2025</c:v>
                </c:pt>
                <c:pt idx="69">
                  <c:v>09/18/2025</c:v>
                </c:pt>
                <c:pt idx="70">
                  <c:v>09/19/2025</c:v>
                </c:pt>
                <c:pt idx="71">
                  <c:v>09/20/2025</c:v>
                </c:pt>
                <c:pt idx="72">
                  <c:v>09/21/2025</c:v>
                </c:pt>
                <c:pt idx="73">
                  <c:v>09/22/2025</c:v>
                </c:pt>
                <c:pt idx="74">
                  <c:v>09/23/2025</c:v>
                </c:pt>
                <c:pt idx="75">
                  <c:v>09/24/2025</c:v>
                </c:pt>
                <c:pt idx="76">
                  <c:v>09/25/2025</c:v>
                </c:pt>
                <c:pt idx="77">
                  <c:v>09/26/2025</c:v>
                </c:pt>
                <c:pt idx="78">
                  <c:v>09/27/2025</c:v>
                </c:pt>
                <c:pt idx="79">
                  <c:v>09/28/2025</c:v>
                </c:pt>
                <c:pt idx="80">
                  <c:v>09/29/2025</c:v>
                </c:pt>
                <c:pt idx="81">
                  <c:v>09/30/2025</c:v>
                </c:pt>
                <c:pt idx="82">
                  <c:v>10/01/2025</c:v>
                </c:pt>
                <c:pt idx="83">
                  <c:v>10/02/2025</c:v>
                </c:pt>
                <c:pt idx="84">
                  <c:v>10/03/2025</c:v>
                </c:pt>
                <c:pt idx="85">
                  <c:v>10/04/2025</c:v>
                </c:pt>
                <c:pt idx="86">
                  <c:v>10/05/2025</c:v>
                </c:pt>
                <c:pt idx="87">
                  <c:v>10/06/2025</c:v>
                </c:pt>
                <c:pt idx="88">
                  <c:v>10/07/2025</c:v>
                </c:pt>
                <c:pt idx="89">
                  <c:v>10/08/2025</c:v>
                </c:pt>
              </c:strCache>
            </c:strRef>
          </c:cat>
          <c:val>
            <c:numRef>
              <c:f>'New followers'!$C$2:$C$91</c:f>
              <c:numCache>
                <c:formatCode>General</c:formatCode>
                <c:ptCount val="90"/>
                <c:pt idx="0">
                  <c:v>0</c:v>
                </c:pt>
                <c:pt idx="1">
                  <c:v>0</c:v>
                </c:pt>
                <c:pt idx="2">
                  <c:v>0</c:v>
                </c:pt>
                <c:pt idx="3">
                  <c:v>0</c:v>
                </c:pt>
                <c:pt idx="4">
                  <c:v>0</c:v>
                </c:pt>
                <c:pt idx="5">
                  <c:v>0</c:v>
                </c:pt>
                <c:pt idx="6">
                  <c:v>0</c:v>
                </c:pt>
                <c:pt idx="7">
                  <c:v>0</c:v>
                </c:pt>
                <c:pt idx="8">
                  <c:v>0</c:v>
                </c:pt>
                <c:pt idx="9">
                  <c:v>0</c:v>
                </c:pt>
                <c:pt idx="10">
                  <c:v>0</c:v>
                </c:pt>
                <c:pt idx="11">
                  <c:v>39</c:v>
                </c:pt>
                <c:pt idx="12">
                  <c:v>67</c:v>
                </c:pt>
                <c:pt idx="13">
                  <c:v>111</c:v>
                </c:pt>
                <c:pt idx="14">
                  <c:v>11</c:v>
                </c:pt>
                <c:pt idx="15">
                  <c:v>5</c:v>
                </c:pt>
                <c:pt idx="16">
                  <c:v>2</c:v>
                </c:pt>
                <c:pt idx="17">
                  <c:v>6</c:v>
                </c:pt>
                <c:pt idx="18">
                  <c:v>1</c:v>
                </c:pt>
                <c:pt idx="19">
                  <c:v>2</c:v>
                </c:pt>
                <c:pt idx="20">
                  <c:v>5</c:v>
                </c:pt>
                <c:pt idx="21">
                  <c:v>3</c:v>
                </c:pt>
                <c:pt idx="22">
                  <c:v>-1</c:v>
                </c:pt>
                <c:pt idx="23">
                  <c:v>0</c:v>
                </c:pt>
                <c:pt idx="24">
                  <c:v>0</c:v>
                </c:pt>
                <c:pt idx="25">
                  <c:v>21</c:v>
                </c:pt>
                <c:pt idx="26">
                  <c:v>11</c:v>
                </c:pt>
                <c:pt idx="27">
                  <c:v>7</c:v>
                </c:pt>
                <c:pt idx="28">
                  <c:v>4</c:v>
                </c:pt>
                <c:pt idx="29">
                  <c:v>3</c:v>
                </c:pt>
                <c:pt idx="30">
                  <c:v>7</c:v>
                </c:pt>
                <c:pt idx="31">
                  <c:v>5</c:v>
                </c:pt>
                <c:pt idx="32">
                  <c:v>-1</c:v>
                </c:pt>
                <c:pt idx="33">
                  <c:v>0</c:v>
                </c:pt>
                <c:pt idx="34">
                  <c:v>-1</c:v>
                </c:pt>
                <c:pt idx="35">
                  <c:v>-2</c:v>
                </c:pt>
                <c:pt idx="36">
                  <c:v>0</c:v>
                </c:pt>
                <c:pt idx="37">
                  <c:v>0</c:v>
                </c:pt>
                <c:pt idx="38">
                  <c:v>1</c:v>
                </c:pt>
                <c:pt idx="39">
                  <c:v>0</c:v>
                </c:pt>
                <c:pt idx="40">
                  <c:v>0</c:v>
                </c:pt>
                <c:pt idx="41">
                  <c:v>1</c:v>
                </c:pt>
                <c:pt idx="42">
                  <c:v>1</c:v>
                </c:pt>
                <c:pt idx="43">
                  <c:v>1</c:v>
                </c:pt>
                <c:pt idx="44">
                  <c:v>0</c:v>
                </c:pt>
                <c:pt idx="45">
                  <c:v>0</c:v>
                </c:pt>
                <c:pt idx="46">
                  <c:v>3</c:v>
                </c:pt>
                <c:pt idx="47">
                  <c:v>0</c:v>
                </c:pt>
                <c:pt idx="48">
                  <c:v>0</c:v>
                </c:pt>
                <c:pt idx="49">
                  <c:v>1</c:v>
                </c:pt>
                <c:pt idx="50">
                  <c:v>0</c:v>
                </c:pt>
                <c:pt idx="51">
                  <c:v>0</c:v>
                </c:pt>
                <c:pt idx="52">
                  <c:v>1</c:v>
                </c:pt>
                <c:pt idx="53">
                  <c:v>0</c:v>
                </c:pt>
                <c:pt idx="54">
                  <c:v>0</c:v>
                </c:pt>
                <c:pt idx="55">
                  <c:v>2</c:v>
                </c:pt>
                <c:pt idx="56">
                  <c:v>0</c:v>
                </c:pt>
                <c:pt idx="57">
                  <c:v>0</c:v>
                </c:pt>
                <c:pt idx="58">
                  <c:v>0</c:v>
                </c:pt>
                <c:pt idx="59">
                  <c:v>0</c:v>
                </c:pt>
                <c:pt idx="60">
                  <c:v>0</c:v>
                </c:pt>
                <c:pt idx="61">
                  <c:v>-1</c:v>
                </c:pt>
                <c:pt idx="62">
                  <c:v>0</c:v>
                </c:pt>
                <c:pt idx="63">
                  <c:v>1</c:v>
                </c:pt>
                <c:pt idx="64">
                  <c:v>0</c:v>
                </c:pt>
                <c:pt idx="65">
                  <c:v>0</c:v>
                </c:pt>
                <c:pt idx="66">
                  <c:v>-1</c:v>
                </c:pt>
                <c:pt idx="67">
                  <c:v>0</c:v>
                </c:pt>
                <c:pt idx="68">
                  <c:v>1</c:v>
                </c:pt>
                <c:pt idx="69">
                  <c:v>0</c:v>
                </c:pt>
                <c:pt idx="70">
                  <c:v>-1</c:v>
                </c:pt>
                <c:pt idx="71">
                  <c:v>0</c:v>
                </c:pt>
                <c:pt idx="72">
                  <c:v>0</c:v>
                </c:pt>
                <c:pt idx="73">
                  <c:v>0</c:v>
                </c:pt>
                <c:pt idx="74">
                  <c:v>-1</c:v>
                </c:pt>
                <c:pt idx="75">
                  <c:v>0</c:v>
                </c:pt>
                <c:pt idx="76">
                  <c:v>0</c:v>
                </c:pt>
                <c:pt idx="77">
                  <c:v>2</c:v>
                </c:pt>
                <c:pt idx="78">
                  <c:v>0</c:v>
                </c:pt>
                <c:pt idx="79">
                  <c:v>0</c:v>
                </c:pt>
                <c:pt idx="80">
                  <c:v>0</c:v>
                </c:pt>
                <c:pt idx="81">
                  <c:v>0</c:v>
                </c:pt>
                <c:pt idx="82">
                  <c:v>1</c:v>
                </c:pt>
                <c:pt idx="83">
                  <c:v>0</c:v>
                </c:pt>
                <c:pt idx="84">
                  <c:v>0</c:v>
                </c:pt>
                <c:pt idx="85">
                  <c:v>0</c:v>
                </c:pt>
                <c:pt idx="86">
                  <c:v>0</c:v>
                </c:pt>
                <c:pt idx="87">
                  <c:v>0</c:v>
                </c:pt>
                <c:pt idx="88">
                  <c:v>0</c:v>
                </c:pt>
                <c:pt idx="89">
                  <c:v>0</c:v>
                </c:pt>
              </c:numCache>
            </c:numRef>
          </c:val>
          <c:smooth val="0"/>
          <c:extLst>
            <c:ext xmlns:c16="http://schemas.microsoft.com/office/drawing/2014/chart" uri="{C3380CC4-5D6E-409C-BE32-E72D297353CC}">
              <c16:uniqueId val="{00000001-DEFD-45E4-935C-02ADC1FE4773}"/>
            </c:ext>
          </c:extLst>
        </c:ser>
        <c:ser>
          <c:idx val="2"/>
          <c:order val="2"/>
          <c:tx>
            <c:strRef>
              <c:f>'New followers'!$D$1</c:f>
              <c:strCache>
                <c:ptCount val="1"/>
                <c:pt idx="0">
                  <c:v>Auto-invited followers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'New followers'!$A$2:$A$91</c:f>
              <c:strCache>
                <c:ptCount val="90"/>
                <c:pt idx="0">
                  <c:v>07/11/2025</c:v>
                </c:pt>
                <c:pt idx="1">
                  <c:v>07/12/2025</c:v>
                </c:pt>
                <c:pt idx="2">
                  <c:v>07/13/2025</c:v>
                </c:pt>
                <c:pt idx="3">
                  <c:v>07/14/2025</c:v>
                </c:pt>
                <c:pt idx="4">
                  <c:v>07/15/2025</c:v>
                </c:pt>
                <c:pt idx="5">
                  <c:v>07/16/2025</c:v>
                </c:pt>
                <c:pt idx="6">
                  <c:v>07/17/2025</c:v>
                </c:pt>
                <c:pt idx="7">
                  <c:v>07/18/2025</c:v>
                </c:pt>
                <c:pt idx="8">
                  <c:v>07/19/2025</c:v>
                </c:pt>
                <c:pt idx="9">
                  <c:v>07/20/2025</c:v>
                </c:pt>
                <c:pt idx="10">
                  <c:v>07/21/2025</c:v>
                </c:pt>
                <c:pt idx="11">
                  <c:v>07/22/2025</c:v>
                </c:pt>
                <c:pt idx="12">
                  <c:v>07/23/2025</c:v>
                </c:pt>
                <c:pt idx="13">
                  <c:v>07/24/2025</c:v>
                </c:pt>
                <c:pt idx="14">
                  <c:v>07/25/2025</c:v>
                </c:pt>
                <c:pt idx="15">
                  <c:v>07/26/2025</c:v>
                </c:pt>
                <c:pt idx="16">
                  <c:v>07/27/2025</c:v>
                </c:pt>
                <c:pt idx="17">
                  <c:v>07/28/2025</c:v>
                </c:pt>
                <c:pt idx="18">
                  <c:v>07/29/2025</c:v>
                </c:pt>
                <c:pt idx="19">
                  <c:v>07/30/2025</c:v>
                </c:pt>
                <c:pt idx="20">
                  <c:v>07/31/2025</c:v>
                </c:pt>
                <c:pt idx="21">
                  <c:v>08/01/2025</c:v>
                </c:pt>
                <c:pt idx="22">
                  <c:v>08/02/2025</c:v>
                </c:pt>
                <c:pt idx="23">
                  <c:v>08/03/2025</c:v>
                </c:pt>
                <c:pt idx="24">
                  <c:v>08/04/2025</c:v>
                </c:pt>
                <c:pt idx="25">
                  <c:v>08/05/2025</c:v>
                </c:pt>
                <c:pt idx="26">
                  <c:v>08/06/2025</c:v>
                </c:pt>
                <c:pt idx="27">
                  <c:v>08/07/2025</c:v>
                </c:pt>
                <c:pt idx="28">
                  <c:v>08/08/2025</c:v>
                </c:pt>
                <c:pt idx="29">
                  <c:v>08/09/2025</c:v>
                </c:pt>
                <c:pt idx="30">
                  <c:v>08/10/2025</c:v>
                </c:pt>
                <c:pt idx="31">
                  <c:v>08/11/2025</c:v>
                </c:pt>
                <c:pt idx="32">
                  <c:v>08/12/2025</c:v>
                </c:pt>
                <c:pt idx="33">
                  <c:v>08/13/2025</c:v>
                </c:pt>
                <c:pt idx="34">
                  <c:v>08/14/2025</c:v>
                </c:pt>
                <c:pt idx="35">
                  <c:v>08/15/2025</c:v>
                </c:pt>
                <c:pt idx="36">
                  <c:v>08/16/2025</c:v>
                </c:pt>
                <c:pt idx="37">
                  <c:v>08/17/2025</c:v>
                </c:pt>
                <c:pt idx="38">
                  <c:v>08/18/2025</c:v>
                </c:pt>
                <c:pt idx="39">
                  <c:v>08/19/2025</c:v>
                </c:pt>
                <c:pt idx="40">
                  <c:v>08/20/2025</c:v>
                </c:pt>
                <c:pt idx="41">
                  <c:v>08/21/2025</c:v>
                </c:pt>
                <c:pt idx="42">
                  <c:v>08/22/2025</c:v>
                </c:pt>
                <c:pt idx="43">
                  <c:v>08/23/2025</c:v>
                </c:pt>
                <c:pt idx="44">
                  <c:v>08/24/2025</c:v>
                </c:pt>
                <c:pt idx="45">
                  <c:v>08/25/2025</c:v>
                </c:pt>
                <c:pt idx="46">
                  <c:v>08/26/2025</c:v>
                </c:pt>
                <c:pt idx="47">
                  <c:v>08/27/2025</c:v>
                </c:pt>
                <c:pt idx="48">
                  <c:v>08/28/2025</c:v>
                </c:pt>
                <c:pt idx="49">
                  <c:v>08/29/2025</c:v>
                </c:pt>
                <c:pt idx="50">
                  <c:v>08/30/2025</c:v>
                </c:pt>
                <c:pt idx="51">
                  <c:v>08/31/2025</c:v>
                </c:pt>
                <c:pt idx="52">
                  <c:v>09/01/2025</c:v>
                </c:pt>
                <c:pt idx="53">
                  <c:v>09/02/2025</c:v>
                </c:pt>
                <c:pt idx="54">
                  <c:v>09/03/2025</c:v>
                </c:pt>
                <c:pt idx="55">
                  <c:v>09/04/2025</c:v>
                </c:pt>
                <c:pt idx="56">
                  <c:v>09/05/2025</c:v>
                </c:pt>
                <c:pt idx="57">
                  <c:v>09/06/2025</c:v>
                </c:pt>
                <c:pt idx="58">
                  <c:v>09/07/2025</c:v>
                </c:pt>
                <c:pt idx="59">
                  <c:v>09/08/2025</c:v>
                </c:pt>
                <c:pt idx="60">
                  <c:v>09/09/2025</c:v>
                </c:pt>
                <c:pt idx="61">
                  <c:v>09/10/2025</c:v>
                </c:pt>
                <c:pt idx="62">
                  <c:v>09/11/2025</c:v>
                </c:pt>
                <c:pt idx="63">
                  <c:v>09/12/2025</c:v>
                </c:pt>
                <c:pt idx="64">
                  <c:v>09/13/2025</c:v>
                </c:pt>
                <c:pt idx="65">
                  <c:v>09/14/2025</c:v>
                </c:pt>
                <c:pt idx="66">
                  <c:v>09/15/2025</c:v>
                </c:pt>
                <c:pt idx="67">
                  <c:v>09/16/2025</c:v>
                </c:pt>
                <c:pt idx="68">
                  <c:v>09/17/2025</c:v>
                </c:pt>
                <c:pt idx="69">
                  <c:v>09/18/2025</c:v>
                </c:pt>
                <c:pt idx="70">
                  <c:v>09/19/2025</c:v>
                </c:pt>
                <c:pt idx="71">
                  <c:v>09/20/2025</c:v>
                </c:pt>
                <c:pt idx="72">
                  <c:v>09/21/2025</c:v>
                </c:pt>
                <c:pt idx="73">
                  <c:v>09/22/2025</c:v>
                </c:pt>
                <c:pt idx="74">
                  <c:v>09/23/2025</c:v>
                </c:pt>
                <c:pt idx="75">
                  <c:v>09/24/2025</c:v>
                </c:pt>
                <c:pt idx="76">
                  <c:v>09/25/2025</c:v>
                </c:pt>
                <c:pt idx="77">
                  <c:v>09/26/2025</c:v>
                </c:pt>
                <c:pt idx="78">
                  <c:v>09/27/2025</c:v>
                </c:pt>
                <c:pt idx="79">
                  <c:v>09/28/2025</c:v>
                </c:pt>
                <c:pt idx="80">
                  <c:v>09/29/2025</c:v>
                </c:pt>
                <c:pt idx="81">
                  <c:v>09/30/2025</c:v>
                </c:pt>
                <c:pt idx="82">
                  <c:v>10/01/2025</c:v>
                </c:pt>
                <c:pt idx="83">
                  <c:v>10/02/2025</c:v>
                </c:pt>
                <c:pt idx="84">
                  <c:v>10/03/2025</c:v>
                </c:pt>
                <c:pt idx="85">
                  <c:v>10/04/2025</c:v>
                </c:pt>
                <c:pt idx="86">
                  <c:v>10/05/2025</c:v>
                </c:pt>
                <c:pt idx="87">
                  <c:v>10/06/2025</c:v>
                </c:pt>
                <c:pt idx="88">
                  <c:v>10/07/2025</c:v>
                </c:pt>
                <c:pt idx="89">
                  <c:v>10/08/2025</c:v>
                </c:pt>
              </c:strCache>
            </c:strRef>
          </c:cat>
          <c:val>
            <c:numRef>
              <c:f>'New followers'!$D$2:$D$91</c:f>
              <c:numCache>
                <c:formatCode>General</c:formatCode>
                <c:ptCount val="90"/>
                <c:pt idx="0">
                  <c:v>1</c:v>
                </c:pt>
                <c:pt idx="1">
                  <c:v>0</c:v>
                </c:pt>
                <c:pt idx="2">
                  <c:v>0</c:v>
                </c:pt>
                <c:pt idx="3">
                  <c:v>0</c:v>
                </c:pt>
                <c:pt idx="4">
                  <c:v>2</c:v>
                </c:pt>
                <c:pt idx="5">
                  <c:v>0</c:v>
                </c:pt>
                <c:pt idx="6">
                  <c:v>1</c:v>
                </c:pt>
                <c:pt idx="7">
                  <c:v>0</c:v>
                </c:pt>
                <c:pt idx="8">
                  <c:v>0</c:v>
                </c:pt>
                <c:pt idx="9">
                  <c:v>0</c:v>
                </c:pt>
                <c:pt idx="10">
                  <c:v>1</c:v>
                </c:pt>
                <c:pt idx="11">
                  <c:v>2</c:v>
                </c:pt>
                <c:pt idx="12">
                  <c:v>0</c:v>
                </c:pt>
                <c:pt idx="13">
                  <c:v>0</c:v>
                </c:pt>
                <c:pt idx="14">
                  <c:v>0</c:v>
                </c:pt>
                <c:pt idx="15">
                  <c:v>0</c:v>
                </c:pt>
                <c:pt idx="16">
                  <c:v>0</c:v>
                </c:pt>
                <c:pt idx="17">
                  <c:v>0</c:v>
                </c:pt>
                <c:pt idx="18">
                  <c:v>0</c:v>
                </c:pt>
                <c:pt idx="19">
                  <c:v>0</c:v>
                </c:pt>
                <c:pt idx="20">
                  <c:v>1</c:v>
                </c:pt>
                <c:pt idx="21">
                  <c:v>0</c:v>
                </c:pt>
                <c:pt idx="22">
                  <c:v>2</c:v>
                </c:pt>
                <c:pt idx="23">
                  <c:v>0</c:v>
                </c:pt>
                <c:pt idx="24">
                  <c:v>0</c:v>
                </c:pt>
                <c:pt idx="25">
                  <c:v>3</c:v>
                </c:pt>
                <c:pt idx="26">
                  <c:v>0</c:v>
                </c:pt>
                <c:pt idx="27">
                  <c:v>0</c:v>
                </c:pt>
                <c:pt idx="28">
                  <c:v>0</c:v>
                </c:pt>
                <c:pt idx="29">
                  <c:v>0</c:v>
                </c:pt>
                <c:pt idx="30">
                  <c:v>0</c:v>
                </c:pt>
                <c:pt idx="31">
                  <c:v>0</c:v>
                </c:pt>
                <c:pt idx="32">
                  <c:v>3</c:v>
                </c:pt>
                <c:pt idx="33">
                  <c:v>5</c:v>
                </c:pt>
                <c:pt idx="34">
                  <c:v>2</c:v>
                </c:pt>
                <c:pt idx="35">
                  <c:v>1</c:v>
                </c:pt>
                <c:pt idx="36">
                  <c:v>2</c:v>
                </c:pt>
                <c:pt idx="37">
                  <c:v>0</c:v>
                </c:pt>
                <c:pt idx="38">
                  <c:v>1</c:v>
                </c:pt>
                <c:pt idx="39">
                  <c:v>1</c:v>
                </c:pt>
                <c:pt idx="40">
                  <c:v>0</c:v>
                </c:pt>
                <c:pt idx="41">
                  <c:v>1</c:v>
                </c:pt>
                <c:pt idx="42">
                  <c:v>0</c:v>
                </c:pt>
                <c:pt idx="43">
                  <c:v>0</c:v>
                </c:pt>
                <c:pt idx="44">
                  <c:v>0</c:v>
                </c:pt>
                <c:pt idx="45">
                  <c:v>0</c:v>
                </c:pt>
                <c:pt idx="46">
                  <c:v>1</c:v>
                </c:pt>
                <c:pt idx="47">
                  <c:v>0</c:v>
                </c:pt>
                <c:pt idx="48">
                  <c:v>0</c:v>
                </c:pt>
                <c:pt idx="49">
                  <c:v>1</c:v>
                </c:pt>
                <c:pt idx="50">
                  <c:v>0</c:v>
                </c:pt>
                <c:pt idx="51">
                  <c:v>0</c:v>
                </c:pt>
                <c:pt idx="52">
                  <c:v>0</c:v>
                </c:pt>
                <c:pt idx="53">
                  <c:v>1</c:v>
                </c:pt>
                <c:pt idx="54">
                  <c:v>0</c:v>
                </c:pt>
                <c:pt idx="55">
                  <c:v>0</c:v>
                </c:pt>
                <c:pt idx="56">
                  <c:v>0</c:v>
                </c:pt>
                <c:pt idx="57">
                  <c:v>1</c:v>
                </c:pt>
                <c:pt idx="58">
                  <c:v>0</c:v>
                </c:pt>
                <c:pt idx="59">
                  <c:v>0</c:v>
                </c:pt>
                <c:pt idx="60">
                  <c:v>1</c:v>
                </c:pt>
                <c:pt idx="61">
                  <c:v>0</c:v>
                </c:pt>
                <c:pt idx="62">
                  <c:v>0</c:v>
                </c:pt>
                <c:pt idx="63">
                  <c:v>1</c:v>
                </c:pt>
                <c:pt idx="64">
                  <c:v>0</c:v>
                </c:pt>
                <c:pt idx="65">
                  <c:v>0</c:v>
                </c:pt>
                <c:pt idx="66">
                  <c:v>0</c:v>
                </c:pt>
                <c:pt idx="67">
                  <c:v>0</c:v>
                </c:pt>
                <c:pt idx="68">
                  <c:v>0</c:v>
                </c:pt>
                <c:pt idx="69">
                  <c:v>1</c:v>
                </c:pt>
                <c:pt idx="70">
                  <c:v>0</c:v>
                </c:pt>
                <c:pt idx="71">
                  <c:v>1</c:v>
                </c:pt>
                <c:pt idx="72">
                  <c:v>0</c:v>
                </c:pt>
                <c:pt idx="73">
                  <c:v>0</c:v>
                </c:pt>
                <c:pt idx="74">
                  <c:v>0</c:v>
                </c:pt>
                <c:pt idx="75">
                  <c:v>0</c:v>
                </c:pt>
                <c:pt idx="76">
                  <c:v>0</c:v>
                </c:pt>
                <c:pt idx="77">
                  <c:v>0</c:v>
                </c:pt>
                <c:pt idx="78">
                  <c:v>0</c:v>
                </c:pt>
                <c:pt idx="79">
                  <c:v>0</c:v>
                </c:pt>
                <c:pt idx="80">
                  <c:v>1</c:v>
                </c:pt>
                <c:pt idx="81">
                  <c:v>0</c:v>
                </c:pt>
                <c:pt idx="82">
                  <c:v>0</c:v>
                </c:pt>
                <c:pt idx="83">
                  <c:v>0</c:v>
                </c:pt>
                <c:pt idx="84">
                  <c:v>1</c:v>
                </c:pt>
                <c:pt idx="85">
                  <c:v>0</c:v>
                </c:pt>
                <c:pt idx="86">
                  <c:v>0</c:v>
                </c:pt>
                <c:pt idx="87">
                  <c:v>0</c:v>
                </c:pt>
                <c:pt idx="88">
                  <c:v>0</c:v>
                </c:pt>
                <c:pt idx="89">
                  <c:v>0</c:v>
                </c:pt>
              </c:numCache>
            </c:numRef>
          </c:val>
          <c:smooth val="0"/>
          <c:extLst>
            <c:ext xmlns:c16="http://schemas.microsoft.com/office/drawing/2014/chart" uri="{C3380CC4-5D6E-409C-BE32-E72D297353CC}">
              <c16:uniqueId val="{00000002-DEFD-45E4-935C-02ADC1FE4773}"/>
            </c:ext>
          </c:extLst>
        </c:ser>
        <c:ser>
          <c:idx val="3"/>
          <c:order val="3"/>
          <c:tx>
            <c:strRef>
              <c:f>'New followers'!$E$1</c:f>
              <c:strCache>
                <c:ptCount val="1"/>
                <c:pt idx="0">
                  <c:v>Total followers</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'New followers'!$A$2:$A$91</c:f>
              <c:strCache>
                <c:ptCount val="90"/>
                <c:pt idx="0">
                  <c:v>07/11/2025</c:v>
                </c:pt>
                <c:pt idx="1">
                  <c:v>07/12/2025</c:v>
                </c:pt>
                <c:pt idx="2">
                  <c:v>07/13/2025</c:v>
                </c:pt>
                <c:pt idx="3">
                  <c:v>07/14/2025</c:v>
                </c:pt>
                <c:pt idx="4">
                  <c:v>07/15/2025</c:v>
                </c:pt>
                <c:pt idx="5">
                  <c:v>07/16/2025</c:v>
                </c:pt>
                <c:pt idx="6">
                  <c:v>07/17/2025</c:v>
                </c:pt>
                <c:pt idx="7">
                  <c:v>07/18/2025</c:v>
                </c:pt>
                <c:pt idx="8">
                  <c:v>07/19/2025</c:v>
                </c:pt>
                <c:pt idx="9">
                  <c:v>07/20/2025</c:v>
                </c:pt>
                <c:pt idx="10">
                  <c:v>07/21/2025</c:v>
                </c:pt>
                <c:pt idx="11">
                  <c:v>07/22/2025</c:v>
                </c:pt>
                <c:pt idx="12">
                  <c:v>07/23/2025</c:v>
                </c:pt>
                <c:pt idx="13">
                  <c:v>07/24/2025</c:v>
                </c:pt>
                <c:pt idx="14">
                  <c:v>07/25/2025</c:v>
                </c:pt>
                <c:pt idx="15">
                  <c:v>07/26/2025</c:v>
                </c:pt>
                <c:pt idx="16">
                  <c:v>07/27/2025</c:v>
                </c:pt>
                <c:pt idx="17">
                  <c:v>07/28/2025</c:v>
                </c:pt>
                <c:pt idx="18">
                  <c:v>07/29/2025</c:v>
                </c:pt>
                <c:pt idx="19">
                  <c:v>07/30/2025</c:v>
                </c:pt>
                <c:pt idx="20">
                  <c:v>07/31/2025</c:v>
                </c:pt>
                <c:pt idx="21">
                  <c:v>08/01/2025</c:v>
                </c:pt>
                <c:pt idx="22">
                  <c:v>08/02/2025</c:v>
                </c:pt>
                <c:pt idx="23">
                  <c:v>08/03/2025</c:v>
                </c:pt>
                <c:pt idx="24">
                  <c:v>08/04/2025</c:v>
                </c:pt>
                <c:pt idx="25">
                  <c:v>08/05/2025</c:v>
                </c:pt>
                <c:pt idx="26">
                  <c:v>08/06/2025</c:v>
                </c:pt>
                <c:pt idx="27">
                  <c:v>08/07/2025</c:v>
                </c:pt>
                <c:pt idx="28">
                  <c:v>08/08/2025</c:v>
                </c:pt>
                <c:pt idx="29">
                  <c:v>08/09/2025</c:v>
                </c:pt>
                <c:pt idx="30">
                  <c:v>08/10/2025</c:v>
                </c:pt>
                <c:pt idx="31">
                  <c:v>08/11/2025</c:v>
                </c:pt>
                <c:pt idx="32">
                  <c:v>08/12/2025</c:v>
                </c:pt>
                <c:pt idx="33">
                  <c:v>08/13/2025</c:v>
                </c:pt>
                <c:pt idx="34">
                  <c:v>08/14/2025</c:v>
                </c:pt>
                <c:pt idx="35">
                  <c:v>08/15/2025</c:v>
                </c:pt>
                <c:pt idx="36">
                  <c:v>08/16/2025</c:v>
                </c:pt>
                <c:pt idx="37">
                  <c:v>08/17/2025</c:v>
                </c:pt>
                <c:pt idx="38">
                  <c:v>08/18/2025</c:v>
                </c:pt>
                <c:pt idx="39">
                  <c:v>08/19/2025</c:v>
                </c:pt>
                <c:pt idx="40">
                  <c:v>08/20/2025</c:v>
                </c:pt>
                <c:pt idx="41">
                  <c:v>08/21/2025</c:v>
                </c:pt>
                <c:pt idx="42">
                  <c:v>08/22/2025</c:v>
                </c:pt>
                <c:pt idx="43">
                  <c:v>08/23/2025</c:v>
                </c:pt>
                <c:pt idx="44">
                  <c:v>08/24/2025</c:v>
                </c:pt>
                <c:pt idx="45">
                  <c:v>08/25/2025</c:v>
                </c:pt>
                <c:pt idx="46">
                  <c:v>08/26/2025</c:v>
                </c:pt>
                <c:pt idx="47">
                  <c:v>08/27/2025</c:v>
                </c:pt>
                <c:pt idx="48">
                  <c:v>08/28/2025</c:v>
                </c:pt>
                <c:pt idx="49">
                  <c:v>08/29/2025</c:v>
                </c:pt>
                <c:pt idx="50">
                  <c:v>08/30/2025</c:v>
                </c:pt>
                <c:pt idx="51">
                  <c:v>08/31/2025</c:v>
                </c:pt>
                <c:pt idx="52">
                  <c:v>09/01/2025</c:v>
                </c:pt>
                <c:pt idx="53">
                  <c:v>09/02/2025</c:v>
                </c:pt>
                <c:pt idx="54">
                  <c:v>09/03/2025</c:v>
                </c:pt>
                <c:pt idx="55">
                  <c:v>09/04/2025</c:v>
                </c:pt>
                <c:pt idx="56">
                  <c:v>09/05/2025</c:v>
                </c:pt>
                <c:pt idx="57">
                  <c:v>09/06/2025</c:v>
                </c:pt>
                <c:pt idx="58">
                  <c:v>09/07/2025</c:v>
                </c:pt>
                <c:pt idx="59">
                  <c:v>09/08/2025</c:v>
                </c:pt>
                <c:pt idx="60">
                  <c:v>09/09/2025</c:v>
                </c:pt>
                <c:pt idx="61">
                  <c:v>09/10/2025</c:v>
                </c:pt>
                <c:pt idx="62">
                  <c:v>09/11/2025</c:v>
                </c:pt>
                <c:pt idx="63">
                  <c:v>09/12/2025</c:v>
                </c:pt>
                <c:pt idx="64">
                  <c:v>09/13/2025</c:v>
                </c:pt>
                <c:pt idx="65">
                  <c:v>09/14/2025</c:v>
                </c:pt>
                <c:pt idx="66">
                  <c:v>09/15/2025</c:v>
                </c:pt>
                <c:pt idx="67">
                  <c:v>09/16/2025</c:v>
                </c:pt>
                <c:pt idx="68">
                  <c:v>09/17/2025</c:v>
                </c:pt>
                <c:pt idx="69">
                  <c:v>09/18/2025</c:v>
                </c:pt>
                <c:pt idx="70">
                  <c:v>09/19/2025</c:v>
                </c:pt>
                <c:pt idx="71">
                  <c:v>09/20/2025</c:v>
                </c:pt>
                <c:pt idx="72">
                  <c:v>09/21/2025</c:v>
                </c:pt>
                <c:pt idx="73">
                  <c:v>09/22/2025</c:v>
                </c:pt>
                <c:pt idx="74">
                  <c:v>09/23/2025</c:v>
                </c:pt>
                <c:pt idx="75">
                  <c:v>09/24/2025</c:v>
                </c:pt>
                <c:pt idx="76">
                  <c:v>09/25/2025</c:v>
                </c:pt>
                <c:pt idx="77">
                  <c:v>09/26/2025</c:v>
                </c:pt>
                <c:pt idx="78">
                  <c:v>09/27/2025</c:v>
                </c:pt>
                <c:pt idx="79">
                  <c:v>09/28/2025</c:v>
                </c:pt>
                <c:pt idx="80">
                  <c:v>09/29/2025</c:v>
                </c:pt>
                <c:pt idx="81">
                  <c:v>09/30/2025</c:v>
                </c:pt>
                <c:pt idx="82">
                  <c:v>10/01/2025</c:v>
                </c:pt>
                <c:pt idx="83">
                  <c:v>10/02/2025</c:v>
                </c:pt>
                <c:pt idx="84">
                  <c:v>10/03/2025</c:v>
                </c:pt>
                <c:pt idx="85">
                  <c:v>10/04/2025</c:v>
                </c:pt>
                <c:pt idx="86">
                  <c:v>10/05/2025</c:v>
                </c:pt>
                <c:pt idx="87">
                  <c:v>10/06/2025</c:v>
                </c:pt>
                <c:pt idx="88">
                  <c:v>10/07/2025</c:v>
                </c:pt>
                <c:pt idx="89">
                  <c:v>10/08/2025</c:v>
                </c:pt>
              </c:strCache>
            </c:strRef>
          </c:cat>
          <c:val>
            <c:numRef>
              <c:f>'New followers'!$E$2:$E$91</c:f>
              <c:numCache>
                <c:formatCode>General</c:formatCode>
                <c:ptCount val="90"/>
                <c:pt idx="0">
                  <c:v>1</c:v>
                </c:pt>
                <c:pt idx="1">
                  <c:v>0</c:v>
                </c:pt>
                <c:pt idx="2">
                  <c:v>0</c:v>
                </c:pt>
                <c:pt idx="3">
                  <c:v>0</c:v>
                </c:pt>
                <c:pt idx="4">
                  <c:v>2</c:v>
                </c:pt>
                <c:pt idx="5">
                  <c:v>0</c:v>
                </c:pt>
                <c:pt idx="6">
                  <c:v>1</c:v>
                </c:pt>
                <c:pt idx="7">
                  <c:v>0</c:v>
                </c:pt>
                <c:pt idx="8">
                  <c:v>0</c:v>
                </c:pt>
                <c:pt idx="9">
                  <c:v>0</c:v>
                </c:pt>
                <c:pt idx="10">
                  <c:v>1</c:v>
                </c:pt>
                <c:pt idx="11">
                  <c:v>41</c:v>
                </c:pt>
                <c:pt idx="12">
                  <c:v>67</c:v>
                </c:pt>
                <c:pt idx="13">
                  <c:v>111</c:v>
                </c:pt>
                <c:pt idx="14">
                  <c:v>11</c:v>
                </c:pt>
                <c:pt idx="15">
                  <c:v>5</c:v>
                </c:pt>
                <c:pt idx="16">
                  <c:v>2</c:v>
                </c:pt>
                <c:pt idx="17">
                  <c:v>6</c:v>
                </c:pt>
                <c:pt idx="18">
                  <c:v>1</c:v>
                </c:pt>
                <c:pt idx="19">
                  <c:v>2</c:v>
                </c:pt>
                <c:pt idx="20">
                  <c:v>6</c:v>
                </c:pt>
                <c:pt idx="21">
                  <c:v>3</c:v>
                </c:pt>
                <c:pt idx="22">
                  <c:v>1</c:v>
                </c:pt>
                <c:pt idx="23">
                  <c:v>0</c:v>
                </c:pt>
                <c:pt idx="24">
                  <c:v>0</c:v>
                </c:pt>
                <c:pt idx="25">
                  <c:v>24</c:v>
                </c:pt>
                <c:pt idx="26">
                  <c:v>11</c:v>
                </c:pt>
                <c:pt idx="27">
                  <c:v>7</c:v>
                </c:pt>
                <c:pt idx="28">
                  <c:v>4</c:v>
                </c:pt>
                <c:pt idx="29">
                  <c:v>3</c:v>
                </c:pt>
                <c:pt idx="30">
                  <c:v>7</c:v>
                </c:pt>
                <c:pt idx="31">
                  <c:v>5</c:v>
                </c:pt>
                <c:pt idx="32">
                  <c:v>2</c:v>
                </c:pt>
                <c:pt idx="33">
                  <c:v>5</c:v>
                </c:pt>
                <c:pt idx="34">
                  <c:v>1</c:v>
                </c:pt>
                <c:pt idx="35">
                  <c:v>-1</c:v>
                </c:pt>
                <c:pt idx="36">
                  <c:v>2</c:v>
                </c:pt>
                <c:pt idx="37">
                  <c:v>0</c:v>
                </c:pt>
                <c:pt idx="38">
                  <c:v>2</c:v>
                </c:pt>
                <c:pt idx="39">
                  <c:v>1</c:v>
                </c:pt>
                <c:pt idx="40">
                  <c:v>0</c:v>
                </c:pt>
                <c:pt idx="41">
                  <c:v>2</c:v>
                </c:pt>
                <c:pt idx="42">
                  <c:v>1</c:v>
                </c:pt>
                <c:pt idx="43">
                  <c:v>1</c:v>
                </c:pt>
                <c:pt idx="44">
                  <c:v>0</c:v>
                </c:pt>
                <c:pt idx="45">
                  <c:v>0</c:v>
                </c:pt>
                <c:pt idx="46">
                  <c:v>4</c:v>
                </c:pt>
                <c:pt idx="47">
                  <c:v>0</c:v>
                </c:pt>
                <c:pt idx="48">
                  <c:v>0</c:v>
                </c:pt>
                <c:pt idx="49">
                  <c:v>2</c:v>
                </c:pt>
                <c:pt idx="50">
                  <c:v>0</c:v>
                </c:pt>
                <c:pt idx="51">
                  <c:v>0</c:v>
                </c:pt>
                <c:pt idx="52">
                  <c:v>1</c:v>
                </c:pt>
                <c:pt idx="53">
                  <c:v>1</c:v>
                </c:pt>
                <c:pt idx="54">
                  <c:v>0</c:v>
                </c:pt>
                <c:pt idx="55">
                  <c:v>2</c:v>
                </c:pt>
                <c:pt idx="56">
                  <c:v>0</c:v>
                </c:pt>
                <c:pt idx="57">
                  <c:v>1</c:v>
                </c:pt>
                <c:pt idx="58">
                  <c:v>0</c:v>
                </c:pt>
                <c:pt idx="59">
                  <c:v>0</c:v>
                </c:pt>
                <c:pt idx="60">
                  <c:v>1</c:v>
                </c:pt>
                <c:pt idx="61">
                  <c:v>-1</c:v>
                </c:pt>
                <c:pt idx="62">
                  <c:v>0</c:v>
                </c:pt>
                <c:pt idx="63">
                  <c:v>2</c:v>
                </c:pt>
                <c:pt idx="64">
                  <c:v>0</c:v>
                </c:pt>
                <c:pt idx="65">
                  <c:v>0</c:v>
                </c:pt>
                <c:pt idx="66">
                  <c:v>-1</c:v>
                </c:pt>
                <c:pt idx="67">
                  <c:v>0</c:v>
                </c:pt>
                <c:pt idx="68">
                  <c:v>1</c:v>
                </c:pt>
                <c:pt idx="69">
                  <c:v>1</c:v>
                </c:pt>
                <c:pt idx="70">
                  <c:v>-1</c:v>
                </c:pt>
                <c:pt idx="71">
                  <c:v>1</c:v>
                </c:pt>
                <c:pt idx="72">
                  <c:v>0</c:v>
                </c:pt>
                <c:pt idx="73">
                  <c:v>0</c:v>
                </c:pt>
                <c:pt idx="74">
                  <c:v>-1</c:v>
                </c:pt>
                <c:pt idx="75">
                  <c:v>0</c:v>
                </c:pt>
                <c:pt idx="76">
                  <c:v>0</c:v>
                </c:pt>
                <c:pt idx="77">
                  <c:v>2</c:v>
                </c:pt>
                <c:pt idx="78">
                  <c:v>0</c:v>
                </c:pt>
                <c:pt idx="79">
                  <c:v>0</c:v>
                </c:pt>
                <c:pt idx="80">
                  <c:v>1</c:v>
                </c:pt>
                <c:pt idx="81">
                  <c:v>0</c:v>
                </c:pt>
                <c:pt idx="82">
                  <c:v>1</c:v>
                </c:pt>
                <c:pt idx="83">
                  <c:v>0</c:v>
                </c:pt>
                <c:pt idx="84">
                  <c:v>1</c:v>
                </c:pt>
                <c:pt idx="85">
                  <c:v>0</c:v>
                </c:pt>
                <c:pt idx="86">
                  <c:v>0</c:v>
                </c:pt>
                <c:pt idx="87">
                  <c:v>0</c:v>
                </c:pt>
                <c:pt idx="88">
                  <c:v>0</c:v>
                </c:pt>
                <c:pt idx="89">
                  <c:v>0</c:v>
                </c:pt>
              </c:numCache>
            </c:numRef>
          </c:val>
          <c:smooth val="0"/>
          <c:extLst>
            <c:ext xmlns:c16="http://schemas.microsoft.com/office/drawing/2014/chart" uri="{C3380CC4-5D6E-409C-BE32-E72D297353CC}">
              <c16:uniqueId val="{00000003-DEFD-45E4-935C-02ADC1FE4773}"/>
            </c:ext>
          </c:extLst>
        </c:ser>
        <c:dLbls>
          <c:showLegendKey val="0"/>
          <c:showVal val="0"/>
          <c:showCatName val="0"/>
          <c:showSerName val="0"/>
          <c:showPercent val="0"/>
          <c:showBubbleSize val="0"/>
        </c:dLbls>
        <c:marker val="1"/>
        <c:smooth val="0"/>
        <c:axId val="1328970767"/>
        <c:axId val="1328971727"/>
      </c:lineChart>
      <c:catAx>
        <c:axId val="1328970767"/>
        <c:scaling>
          <c:orientation val="minMax"/>
        </c:scaling>
        <c:delete val="0"/>
        <c:axPos val="b"/>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8971727"/>
        <c:crosses val="autoZero"/>
        <c:auto val="1"/>
        <c:lblAlgn val="ctr"/>
        <c:lblOffset val="100"/>
        <c:noMultiLvlLbl val="0"/>
      </c:catAx>
      <c:valAx>
        <c:axId val="13289717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89707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[Onnicreative_followers_LinkedIn.xlsx]Distribution by location!PivotTable5</c:name>
    <c:fmtId val="2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Followers Distribution by Location </a:t>
            </a:r>
          </a:p>
        </c:rich>
      </c:tx>
      <c:layout>
        <c:manualLayout>
          <c:xMode val="edge"/>
          <c:yMode val="edge"/>
          <c:x val="0.36174908154520335"/>
          <c:y val="1.830788271211731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'Distribution by location'!$B$4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'Distribution by location'!$A$5:$A$15</c:f>
              <c:strCache>
                <c:ptCount val="10"/>
                <c:pt idx="0">
                  <c:v>Los Angeles Metropolitan Area</c:v>
                </c:pt>
                <c:pt idx="1">
                  <c:v>New York City Metropolitan Area</c:v>
                </c:pt>
                <c:pt idx="2">
                  <c:v>San Francisco Bay Area</c:v>
                </c:pt>
                <c:pt idx="3">
                  <c:v>Dallas-Fort Worth Metroplex</c:v>
                </c:pt>
                <c:pt idx="4">
                  <c:v>Greater Boston</c:v>
                </c:pt>
                <c:pt idx="5">
                  <c:v>Washington DC-Baltimore Area</c:v>
                </c:pt>
                <c:pt idx="6">
                  <c:v>Greater Chicago Area</c:v>
                </c:pt>
                <c:pt idx="7">
                  <c:v>San Diego Metropolitan Area</c:v>
                </c:pt>
                <c:pt idx="8">
                  <c:v>Greater Phoenix Area</c:v>
                </c:pt>
                <c:pt idx="9">
                  <c:v>Atlanta Metropolitan Area</c:v>
                </c:pt>
              </c:strCache>
            </c:strRef>
          </c:cat>
          <c:val>
            <c:numRef>
              <c:f>'Distribution by location'!$B$5:$B$15</c:f>
              <c:numCache>
                <c:formatCode>General</c:formatCode>
                <c:ptCount val="10"/>
                <c:pt idx="0">
                  <c:v>488</c:v>
                </c:pt>
                <c:pt idx="1">
                  <c:v>91</c:v>
                </c:pt>
                <c:pt idx="2">
                  <c:v>73</c:v>
                </c:pt>
                <c:pt idx="3">
                  <c:v>44</c:v>
                </c:pt>
                <c:pt idx="4">
                  <c:v>40</c:v>
                </c:pt>
                <c:pt idx="5">
                  <c:v>39</c:v>
                </c:pt>
                <c:pt idx="6">
                  <c:v>36</c:v>
                </c:pt>
                <c:pt idx="7">
                  <c:v>17</c:v>
                </c:pt>
                <c:pt idx="8">
                  <c:v>16</c:v>
                </c:pt>
                <c:pt idx="9">
                  <c:v>15</c:v>
                </c:pt>
              </c:numCache>
            </c:numRef>
          </c:val>
          <c:extLst>
            <c:ext xmlns:c16="http://schemas.microsoft.com/office/drawing/2014/chart" uri="{C3380CC4-5D6E-409C-BE32-E72D297353CC}">
              <c16:uniqueId val="{00000000-3CCF-410B-99BA-92B763F73CEB}"/>
            </c:ext>
          </c:extLst>
        </c:ser>
        <c:dLbls>
          <c:showLegendKey val="0"/>
          <c:showVal val="0"/>
          <c:showCatName val="0"/>
          <c:showSerName val="0"/>
          <c:showPercent val="0"/>
          <c:showBubbleSize val="0"/>
        </c:dLbls>
        <c:gapWidth val="219"/>
        <c:overlap val="-27"/>
        <c:axId val="298943648"/>
        <c:axId val="298946528"/>
      </c:barChart>
      <c:catAx>
        <c:axId val="298943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8946528"/>
        <c:crosses val="autoZero"/>
        <c:auto val="1"/>
        <c:lblAlgn val="ctr"/>
        <c:lblOffset val="100"/>
        <c:noMultiLvlLbl val="0"/>
      </c:catAx>
      <c:valAx>
        <c:axId val="298946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8943648"/>
        <c:crosses val="autoZero"/>
        <c:crossBetween val="between"/>
        <c:majorUnit val="15"/>
        <c:minorUnit val="10"/>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[Onnicreative_followers_LinkedIn.xlsx]Job function!PivotTable1</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Followers by Job Function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'Job function'!$B$28</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'Job function'!$A$29:$A$40</c:f>
              <c:strCache>
                <c:ptCount val="11"/>
                <c:pt idx="0">
                  <c:v>Marketing</c:v>
                </c:pt>
                <c:pt idx="1">
                  <c:v>Arts and Design</c:v>
                </c:pt>
                <c:pt idx="2">
                  <c:v>Operations</c:v>
                </c:pt>
                <c:pt idx="3">
                  <c:v>Business Development</c:v>
                </c:pt>
                <c:pt idx="4">
                  <c:v>Media and Communication</c:v>
                </c:pt>
                <c:pt idx="5">
                  <c:v>Education</c:v>
                </c:pt>
                <c:pt idx="6">
                  <c:v>Sales</c:v>
                </c:pt>
                <c:pt idx="7">
                  <c:v>Engineering</c:v>
                </c:pt>
                <c:pt idx="8">
                  <c:v>Information Technology</c:v>
                </c:pt>
                <c:pt idx="9">
                  <c:v>Administrative</c:v>
                </c:pt>
                <c:pt idx="10">
                  <c:v>Research</c:v>
                </c:pt>
              </c:strCache>
            </c:strRef>
          </c:cat>
          <c:val>
            <c:numRef>
              <c:f>'Job function'!$B$29:$B$40</c:f>
              <c:numCache>
                <c:formatCode>General</c:formatCode>
                <c:ptCount val="11"/>
                <c:pt idx="0">
                  <c:v>144</c:v>
                </c:pt>
                <c:pt idx="1">
                  <c:v>132</c:v>
                </c:pt>
                <c:pt idx="2">
                  <c:v>104</c:v>
                </c:pt>
                <c:pt idx="3">
                  <c:v>93</c:v>
                </c:pt>
                <c:pt idx="4">
                  <c:v>75</c:v>
                </c:pt>
                <c:pt idx="5">
                  <c:v>71</c:v>
                </c:pt>
                <c:pt idx="6">
                  <c:v>52</c:v>
                </c:pt>
                <c:pt idx="7">
                  <c:v>45</c:v>
                </c:pt>
                <c:pt idx="8">
                  <c:v>45</c:v>
                </c:pt>
                <c:pt idx="9">
                  <c:v>36</c:v>
                </c:pt>
                <c:pt idx="10">
                  <c:v>36</c:v>
                </c:pt>
              </c:numCache>
            </c:numRef>
          </c:val>
          <c:extLst>
            <c:ext xmlns:c16="http://schemas.microsoft.com/office/drawing/2014/chart" uri="{C3380CC4-5D6E-409C-BE32-E72D297353CC}">
              <c16:uniqueId val="{00000000-152D-4A7F-B8F5-177C0B00D936}"/>
            </c:ext>
          </c:extLst>
        </c:ser>
        <c:dLbls>
          <c:showLegendKey val="0"/>
          <c:showVal val="0"/>
          <c:showCatName val="0"/>
          <c:showSerName val="0"/>
          <c:showPercent val="0"/>
          <c:showBubbleSize val="0"/>
        </c:dLbls>
        <c:gapWidth val="219"/>
        <c:overlap val="-27"/>
        <c:axId val="1466914880"/>
        <c:axId val="1466918720"/>
      </c:barChart>
      <c:catAx>
        <c:axId val="1466914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6918720"/>
        <c:crosses val="autoZero"/>
        <c:auto val="1"/>
        <c:lblAlgn val="ctr"/>
        <c:lblOffset val="100"/>
        <c:noMultiLvlLbl val="0"/>
      </c:catAx>
      <c:valAx>
        <c:axId val="1466918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69148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[Onnicreative_followers_LinkedIn.xlsx]Seniority!PivotTable2</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Followers</a:t>
            </a:r>
            <a:r>
              <a:rPr lang="en-US" baseline="0" dirty="0"/>
              <a:t> by Seniority</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Seniority!$B$14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Seniority!$A$15:$A$23</c:f>
              <c:strCache>
                <c:ptCount val="8"/>
                <c:pt idx="0">
                  <c:v>Entry</c:v>
                </c:pt>
                <c:pt idx="1">
                  <c:v>Senior</c:v>
                </c:pt>
                <c:pt idx="2">
                  <c:v>Training</c:v>
                </c:pt>
                <c:pt idx="3">
                  <c:v>Director</c:v>
                </c:pt>
                <c:pt idx="4">
                  <c:v>Manager</c:v>
                </c:pt>
                <c:pt idx="5">
                  <c:v>VP</c:v>
                </c:pt>
                <c:pt idx="6">
                  <c:v>CXO</c:v>
                </c:pt>
                <c:pt idx="7">
                  <c:v>Owner</c:v>
                </c:pt>
              </c:strCache>
            </c:strRef>
          </c:cat>
          <c:val>
            <c:numRef>
              <c:f>Seniority!$B$15:$B$23</c:f>
              <c:numCache>
                <c:formatCode>General</c:formatCode>
                <c:ptCount val="8"/>
                <c:pt idx="0">
                  <c:v>448</c:v>
                </c:pt>
                <c:pt idx="1">
                  <c:v>184</c:v>
                </c:pt>
                <c:pt idx="2">
                  <c:v>148</c:v>
                </c:pt>
                <c:pt idx="3">
                  <c:v>71</c:v>
                </c:pt>
                <c:pt idx="4">
                  <c:v>50</c:v>
                </c:pt>
                <c:pt idx="5">
                  <c:v>35</c:v>
                </c:pt>
                <c:pt idx="6">
                  <c:v>27</c:v>
                </c:pt>
                <c:pt idx="7">
                  <c:v>18</c:v>
                </c:pt>
              </c:numCache>
            </c:numRef>
          </c:val>
          <c:extLst>
            <c:ext xmlns:c16="http://schemas.microsoft.com/office/drawing/2014/chart" uri="{C3380CC4-5D6E-409C-BE32-E72D297353CC}">
              <c16:uniqueId val="{00000000-B158-4637-9A10-E7F9FE9573CA}"/>
            </c:ext>
          </c:extLst>
        </c:ser>
        <c:dLbls>
          <c:showLegendKey val="0"/>
          <c:showVal val="0"/>
          <c:showCatName val="0"/>
          <c:showSerName val="0"/>
          <c:showPercent val="0"/>
          <c:showBubbleSize val="0"/>
        </c:dLbls>
        <c:gapWidth val="219"/>
        <c:overlap val="-27"/>
        <c:axId val="1466924000"/>
        <c:axId val="1466940800"/>
      </c:barChart>
      <c:catAx>
        <c:axId val="14669240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6940800"/>
        <c:crosses val="autoZero"/>
        <c:auto val="1"/>
        <c:lblAlgn val="ctr"/>
        <c:lblOffset val="100"/>
        <c:noMultiLvlLbl val="0"/>
      </c:catAx>
      <c:valAx>
        <c:axId val="14669408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69240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[Onnicreative_followers_LinkedIn.xlsx]Company size!PivotTable3</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Followers by Company Size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'Company size'!$B$14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'Company size'!$A$15:$A$24</c:f>
              <c:strCache>
                <c:ptCount val="9"/>
                <c:pt idx="0">
                  <c:v>11-50</c:v>
                </c:pt>
                <c:pt idx="1">
                  <c:v>2-10</c:v>
                </c:pt>
                <c:pt idx="2">
                  <c:v>10001+</c:v>
                </c:pt>
                <c:pt idx="3">
                  <c:v>51-200</c:v>
                </c:pt>
                <c:pt idx="4">
                  <c:v>1001-5000</c:v>
                </c:pt>
                <c:pt idx="5">
                  <c:v>201-500</c:v>
                </c:pt>
                <c:pt idx="6">
                  <c:v>501-1000</c:v>
                </c:pt>
                <c:pt idx="7">
                  <c:v>5001-10000</c:v>
                </c:pt>
                <c:pt idx="8">
                  <c:v>1</c:v>
                </c:pt>
              </c:strCache>
            </c:strRef>
          </c:cat>
          <c:val>
            <c:numRef>
              <c:f>'Company size'!$B$15:$B$24</c:f>
              <c:numCache>
                <c:formatCode>General</c:formatCode>
                <c:ptCount val="9"/>
                <c:pt idx="0">
                  <c:v>185</c:v>
                </c:pt>
                <c:pt idx="1">
                  <c:v>157</c:v>
                </c:pt>
                <c:pt idx="2">
                  <c:v>143</c:v>
                </c:pt>
                <c:pt idx="3">
                  <c:v>117</c:v>
                </c:pt>
                <c:pt idx="4">
                  <c:v>96</c:v>
                </c:pt>
                <c:pt idx="5">
                  <c:v>73</c:v>
                </c:pt>
                <c:pt idx="6">
                  <c:v>62</c:v>
                </c:pt>
                <c:pt idx="7">
                  <c:v>42</c:v>
                </c:pt>
                <c:pt idx="8">
                  <c:v>14</c:v>
                </c:pt>
              </c:numCache>
            </c:numRef>
          </c:val>
          <c:extLst>
            <c:ext xmlns:c16="http://schemas.microsoft.com/office/drawing/2014/chart" uri="{C3380CC4-5D6E-409C-BE32-E72D297353CC}">
              <c16:uniqueId val="{00000000-192D-43A3-AB2B-3F4854413D17}"/>
            </c:ext>
          </c:extLst>
        </c:ser>
        <c:dLbls>
          <c:showLegendKey val="0"/>
          <c:showVal val="0"/>
          <c:showCatName val="0"/>
          <c:showSerName val="0"/>
          <c:showPercent val="0"/>
          <c:showBubbleSize val="0"/>
        </c:dLbls>
        <c:gapWidth val="219"/>
        <c:overlap val="-27"/>
        <c:axId val="2108317808"/>
        <c:axId val="2108330768"/>
      </c:barChart>
      <c:catAx>
        <c:axId val="2108317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8330768"/>
        <c:crosses val="autoZero"/>
        <c:auto val="1"/>
        <c:lblAlgn val="ctr"/>
        <c:lblOffset val="100"/>
        <c:noMultiLvlLbl val="0"/>
      </c:catAx>
      <c:valAx>
        <c:axId val="2108330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83178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colors4.xml><?xml version="1.0" encoding="utf-8"?>
<cs:colorStyle xmlns:cs="http://schemas.microsoft.com/office/drawing/2012/chartStyle" xmlns:a="http://schemas.openxmlformats.org/drawingml/2006/main" meth="withinLinearReversed" id="26">
  <a:schemeClr val="accent6"/>
</cs:colorStyle>
</file>

<file path=ppt/charts/colors5.xml><?xml version="1.0" encoding="utf-8"?>
<cs:colorStyle xmlns:cs="http://schemas.microsoft.com/office/drawing/2012/chartStyle" xmlns:a="http://schemas.openxmlformats.org/drawingml/2006/main" meth="withinLinearReversed" id="21">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8D4519-6BDD-46AC-8095-B0BBFC598F18}"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5C47E1BE-0309-40FA-ACBC-703A2E729106}">
      <dgm:prSet/>
      <dgm:spPr/>
      <dgm:t>
        <a:bodyPr/>
        <a:lstStyle/>
        <a:p>
          <a:r>
            <a:rPr lang="en-US"/>
            <a:t>Maximum followers are from LA, so our page visitors are indeed highest from the LA location</a:t>
          </a:r>
        </a:p>
      </dgm:t>
    </dgm:pt>
    <dgm:pt modelId="{916E1E35-95DA-46C5-873E-75B39EA39890}" type="parTrans" cxnId="{65A49B29-33EE-45A9-9D37-1881C5317E82}">
      <dgm:prSet/>
      <dgm:spPr/>
      <dgm:t>
        <a:bodyPr/>
        <a:lstStyle/>
        <a:p>
          <a:endParaRPr lang="en-US"/>
        </a:p>
      </dgm:t>
    </dgm:pt>
    <dgm:pt modelId="{2C6A6D3B-F0BB-48F9-9E7F-99BED0BD747C}" type="sibTrans" cxnId="{65A49B29-33EE-45A9-9D37-1881C5317E82}">
      <dgm:prSet/>
      <dgm:spPr/>
      <dgm:t>
        <a:bodyPr/>
        <a:lstStyle/>
        <a:p>
          <a:endParaRPr lang="en-US"/>
        </a:p>
      </dgm:t>
    </dgm:pt>
    <dgm:pt modelId="{B877E65D-759B-48E3-B669-60004D755089}">
      <dgm:prSet/>
      <dgm:spPr/>
      <dgm:t>
        <a:bodyPr/>
        <a:lstStyle/>
        <a:p>
          <a:r>
            <a:rPr lang="en-US"/>
            <a:t>We need to diversify our followers to increase our brand visibility and reach by posting different content based on the various conferences or events attended in various states by also tagging the specific event name</a:t>
          </a:r>
        </a:p>
      </dgm:t>
    </dgm:pt>
    <dgm:pt modelId="{C09AFB80-FA66-4674-86B0-C19D682263D1}" type="parTrans" cxnId="{D9507BC8-3621-47C7-B92D-5137A9E0BB48}">
      <dgm:prSet/>
      <dgm:spPr/>
      <dgm:t>
        <a:bodyPr/>
        <a:lstStyle/>
        <a:p>
          <a:endParaRPr lang="en-US"/>
        </a:p>
      </dgm:t>
    </dgm:pt>
    <dgm:pt modelId="{2BB12FED-270B-4F52-BB78-9AFF8B2E55DB}" type="sibTrans" cxnId="{D9507BC8-3621-47C7-B92D-5137A9E0BB48}">
      <dgm:prSet/>
      <dgm:spPr/>
      <dgm:t>
        <a:bodyPr/>
        <a:lstStyle/>
        <a:p>
          <a:endParaRPr lang="en-US"/>
        </a:p>
      </dgm:t>
    </dgm:pt>
    <dgm:pt modelId="{E1ED83F4-56EB-4DEB-AB46-FE9AFD205C23}">
      <dgm:prSet/>
      <dgm:spPr/>
      <dgm:t>
        <a:bodyPr/>
        <a:lstStyle/>
        <a:p>
          <a:r>
            <a:rPr lang="en-US" dirty="0"/>
            <a:t>Total followers increased in the month of July and August (need to check the relevant post on these dates, which led to a boost in our total followers</a:t>
          </a:r>
        </a:p>
      </dgm:t>
    </dgm:pt>
    <dgm:pt modelId="{36F72783-8014-4BBB-962E-1CDE63F1C1FA}" type="parTrans" cxnId="{C32AB4C8-9BBC-49CC-A63B-D8314F9ADB1C}">
      <dgm:prSet/>
      <dgm:spPr/>
      <dgm:t>
        <a:bodyPr/>
        <a:lstStyle/>
        <a:p>
          <a:endParaRPr lang="en-US"/>
        </a:p>
      </dgm:t>
    </dgm:pt>
    <dgm:pt modelId="{DF792DEB-7A8F-44E6-BC86-59E578F3A911}" type="sibTrans" cxnId="{C32AB4C8-9BBC-49CC-A63B-D8314F9ADB1C}">
      <dgm:prSet/>
      <dgm:spPr/>
      <dgm:t>
        <a:bodyPr/>
        <a:lstStyle/>
        <a:p>
          <a:endParaRPr lang="en-US"/>
        </a:p>
      </dgm:t>
    </dgm:pt>
    <dgm:pt modelId="{C6AED6CF-BFA3-4B3C-8117-401916B2A5F5}" type="pres">
      <dgm:prSet presAssocID="{988D4519-6BDD-46AC-8095-B0BBFC598F18}" presName="outerComposite" presStyleCnt="0">
        <dgm:presLayoutVars>
          <dgm:chMax val="5"/>
          <dgm:dir/>
          <dgm:resizeHandles val="exact"/>
        </dgm:presLayoutVars>
      </dgm:prSet>
      <dgm:spPr/>
    </dgm:pt>
    <dgm:pt modelId="{2F00E4E9-8789-4A95-83FF-F069E596A590}" type="pres">
      <dgm:prSet presAssocID="{988D4519-6BDD-46AC-8095-B0BBFC598F18}" presName="dummyMaxCanvas" presStyleCnt="0">
        <dgm:presLayoutVars/>
      </dgm:prSet>
      <dgm:spPr/>
    </dgm:pt>
    <dgm:pt modelId="{94604232-21A4-4C19-8210-38C9D7B9EA00}" type="pres">
      <dgm:prSet presAssocID="{988D4519-6BDD-46AC-8095-B0BBFC598F18}" presName="ThreeNodes_1" presStyleLbl="node1" presStyleIdx="0" presStyleCnt="3">
        <dgm:presLayoutVars>
          <dgm:bulletEnabled val="1"/>
        </dgm:presLayoutVars>
      </dgm:prSet>
      <dgm:spPr/>
    </dgm:pt>
    <dgm:pt modelId="{8CF3B94A-A36B-429E-8F08-B3445B1F117F}" type="pres">
      <dgm:prSet presAssocID="{988D4519-6BDD-46AC-8095-B0BBFC598F18}" presName="ThreeNodes_2" presStyleLbl="node1" presStyleIdx="1" presStyleCnt="3">
        <dgm:presLayoutVars>
          <dgm:bulletEnabled val="1"/>
        </dgm:presLayoutVars>
      </dgm:prSet>
      <dgm:spPr/>
    </dgm:pt>
    <dgm:pt modelId="{9DDA4B97-7B77-40B9-B45E-9A8F2BF42B26}" type="pres">
      <dgm:prSet presAssocID="{988D4519-6BDD-46AC-8095-B0BBFC598F18}" presName="ThreeNodes_3" presStyleLbl="node1" presStyleIdx="2" presStyleCnt="3">
        <dgm:presLayoutVars>
          <dgm:bulletEnabled val="1"/>
        </dgm:presLayoutVars>
      </dgm:prSet>
      <dgm:spPr/>
    </dgm:pt>
    <dgm:pt modelId="{E01DC398-47F9-4F88-9482-B12AA1D54089}" type="pres">
      <dgm:prSet presAssocID="{988D4519-6BDD-46AC-8095-B0BBFC598F18}" presName="ThreeConn_1-2" presStyleLbl="fgAccFollowNode1" presStyleIdx="0" presStyleCnt="2">
        <dgm:presLayoutVars>
          <dgm:bulletEnabled val="1"/>
        </dgm:presLayoutVars>
      </dgm:prSet>
      <dgm:spPr/>
    </dgm:pt>
    <dgm:pt modelId="{15EEF0E8-FE97-4F4B-B0B1-346D5D854210}" type="pres">
      <dgm:prSet presAssocID="{988D4519-6BDD-46AC-8095-B0BBFC598F18}" presName="ThreeConn_2-3" presStyleLbl="fgAccFollowNode1" presStyleIdx="1" presStyleCnt="2">
        <dgm:presLayoutVars>
          <dgm:bulletEnabled val="1"/>
        </dgm:presLayoutVars>
      </dgm:prSet>
      <dgm:spPr/>
    </dgm:pt>
    <dgm:pt modelId="{2DF6D45A-EBB7-4426-B7C1-E5CFCC4D2FAD}" type="pres">
      <dgm:prSet presAssocID="{988D4519-6BDD-46AC-8095-B0BBFC598F18}" presName="ThreeNodes_1_text" presStyleLbl="node1" presStyleIdx="2" presStyleCnt="3">
        <dgm:presLayoutVars>
          <dgm:bulletEnabled val="1"/>
        </dgm:presLayoutVars>
      </dgm:prSet>
      <dgm:spPr/>
    </dgm:pt>
    <dgm:pt modelId="{2F458E8B-46A0-44C4-9D3F-F4BC6E1BE7E0}" type="pres">
      <dgm:prSet presAssocID="{988D4519-6BDD-46AC-8095-B0BBFC598F18}" presName="ThreeNodes_2_text" presStyleLbl="node1" presStyleIdx="2" presStyleCnt="3">
        <dgm:presLayoutVars>
          <dgm:bulletEnabled val="1"/>
        </dgm:presLayoutVars>
      </dgm:prSet>
      <dgm:spPr/>
    </dgm:pt>
    <dgm:pt modelId="{C3EED647-5A6D-45AE-8741-FE15D38C917D}" type="pres">
      <dgm:prSet presAssocID="{988D4519-6BDD-46AC-8095-B0BBFC598F18}" presName="ThreeNodes_3_text" presStyleLbl="node1" presStyleIdx="2" presStyleCnt="3">
        <dgm:presLayoutVars>
          <dgm:bulletEnabled val="1"/>
        </dgm:presLayoutVars>
      </dgm:prSet>
      <dgm:spPr/>
    </dgm:pt>
  </dgm:ptLst>
  <dgm:cxnLst>
    <dgm:cxn modelId="{65A49B29-33EE-45A9-9D37-1881C5317E82}" srcId="{988D4519-6BDD-46AC-8095-B0BBFC598F18}" destId="{5C47E1BE-0309-40FA-ACBC-703A2E729106}" srcOrd="0" destOrd="0" parTransId="{916E1E35-95DA-46C5-873E-75B39EA39890}" sibTransId="{2C6A6D3B-F0BB-48F9-9E7F-99BED0BD747C}"/>
    <dgm:cxn modelId="{58E2AE3C-E367-428F-BE26-5C77AE36DCFF}" type="presOf" srcId="{988D4519-6BDD-46AC-8095-B0BBFC598F18}" destId="{C6AED6CF-BFA3-4B3C-8117-401916B2A5F5}" srcOrd="0" destOrd="0" presId="urn:microsoft.com/office/officeart/2005/8/layout/vProcess5"/>
    <dgm:cxn modelId="{E91FB15C-F7E7-44CA-9821-FA346E3F4C48}" type="presOf" srcId="{2C6A6D3B-F0BB-48F9-9E7F-99BED0BD747C}" destId="{E01DC398-47F9-4F88-9482-B12AA1D54089}" srcOrd="0" destOrd="0" presId="urn:microsoft.com/office/officeart/2005/8/layout/vProcess5"/>
    <dgm:cxn modelId="{5108DC6C-5535-4DD4-AA5E-C1F80673CFB4}" type="presOf" srcId="{E1ED83F4-56EB-4DEB-AB46-FE9AFD205C23}" destId="{9DDA4B97-7B77-40B9-B45E-9A8F2BF42B26}" srcOrd="0" destOrd="0" presId="urn:microsoft.com/office/officeart/2005/8/layout/vProcess5"/>
    <dgm:cxn modelId="{A6A45E90-70CC-49C6-8464-8EC8EFBF5597}" type="presOf" srcId="{5C47E1BE-0309-40FA-ACBC-703A2E729106}" destId="{94604232-21A4-4C19-8210-38C9D7B9EA00}" srcOrd="0" destOrd="0" presId="urn:microsoft.com/office/officeart/2005/8/layout/vProcess5"/>
    <dgm:cxn modelId="{3D55F3B6-D8CA-44A2-BCB2-921C767A673A}" type="presOf" srcId="{5C47E1BE-0309-40FA-ACBC-703A2E729106}" destId="{2DF6D45A-EBB7-4426-B7C1-E5CFCC4D2FAD}" srcOrd="1" destOrd="0" presId="urn:microsoft.com/office/officeart/2005/8/layout/vProcess5"/>
    <dgm:cxn modelId="{9BBD93C3-BB1A-4E2E-BF3B-5308AAC60A3E}" type="presOf" srcId="{E1ED83F4-56EB-4DEB-AB46-FE9AFD205C23}" destId="{C3EED647-5A6D-45AE-8741-FE15D38C917D}" srcOrd="1" destOrd="0" presId="urn:microsoft.com/office/officeart/2005/8/layout/vProcess5"/>
    <dgm:cxn modelId="{D9507BC8-3621-47C7-B92D-5137A9E0BB48}" srcId="{988D4519-6BDD-46AC-8095-B0BBFC598F18}" destId="{B877E65D-759B-48E3-B669-60004D755089}" srcOrd="1" destOrd="0" parTransId="{C09AFB80-FA66-4674-86B0-C19D682263D1}" sibTransId="{2BB12FED-270B-4F52-BB78-9AFF8B2E55DB}"/>
    <dgm:cxn modelId="{C32AB4C8-9BBC-49CC-A63B-D8314F9ADB1C}" srcId="{988D4519-6BDD-46AC-8095-B0BBFC598F18}" destId="{E1ED83F4-56EB-4DEB-AB46-FE9AFD205C23}" srcOrd="2" destOrd="0" parTransId="{36F72783-8014-4BBB-962E-1CDE63F1C1FA}" sibTransId="{DF792DEB-7A8F-44E6-BC86-59E578F3A911}"/>
    <dgm:cxn modelId="{908C6CE4-BDB5-43EF-BD10-3ED59E89CF97}" type="presOf" srcId="{B877E65D-759B-48E3-B669-60004D755089}" destId="{8CF3B94A-A36B-429E-8F08-B3445B1F117F}" srcOrd="0" destOrd="0" presId="urn:microsoft.com/office/officeart/2005/8/layout/vProcess5"/>
    <dgm:cxn modelId="{046EB0E4-0805-40F5-912A-EE84E2817B7B}" type="presOf" srcId="{B877E65D-759B-48E3-B669-60004D755089}" destId="{2F458E8B-46A0-44C4-9D3F-F4BC6E1BE7E0}" srcOrd="1" destOrd="0" presId="urn:microsoft.com/office/officeart/2005/8/layout/vProcess5"/>
    <dgm:cxn modelId="{B786A9FF-1F7B-4C0B-AC27-B12476F15153}" type="presOf" srcId="{2BB12FED-270B-4F52-BB78-9AFF8B2E55DB}" destId="{15EEF0E8-FE97-4F4B-B0B1-346D5D854210}" srcOrd="0" destOrd="0" presId="urn:microsoft.com/office/officeart/2005/8/layout/vProcess5"/>
    <dgm:cxn modelId="{B200978E-C472-4489-9651-4F1E6DA812E6}" type="presParOf" srcId="{C6AED6CF-BFA3-4B3C-8117-401916B2A5F5}" destId="{2F00E4E9-8789-4A95-83FF-F069E596A590}" srcOrd="0" destOrd="0" presId="urn:microsoft.com/office/officeart/2005/8/layout/vProcess5"/>
    <dgm:cxn modelId="{6A84D109-BEE7-42F1-A114-19E33577CA24}" type="presParOf" srcId="{C6AED6CF-BFA3-4B3C-8117-401916B2A5F5}" destId="{94604232-21A4-4C19-8210-38C9D7B9EA00}" srcOrd="1" destOrd="0" presId="urn:microsoft.com/office/officeart/2005/8/layout/vProcess5"/>
    <dgm:cxn modelId="{2AF22D81-915C-4198-A892-233611BE2339}" type="presParOf" srcId="{C6AED6CF-BFA3-4B3C-8117-401916B2A5F5}" destId="{8CF3B94A-A36B-429E-8F08-B3445B1F117F}" srcOrd="2" destOrd="0" presId="urn:microsoft.com/office/officeart/2005/8/layout/vProcess5"/>
    <dgm:cxn modelId="{EE531AA9-EC4D-44E0-B5EF-6A58535790AA}" type="presParOf" srcId="{C6AED6CF-BFA3-4B3C-8117-401916B2A5F5}" destId="{9DDA4B97-7B77-40B9-B45E-9A8F2BF42B26}" srcOrd="3" destOrd="0" presId="urn:microsoft.com/office/officeart/2005/8/layout/vProcess5"/>
    <dgm:cxn modelId="{8D8F7B7D-FE31-402D-8E9B-6BB1A342538E}" type="presParOf" srcId="{C6AED6CF-BFA3-4B3C-8117-401916B2A5F5}" destId="{E01DC398-47F9-4F88-9482-B12AA1D54089}" srcOrd="4" destOrd="0" presId="urn:microsoft.com/office/officeart/2005/8/layout/vProcess5"/>
    <dgm:cxn modelId="{E73E67FB-BE4F-4006-A42F-330D78952A58}" type="presParOf" srcId="{C6AED6CF-BFA3-4B3C-8117-401916B2A5F5}" destId="{15EEF0E8-FE97-4F4B-B0B1-346D5D854210}" srcOrd="5" destOrd="0" presId="urn:microsoft.com/office/officeart/2005/8/layout/vProcess5"/>
    <dgm:cxn modelId="{22CD79A5-85C9-41B5-A59B-9803F543008A}" type="presParOf" srcId="{C6AED6CF-BFA3-4B3C-8117-401916B2A5F5}" destId="{2DF6D45A-EBB7-4426-B7C1-E5CFCC4D2FAD}" srcOrd="6" destOrd="0" presId="urn:microsoft.com/office/officeart/2005/8/layout/vProcess5"/>
    <dgm:cxn modelId="{3F4F7BB2-0694-4000-A636-258D0D103FA6}" type="presParOf" srcId="{C6AED6CF-BFA3-4B3C-8117-401916B2A5F5}" destId="{2F458E8B-46A0-44C4-9D3F-F4BC6E1BE7E0}" srcOrd="7" destOrd="0" presId="urn:microsoft.com/office/officeart/2005/8/layout/vProcess5"/>
    <dgm:cxn modelId="{06FA0ADB-AA08-4333-B0E1-6027224B6C49}" type="presParOf" srcId="{C6AED6CF-BFA3-4B3C-8117-401916B2A5F5}" destId="{C3EED647-5A6D-45AE-8741-FE15D38C917D}"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604232-21A4-4C19-8210-38C9D7B9EA00}">
      <dsp:nvSpPr>
        <dsp:cNvPr id="0" name=""/>
        <dsp:cNvSpPr/>
      </dsp:nvSpPr>
      <dsp:spPr>
        <a:xfrm>
          <a:off x="0" y="0"/>
          <a:ext cx="8938260" cy="130540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Maximum followers are from LA, so our page visitors are indeed highest from the LA location</a:t>
          </a:r>
        </a:p>
      </dsp:txBody>
      <dsp:txXfrm>
        <a:off x="38234" y="38234"/>
        <a:ext cx="7529629" cy="1228933"/>
      </dsp:txXfrm>
    </dsp:sp>
    <dsp:sp modelId="{8CF3B94A-A36B-429E-8F08-B3445B1F117F}">
      <dsp:nvSpPr>
        <dsp:cNvPr id="0" name=""/>
        <dsp:cNvSpPr/>
      </dsp:nvSpPr>
      <dsp:spPr>
        <a:xfrm>
          <a:off x="788669" y="1522968"/>
          <a:ext cx="8938260" cy="1305401"/>
        </a:xfrm>
        <a:prstGeom prst="roundRect">
          <a:avLst>
            <a:gd name="adj" fmla="val 10000"/>
          </a:avLst>
        </a:prstGeom>
        <a:solidFill>
          <a:schemeClr val="accent5">
            <a:hueOff val="-4966938"/>
            <a:satOff val="19906"/>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We need to diversify our followers to increase our brand visibility and reach by posting different content based on the various conferences or events attended in various states by also tagging the specific event name</a:t>
          </a:r>
        </a:p>
      </dsp:txBody>
      <dsp:txXfrm>
        <a:off x="826903" y="1561202"/>
        <a:ext cx="7224611" cy="1228933"/>
      </dsp:txXfrm>
    </dsp:sp>
    <dsp:sp modelId="{9DDA4B97-7B77-40B9-B45E-9A8F2BF42B26}">
      <dsp:nvSpPr>
        <dsp:cNvPr id="0" name=""/>
        <dsp:cNvSpPr/>
      </dsp:nvSpPr>
      <dsp:spPr>
        <a:xfrm>
          <a:off x="1577339" y="3045936"/>
          <a:ext cx="8938260" cy="1305401"/>
        </a:xfrm>
        <a:prstGeom prst="roundRect">
          <a:avLst>
            <a:gd name="adj" fmla="val 10000"/>
          </a:avLst>
        </a:prstGeom>
        <a:solidFill>
          <a:schemeClr val="accent5">
            <a:hueOff val="-9933876"/>
            <a:satOff val="39811"/>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Total followers increased in the month of July and August (need to check the relevant post on these dates, which led to a boost in our total followers</a:t>
          </a:r>
        </a:p>
      </dsp:txBody>
      <dsp:txXfrm>
        <a:off x="1615573" y="3084170"/>
        <a:ext cx="7224611" cy="1228933"/>
      </dsp:txXfrm>
    </dsp:sp>
    <dsp:sp modelId="{E01DC398-47F9-4F88-9482-B12AA1D54089}">
      <dsp:nvSpPr>
        <dsp:cNvPr id="0" name=""/>
        <dsp:cNvSpPr/>
      </dsp:nvSpPr>
      <dsp:spPr>
        <a:xfrm>
          <a:off x="8089749" y="989929"/>
          <a:ext cx="848510" cy="848510"/>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15EEF0E8-FE97-4F4B-B0B1-346D5D854210}">
      <dsp:nvSpPr>
        <dsp:cNvPr id="0" name=""/>
        <dsp:cNvSpPr/>
      </dsp:nvSpPr>
      <dsp:spPr>
        <a:xfrm>
          <a:off x="8878419" y="2504195"/>
          <a:ext cx="848510" cy="848510"/>
        </a:xfrm>
        <a:prstGeom prst="downArrow">
          <a:avLst>
            <a:gd name="adj1" fmla="val 55000"/>
            <a:gd name="adj2" fmla="val 45000"/>
          </a:avLst>
        </a:prstGeom>
        <a:solidFill>
          <a:schemeClr val="accent5">
            <a:tint val="40000"/>
            <a:alpha val="90000"/>
            <a:hueOff val="-10740482"/>
            <a:satOff val="48253"/>
            <a:lumOff val="3317"/>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9740D5-5306-49DE-9209-3D5F57356F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961393F-FAC3-46E3-AD36-375F057872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B6E0256-A47A-423D-82C1-CE3E34096B80}" type="datetimeFigureOut">
              <a:rPr lang="en-US" smtClean="0"/>
              <a:t>10/20/2025</a:t>
            </a:fld>
            <a:endParaRPr lang="en-US" dirty="0"/>
          </a:p>
        </p:txBody>
      </p:sp>
      <p:sp>
        <p:nvSpPr>
          <p:cNvPr id="4" name="Footer Placeholder 3">
            <a:extLst>
              <a:ext uri="{FF2B5EF4-FFF2-40B4-BE49-F238E27FC236}">
                <a16:creationId xmlns:a16="http://schemas.microsoft.com/office/drawing/2014/main" id="{C964D07A-CF56-40BE-B465-D23BBEC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7C1B476-0925-4CB1-BBEE-53FE7333955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EDB1B2-ADC1-4F71-9C23-6817A9ACF74E}" type="slidenum">
              <a:rPr lang="en-US" smtClean="0"/>
              <a:t>‹#›</a:t>
            </a:fld>
            <a:endParaRPr lang="en-US" dirty="0"/>
          </a:p>
        </p:txBody>
      </p:sp>
    </p:spTree>
    <p:extLst>
      <p:ext uri="{BB962C8B-B14F-4D97-AF65-F5344CB8AC3E}">
        <p14:creationId xmlns:p14="http://schemas.microsoft.com/office/powerpoint/2010/main" val="576701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EC73C-14F1-40CA-B155-F93825D6FC6D}" type="datetimeFigureOut">
              <a:rPr lang="en-US" smtClean="0"/>
              <a:t>10/20/2025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83D36D-E563-48FB-803B-206164E9C242}" type="slidenum">
              <a:rPr lang="en-US" smtClean="0"/>
              <a:t>‹#›</a:t>
            </a:fld>
            <a:endParaRPr lang="en-US" dirty="0"/>
          </a:p>
        </p:txBody>
      </p:sp>
    </p:spTree>
    <p:extLst>
      <p:ext uri="{BB962C8B-B14F-4D97-AF65-F5344CB8AC3E}">
        <p14:creationId xmlns:p14="http://schemas.microsoft.com/office/powerpoint/2010/main" val="3696361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2F027-19B2-AF4D-A188-5215541C89D4}"/>
              </a:ext>
            </a:extLst>
          </p:cNvPr>
          <p:cNvPicPr>
            <a:picLocks noChangeAspect="1"/>
          </p:cNvPicPr>
          <p:nvPr userDrawn="1"/>
        </p:nvPicPr>
        <p:blipFill rotWithShape="1">
          <a:blip r:embed="rId2">
            <a:alphaModFix amt="85000"/>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sp>
        <p:nvSpPr>
          <p:cNvPr id="11" name="Rectangle: Rounded Corners 10">
            <a:extLst>
              <a:ext uri="{FF2B5EF4-FFF2-40B4-BE49-F238E27FC236}">
                <a16:creationId xmlns:a16="http://schemas.microsoft.com/office/drawing/2014/main" id="{934D9638-0FDB-4306-8A62-C84D2144907E}"/>
              </a:ext>
            </a:extLst>
          </p:cNvPr>
          <p:cNvSpPr/>
          <p:nvPr userDrawn="1"/>
        </p:nvSpPr>
        <p:spPr>
          <a:xfrm>
            <a:off x="838200" y="1119060"/>
            <a:ext cx="5058103" cy="3158650"/>
          </a:xfrm>
          <a:prstGeom prst="roundRect">
            <a:avLst>
              <a:gd name="adj" fmla="val 2692"/>
            </a:avLst>
          </a:prstGeom>
          <a:gradFill>
            <a:gsLst>
              <a:gs pos="0">
                <a:schemeClr val="bg2">
                  <a:lumMod val="85000"/>
                </a:schemeClr>
              </a:gs>
              <a:gs pos="100000">
                <a:schemeClr val="bg2"/>
              </a:gs>
            </a:gsLst>
            <a:lin ang="5400000" scaled="1"/>
          </a:gradFill>
          <a:ln>
            <a:noFill/>
          </a:ln>
          <a:effectLst>
            <a:glow rad="635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hart 8">
            <a:extLst>
              <a:ext uri="{FF2B5EF4-FFF2-40B4-BE49-F238E27FC236}">
                <a16:creationId xmlns:a16="http://schemas.microsoft.com/office/drawing/2014/main" id="{C7990E77-0451-46EF-A396-5B466F5E2510}"/>
              </a:ext>
            </a:extLst>
          </p:cNvPr>
          <p:cNvGraphicFramePr/>
          <p:nvPr userDrawn="1">
            <p:extLst>
              <p:ext uri="{D42A27DB-BD31-4B8C-83A1-F6EECF244321}">
                <p14:modId xmlns:p14="http://schemas.microsoft.com/office/powerpoint/2010/main" val="1622562795"/>
              </p:ext>
            </p:extLst>
          </p:nvPr>
        </p:nvGraphicFramePr>
        <p:xfrm>
          <a:off x="1128110" y="1119060"/>
          <a:ext cx="4463393" cy="2975596"/>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9">
            <a:extLst>
              <a:ext uri="{FF2B5EF4-FFF2-40B4-BE49-F238E27FC236}">
                <a16:creationId xmlns:a16="http://schemas.microsoft.com/office/drawing/2014/main" id="{8859BF36-FBB7-4FFA-B5BD-69EA5CDE8160}"/>
              </a:ext>
            </a:extLst>
          </p:cNvPr>
          <p:cNvSpPr>
            <a:spLocks noGrp="1"/>
          </p:cNvSpPr>
          <p:nvPr>
            <p:ph type="title"/>
          </p:nvPr>
        </p:nvSpPr>
        <p:spPr>
          <a:xfrm>
            <a:off x="838200" y="323084"/>
            <a:ext cx="10515600" cy="585770"/>
          </a:xfrm>
        </p:spPr>
        <p:txBody>
          <a:bodyPr>
            <a:noAutofit/>
          </a:bodyPr>
          <a:lstStyle>
            <a:lvl1pPr algn="ctr">
              <a:defRPr sz="4400">
                <a:solidFill>
                  <a:schemeClr val="bg1"/>
                </a:solidFill>
                <a:effectLst>
                  <a:glow rad="165100">
                    <a:schemeClr val="tx1">
                      <a:alpha val="30000"/>
                    </a:schemeClr>
                  </a:glow>
                </a:effectLst>
              </a:defRPr>
            </a:lvl1pPr>
          </a:lstStyle>
          <a:p>
            <a:r>
              <a:rPr lang="en-US" dirty="0"/>
              <a:t>Click to edit Master title style</a:t>
            </a:r>
          </a:p>
        </p:txBody>
      </p:sp>
      <p:sp>
        <p:nvSpPr>
          <p:cNvPr id="12" name="Rectangle: Rounded Corners 11">
            <a:extLst>
              <a:ext uri="{FF2B5EF4-FFF2-40B4-BE49-F238E27FC236}">
                <a16:creationId xmlns:a16="http://schemas.microsoft.com/office/drawing/2014/main" id="{0FF3EDCB-B646-48B3-BE6A-EA954DEB7ACE}"/>
              </a:ext>
            </a:extLst>
          </p:cNvPr>
          <p:cNvSpPr/>
          <p:nvPr userDrawn="1"/>
        </p:nvSpPr>
        <p:spPr>
          <a:xfrm>
            <a:off x="838201" y="4325882"/>
            <a:ext cx="2501462" cy="2230054"/>
          </a:xfrm>
          <a:prstGeom prst="roundRect">
            <a:avLst>
              <a:gd name="adj" fmla="val 2692"/>
            </a:avLst>
          </a:prstGeom>
          <a:gradFill>
            <a:gsLst>
              <a:gs pos="0">
                <a:schemeClr val="bg2">
                  <a:lumMod val="90000"/>
                </a:schemeClr>
              </a:gs>
              <a:gs pos="100000">
                <a:schemeClr val="bg2"/>
              </a:gs>
            </a:gsLst>
            <a:lin ang="5400000" scaled="1"/>
          </a:gradFill>
          <a:ln>
            <a:noFill/>
          </a:ln>
          <a:effectLst>
            <a:glow rad="635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94AA81C3-5144-4B51-96E7-FC21C502F778}"/>
              </a:ext>
            </a:extLst>
          </p:cNvPr>
          <p:cNvSpPr/>
          <p:nvPr userDrawn="1"/>
        </p:nvSpPr>
        <p:spPr>
          <a:xfrm>
            <a:off x="3394841" y="4325882"/>
            <a:ext cx="2501462" cy="2230054"/>
          </a:xfrm>
          <a:prstGeom prst="roundRect">
            <a:avLst>
              <a:gd name="adj" fmla="val 2692"/>
            </a:avLst>
          </a:prstGeom>
          <a:gradFill>
            <a:gsLst>
              <a:gs pos="0">
                <a:schemeClr val="bg2">
                  <a:lumMod val="90000"/>
                </a:schemeClr>
              </a:gs>
              <a:gs pos="100000">
                <a:schemeClr val="bg2"/>
              </a:gs>
            </a:gsLst>
            <a:lin ang="5400000" scaled="1"/>
          </a:gradFill>
          <a:ln>
            <a:noFill/>
          </a:ln>
          <a:effectLst>
            <a:glow rad="635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6" name="Chart 15">
            <a:extLst>
              <a:ext uri="{FF2B5EF4-FFF2-40B4-BE49-F238E27FC236}">
                <a16:creationId xmlns:a16="http://schemas.microsoft.com/office/drawing/2014/main" id="{23816F73-ACCE-46D4-A0B3-A961B3EFB1C8}"/>
              </a:ext>
            </a:extLst>
          </p:cNvPr>
          <p:cNvGraphicFramePr/>
          <p:nvPr userDrawn="1">
            <p:extLst>
              <p:ext uri="{D42A27DB-BD31-4B8C-83A1-F6EECF244321}">
                <p14:modId xmlns:p14="http://schemas.microsoft.com/office/powerpoint/2010/main" val="195703944"/>
              </p:ext>
            </p:extLst>
          </p:nvPr>
        </p:nvGraphicFramePr>
        <p:xfrm>
          <a:off x="826770" y="4325882"/>
          <a:ext cx="2501462" cy="2230054"/>
        </p:xfrm>
        <a:graphic>
          <a:graphicData uri="http://schemas.openxmlformats.org/drawingml/2006/chart">
            <c:chart xmlns:c="http://schemas.openxmlformats.org/drawingml/2006/chart" xmlns:r="http://schemas.openxmlformats.org/officeDocument/2006/relationships" r:id="rId4"/>
          </a:graphicData>
        </a:graphic>
      </p:graphicFrame>
      <p:sp>
        <p:nvSpPr>
          <p:cNvPr id="17" name="Rectangle: Rounded Corners 16">
            <a:extLst>
              <a:ext uri="{FF2B5EF4-FFF2-40B4-BE49-F238E27FC236}">
                <a16:creationId xmlns:a16="http://schemas.microsoft.com/office/drawing/2014/main" id="{0AB11C9D-FC09-48CA-A677-B24DC2A4065E}"/>
              </a:ext>
            </a:extLst>
          </p:cNvPr>
          <p:cNvSpPr/>
          <p:nvPr userDrawn="1"/>
        </p:nvSpPr>
        <p:spPr>
          <a:xfrm>
            <a:off x="5951481" y="3397286"/>
            <a:ext cx="5402318" cy="3158650"/>
          </a:xfrm>
          <a:prstGeom prst="roundRect">
            <a:avLst>
              <a:gd name="adj" fmla="val 2692"/>
            </a:avLst>
          </a:prstGeom>
          <a:gradFill>
            <a:gsLst>
              <a:gs pos="0">
                <a:schemeClr val="bg2">
                  <a:lumMod val="95000"/>
                </a:schemeClr>
              </a:gs>
              <a:gs pos="100000">
                <a:schemeClr val="bg2"/>
              </a:gs>
            </a:gsLst>
            <a:lin ang="5400000" scaled="1"/>
          </a:gradFill>
          <a:ln>
            <a:noFill/>
          </a:ln>
          <a:effectLst>
            <a:glow rad="635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5B8FE129-AA90-46A3-AB57-14FA649E8DDD}"/>
              </a:ext>
            </a:extLst>
          </p:cNvPr>
          <p:cNvSpPr/>
          <p:nvPr userDrawn="1"/>
        </p:nvSpPr>
        <p:spPr>
          <a:xfrm>
            <a:off x="5951480" y="1119060"/>
            <a:ext cx="3087417" cy="2230054"/>
          </a:xfrm>
          <a:prstGeom prst="roundRect">
            <a:avLst>
              <a:gd name="adj" fmla="val 2692"/>
            </a:avLst>
          </a:prstGeom>
          <a:gradFill>
            <a:gsLst>
              <a:gs pos="0">
                <a:schemeClr val="bg2">
                  <a:lumMod val="85000"/>
                </a:schemeClr>
              </a:gs>
              <a:gs pos="100000">
                <a:schemeClr val="bg2"/>
              </a:gs>
            </a:gsLst>
            <a:lin ang="5400000" scaled="1"/>
          </a:gradFill>
          <a:ln>
            <a:noFill/>
          </a:ln>
          <a:effectLst>
            <a:glow rad="635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00EA877-8F02-4C84-BA12-B6F4A22773A6}"/>
              </a:ext>
            </a:extLst>
          </p:cNvPr>
          <p:cNvSpPr/>
          <p:nvPr userDrawn="1"/>
        </p:nvSpPr>
        <p:spPr>
          <a:xfrm>
            <a:off x="9094074" y="1118519"/>
            <a:ext cx="2259725" cy="2231136"/>
          </a:xfrm>
          <a:prstGeom prst="roundRect">
            <a:avLst>
              <a:gd name="adj" fmla="val 2692"/>
            </a:avLst>
          </a:prstGeom>
          <a:gradFill>
            <a:gsLst>
              <a:gs pos="100000">
                <a:schemeClr val="bg2"/>
              </a:gs>
              <a:gs pos="0">
                <a:schemeClr val="bg2">
                  <a:lumMod val="85000"/>
                </a:schemeClr>
              </a:gs>
            </a:gsLst>
            <a:lin ang="5400000" scaled="1"/>
          </a:gradFill>
          <a:ln>
            <a:noFill/>
          </a:ln>
          <a:effectLst>
            <a:glow rad="635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2" name="Chart 21">
            <a:extLst>
              <a:ext uri="{FF2B5EF4-FFF2-40B4-BE49-F238E27FC236}">
                <a16:creationId xmlns:a16="http://schemas.microsoft.com/office/drawing/2014/main" id="{BA69DC54-7316-43D9-999B-E0AE3194B524}"/>
              </a:ext>
            </a:extLst>
          </p:cNvPr>
          <p:cNvGraphicFramePr/>
          <p:nvPr userDrawn="1">
            <p:extLst>
              <p:ext uri="{D42A27DB-BD31-4B8C-83A1-F6EECF244321}">
                <p14:modId xmlns:p14="http://schemas.microsoft.com/office/powerpoint/2010/main" val="4140359098"/>
              </p:ext>
            </p:extLst>
          </p:nvPr>
        </p:nvGraphicFramePr>
        <p:xfrm>
          <a:off x="5951480" y="3519723"/>
          <a:ext cx="5402318" cy="295165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 name="Chart 24">
            <a:extLst>
              <a:ext uri="{FF2B5EF4-FFF2-40B4-BE49-F238E27FC236}">
                <a16:creationId xmlns:a16="http://schemas.microsoft.com/office/drawing/2014/main" id="{2B983F3F-204E-44EB-B324-66B7F827EBF4}"/>
              </a:ext>
            </a:extLst>
          </p:cNvPr>
          <p:cNvGraphicFramePr/>
          <p:nvPr userDrawn="1">
            <p:extLst>
              <p:ext uri="{D42A27DB-BD31-4B8C-83A1-F6EECF244321}">
                <p14:modId xmlns:p14="http://schemas.microsoft.com/office/powerpoint/2010/main" val="1294551885"/>
              </p:ext>
            </p:extLst>
          </p:nvPr>
        </p:nvGraphicFramePr>
        <p:xfrm>
          <a:off x="5951480" y="1117979"/>
          <a:ext cx="3087417" cy="210869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0" name="Chart 29">
            <a:extLst>
              <a:ext uri="{FF2B5EF4-FFF2-40B4-BE49-F238E27FC236}">
                <a16:creationId xmlns:a16="http://schemas.microsoft.com/office/drawing/2014/main" id="{1E172787-3353-42B2-8CC4-BA53A7A0DE36}"/>
              </a:ext>
            </a:extLst>
          </p:cNvPr>
          <p:cNvGraphicFramePr/>
          <p:nvPr userDrawn="1">
            <p:extLst>
              <p:ext uri="{D42A27DB-BD31-4B8C-83A1-F6EECF244321}">
                <p14:modId xmlns:p14="http://schemas.microsoft.com/office/powerpoint/2010/main" val="2011352751"/>
              </p:ext>
            </p:extLst>
          </p:nvPr>
        </p:nvGraphicFramePr>
        <p:xfrm>
          <a:off x="3394840" y="4310117"/>
          <a:ext cx="2501462" cy="223005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3" name="Chart 32">
            <a:extLst>
              <a:ext uri="{FF2B5EF4-FFF2-40B4-BE49-F238E27FC236}">
                <a16:creationId xmlns:a16="http://schemas.microsoft.com/office/drawing/2014/main" id="{565D136F-1591-4DFE-9EB6-572949B6480A}"/>
              </a:ext>
            </a:extLst>
          </p:cNvPr>
          <p:cNvGraphicFramePr/>
          <p:nvPr userDrawn="1">
            <p:extLst>
              <p:ext uri="{D42A27DB-BD31-4B8C-83A1-F6EECF244321}">
                <p14:modId xmlns:p14="http://schemas.microsoft.com/office/powerpoint/2010/main" val="2775661441"/>
              </p:ext>
            </p:extLst>
          </p:nvPr>
        </p:nvGraphicFramePr>
        <p:xfrm>
          <a:off x="9094074" y="1119389"/>
          <a:ext cx="2259724" cy="2230053"/>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162317651"/>
      </p:ext>
    </p:extLst>
  </p:cSld>
  <p:clrMapOvr>
    <a:masterClrMapping/>
  </p:clrMapOvr>
  <p:timing>
    <p:tnLst>
      <p:par>
        <p:cTn id="1" dur="indefinite" restart="never" nodeType="tmRoot">
          <p:childTnLst>
            <p:seq concurrent="1">
              <p:cTn id="2" repeatCount="indefinite" restart="whenNotActive" fill="hold" evtFilter="cancelBubble" nodeType="interactiveSeq">
                <p:stCondLst>
                  <p:cond delay="indefinite"/>
                  <p:cond evt="onBegin" delay="0">
                    <p:tn val="1"/>
                  </p:cond>
                </p:stCondLst>
                <p:endSync evt="end" delay="0">
                  <p:rtn val="all"/>
                </p:endSync>
                <p:childTnLst>
                  <p:par>
                    <p:cTn id="3" fill="hold">
                      <p:stCondLst>
                        <p:cond delay="0"/>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24922 0.05935" pathEditMode="relative" ptsTypes="AA">
                                      <p:cBhvr>
                                        <p:cTn id="6" dur="30000" fill="hold"/>
                                        <p:tgtEl>
                                          <p:spTgt spid="3"/>
                                        </p:tgtEl>
                                        <p:attrNameLst>
                                          <p:attrName>ppt_x</p:attrName>
                                          <p:attrName>ppt_y</p:attrName>
                                        </p:attrNameLst>
                                      </p:cBhvr>
                                    </p:animMotion>
                                  </p:childTnLst>
                                </p:cTn>
                              </p:par>
                              <p:par>
                                <p:cTn id="7" presetID="6" presetClass="emph" presetSubtype="0" accel="50000" decel="50000" fill="hold" nodeType="withEffect">
                                  <p:stCondLst>
                                    <p:cond delay="0"/>
                                  </p:stCondLst>
                                  <p:childTnLst>
                                    <p:animScale>
                                      <p:cBhvr>
                                        <p:cTn id="8" dur="30000" fill="hold"/>
                                        <p:tgtEl>
                                          <p:spTgt spid="3"/>
                                        </p:tgtEl>
                                      </p:cBhvr>
                                      <p:by x="150000" y="150000"/>
                                    </p:animScale>
                                  </p:childTnLst>
                                </p:cTn>
                              </p:par>
                            </p:childTnLst>
                          </p:cTn>
                        </p:par>
                        <p:par>
                          <p:cTn id="9" fill="hold">
                            <p:stCondLst>
                              <p:cond delay="30000"/>
                            </p:stCondLst>
                            <p:childTnLst>
                              <p:par>
                                <p:cTn id="10" presetID="0" presetClass="path" presetSubtype="0" accel="50000" decel="50000" fill="hold" nodeType="afterEffect">
                                  <p:stCondLst>
                                    <p:cond delay="5000"/>
                                  </p:stCondLst>
                                  <p:childTnLst>
                                    <p:animMotion origin="layout" path="M 0.24922 0.05935 L 0 0" pathEditMode="relative" ptsTypes="AA">
                                      <p:cBhvr>
                                        <p:cTn id="11" dur="30000" fill="hold"/>
                                        <p:tgtEl>
                                          <p:spTgt spid="3"/>
                                        </p:tgtEl>
                                        <p:attrNameLst>
                                          <p:attrName>ppt_x</p:attrName>
                                          <p:attrName>ppt_y</p:attrName>
                                        </p:attrNameLst>
                                      </p:cBhvr>
                                    </p:animMotion>
                                  </p:childTnLst>
                                </p:cTn>
                              </p:par>
                              <p:par>
                                <p:cTn id="12" presetID="6" presetClass="emph" presetSubtype="0" accel="50000" decel="50000" fill="hold" nodeType="withEffect">
                                  <p:stCondLst>
                                    <p:cond delay="5000"/>
                                  </p:stCondLst>
                                  <p:childTnLst>
                                    <p:animScale>
                                      <p:cBhvr>
                                        <p:cTn id="13" dur="30000" fill="hold"/>
                                        <p:tgtEl>
                                          <p:spTgt spid="3"/>
                                        </p:tgtEl>
                                      </p:cBhvr>
                                      <p:by x="150000" y="150000"/>
                                      <p:to x="100000" y="100000"/>
                                    </p:animScale>
                                  </p:childTnLst>
                                </p:cTn>
                              </p:par>
                            </p:childTnLst>
                          </p:cTn>
                        </p:par>
                        <p:par>
                          <p:cTn id="14" fill="hold">
                            <p:stCondLst>
                              <p:cond delay="65000"/>
                            </p:stCondLst>
                            <p:childTnLst>
                              <p:par>
                                <p:cTn id="15" presetID="0" presetClass="path" presetSubtype="0" accel="50000" decel="50000" fill="hold" nodeType="afterEffect">
                                  <p:stCondLst>
                                    <p:cond delay="0"/>
                                  </p:stCondLst>
                                  <p:childTnLst>
                                    <p:animMotion origin="layout" path="M 0 0 L 0 0" pathEditMode="relative" ptsTypes="AA">
                                      <p:cBhvr>
                                        <p:cTn id="16" dur="5000" fill="hold"/>
                                        <p:tgtEl>
                                          <p:spTgt spid="3"/>
                                        </p:tgtEl>
                                        <p:attrNameLst>
                                          <p:attrName>ppt_x</p:attrName>
                                          <p:attrName>ppt_y</p:attrName>
                                        </p:attrNameLst>
                                      </p:cBhvr>
                                    </p:animMotion>
                                  </p:childTnLst>
                                </p:cTn>
                              </p:par>
                            </p:childTnLst>
                          </p:cTn>
                        </p:par>
                      </p:childTnLst>
                    </p:cTn>
                  </p:par>
                </p:childTnLst>
              </p:cTn>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8DBD5F-C6EC-485E-8ECE-A5152736C43A}"/>
              </a:ext>
            </a:extLst>
          </p:cNvPr>
          <p:cNvSpPr>
            <a:spLocks noGrp="1"/>
          </p:cNvSpPr>
          <p:nvPr>
            <p:ph type="dt" sz="half" idx="10"/>
          </p:nvPr>
        </p:nvSpPr>
        <p:spPr/>
        <p:txBody>
          <a:bodyPr/>
          <a:lstStyle/>
          <a:p>
            <a:fld id="{6EBB0E32-0304-4451-ADB8-C044457D5B85}" type="datetimeFigureOut">
              <a:rPr lang="en-US" smtClean="0"/>
              <a:t>10/20/2025</a:t>
            </a:fld>
            <a:endParaRPr lang="en-US" dirty="0"/>
          </a:p>
        </p:txBody>
      </p:sp>
      <p:sp>
        <p:nvSpPr>
          <p:cNvPr id="3" name="Footer Placeholder 2">
            <a:extLst>
              <a:ext uri="{FF2B5EF4-FFF2-40B4-BE49-F238E27FC236}">
                <a16:creationId xmlns:a16="http://schemas.microsoft.com/office/drawing/2014/main" id="{FB6C0BE6-E24A-4679-B786-AAB41ADCCD5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3FB9417-93D4-4C41-8E0E-1553E0B5D0CE}"/>
              </a:ext>
            </a:extLst>
          </p:cNvPr>
          <p:cNvSpPr>
            <a:spLocks noGrp="1"/>
          </p:cNvSpPr>
          <p:nvPr>
            <p:ph type="sldNum" sz="quarter" idx="12"/>
          </p:nvPr>
        </p:nvSpPr>
        <p:spPr/>
        <p:txBody>
          <a:bodyPr/>
          <a:lstStyle/>
          <a:p>
            <a:fld id="{DA64F31B-23FA-4075-AF7D-6228CFD12F03}" type="slidenum">
              <a:rPr lang="en-US" smtClean="0"/>
              <a:t>‹#›</a:t>
            </a:fld>
            <a:endParaRPr lang="en-US" dirty="0"/>
          </a:p>
        </p:txBody>
      </p:sp>
      <p:sp>
        <p:nvSpPr>
          <p:cNvPr id="6" name="Title 9">
            <a:extLst>
              <a:ext uri="{FF2B5EF4-FFF2-40B4-BE49-F238E27FC236}">
                <a16:creationId xmlns:a16="http://schemas.microsoft.com/office/drawing/2014/main" id="{73B70AF8-7A40-41EC-8696-26B800272EE8}"/>
              </a:ext>
            </a:extLst>
          </p:cNvPr>
          <p:cNvSpPr>
            <a:spLocks noGrp="1"/>
          </p:cNvSpPr>
          <p:nvPr>
            <p:ph type="title"/>
          </p:nvPr>
        </p:nvSpPr>
        <p:spPr>
          <a:xfrm>
            <a:off x="838200" y="323084"/>
            <a:ext cx="10515600" cy="585770"/>
          </a:xfrm>
        </p:spPr>
        <p:txBody>
          <a:bodyPr>
            <a:noAutofit/>
          </a:bodyPr>
          <a:lstStyle>
            <a:lvl1pPr algn="ctr">
              <a:defRPr sz="4400">
                <a:solidFill>
                  <a:schemeClr val="bg1"/>
                </a:solidFill>
                <a:effectLst>
                  <a:glow rad="165100">
                    <a:schemeClr val="tx1">
                      <a:alpha val="30000"/>
                    </a:schemeClr>
                  </a:glow>
                </a:effectLst>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16AE62E1-C8BB-446B-AD29-C59CCDC9D400}"/>
              </a:ext>
            </a:extLst>
          </p:cNvPr>
          <p:cNvSpPr>
            <a:spLocks noGrp="1"/>
          </p:cNvSpPr>
          <p:nvPr>
            <p:ph type="body" sz="quarter" idx="13"/>
          </p:nvPr>
        </p:nvSpPr>
        <p:spPr>
          <a:xfrm>
            <a:off x="1390650" y="2181225"/>
            <a:ext cx="9410700" cy="2495550"/>
          </a:xfrm>
        </p:spPr>
        <p:txBody>
          <a:bodyPr anchor="ctr">
            <a:normAutofit/>
          </a:bodyPr>
          <a:lstStyle>
            <a:lvl1pPr marL="0" indent="0" algn="ctr">
              <a:buNone/>
              <a:defRPr sz="3600">
                <a:solidFill>
                  <a:schemeClr val="bg1"/>
                </a:solidFill>
                <a:latin typeface="Arial" panose="020B0604020202020204" pitchFamily="34" charset="0"/>
                <a:cs typeface="Arial" panose="020B0604020202020204" pitchFamily="34" charset="0"/>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1821137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CA2D29-AE08-4E1C-A8BB-1DDC372ABE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606754-6650-42E5-A16F-CB49062188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193D16C-96B0-4589-AB27-3E0141CC73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0F15BC-6B28-46A0-8F20-1BCD165DBDFC}" type="datetimeFigureOut">
              <a:rPr lang="en-US" smtClean="0"/>
              <a:t>10/20/2025</a:t>
            </a:fld>
            <a:endParaRPr lang="en-US" dirty="0"/>
          </a:p>
        </p:txBody>
      </p:sp>
      <p:sp>
        <p:nvSpPr>
          <p:cNvPr id="5" name="Footer Placeholder 4">
            <a:extLst>
              <a:ext uri="{FF2B5EF4-FFF2-40B4-BE49-F238E27FC236}">
                <a16:creationId xmlns:a16="http://schemas.microsoft.com/office/drawing/2014/main" id="{E8464510-A39A-441A-863A-DCC5321B41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A2274F1-490B-4D55-869C-48EB5CA942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0DDE6C-7292-43E0-8339-2F81A039D36C}" type="slidenum">
              <a:rPr lang="en-US" smtClean="0"/>
              <a:t>‹#›</a:t>
            </a:fld>
            <a:endParaRPr lang="en-US" dirty="0"/>
          </a:p>
        </p:txBody>
      </p:sp>
    </p:spTree>
    <p:extLst>
      <p:ext uri="{BB962C8B-B14F-4D97-AF65-F5344CB8AC3E}">
        <p14:creationId xmlns:p14="http://schemas.microsoft.com/office/powerpoint/2010/main" val="2090531168"/>
      </p:ext>
    </p:extLst>
  </p:cSld>
  <p:clrMap bg1="lt1" tx1="dk1" bg2="lt2" tx2="dk2" accent1="accent1" accent2="accent2" accent3="accent3" accent4="accent4" accent5="accent5" accent6="accent6" hlink="hlink" folHlink="folHlink"/>
  <p:sldLayoutIdLst>
    <p:sldLayoutId id="2147483649" r:id="rId1"/>
    <p:sldLayoutId id="214748367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3D Hologram from iPad">
            <a:extLst>
              <a:ext uri="{FF2B5EF4-FFF2-40B4-BE49-F238E27FC236}">
                <a16:creationId xmlns:a16="http://schemas.microsoft.com/office/drawing/2014/main" id="{B8C8DA96-3FD5-A2B1-7C5D-EFFD14B224C4}"/>
              </a:ext>
            </a:extLst>
          </p:cNvPr>
          <p:cNvPicPr>
            <a:picLocks noChangeAspect="1"/>
          </p:cNvPicPr>
          <p:nvPr/>
        </p:nvPicPr>
        <p:blipFill>
          <a:blip r:embed="rId2">
            <a:alphaModFix amt="50000"/>
          </a:blip>
          <a:srcRect t="6835" r="-1" b="8873"/>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7CE489F7-8996-3196-EA27-F369F889FF74}"/>
              </a:ext>
            </a:extLst>
          </p:cNvPr>
          <p:cNvSpPr>
            <a:spLocks noGrp="1"/>
          </p:cNvSpPr>
          <p:nvPr>
            <p:ph type="title"/>
          </p:nvPr>
        </p:nvSpPr>
        <p:spPr>
          <a:xfrm>
            <a:off x="1524000" y="1122363"/>
            <a:ext cx="9144000" cy="3063240"/>
          </a:xfrm>
        </p:spPr>
        <p:txBody>
          <a:bodyPr vert="horz" lIns="91440" tIns="45720" rIns="91440" bIns="45720" rtlCol="0" anchor="b">
            <a:normAutofit/>
          </a:bodyPr>
          <a:lstStyle/>
          <a:p>
            <a:r>
              <a:rPr lang="en-US" sz="6600" dirty="0">
                <a:latin typeface="+mj-lt"/>
                <a:cs typeface="+mj-cs"/>
              </a:rPr>
              <a:t>OC Team - LinkedIn Analytics</a:t>
            </a:r>
          </a:p>
        </p:txBody>
      </p:sp>
      <p:sp>
        <p:nvSpPr>
          <p:cNvPr id="19"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156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569C8559-24F3-C706-33F3-9D938CEFAF91}"/>
              </a:ext>
            </a:extLst>
          </p:cNvPr>
          <p:cNvGraphicFramePr>
            <a:graphicFrameLocks/>
          </p:cNvGraphicFramePr>
          <p:nvPr>
            <p:extLst>
              <p:ext uri="{D42A27DB-BD31-4B8C-83A1-F6EECF244321}">
                <p14:modId xmlns:p14="http://schemas.microsoft.com/office/powerpoint/2010/main" val="2346518464"/>
              </p:ext>
            </p:extLst>
          </p:nvPr>
        </p:nvGraphicFramePr>
        <p:xfrm>
          <a:off x="559669" y="987256"/>
          <a:ext cx="4975369" cy="27293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FAA0830B-E1EC-AB9A-6701-19A97F606F1F}"/>
              </a:ext>
            </a:extLst>
          </p:cNvPr>
          <p:cNvGraphicFramePr>
            <a:graphicFrameLocks/>
          </p:cNvGraphicFramePr>
          <p:nvPr>
            <p:extLst>
              <p:ext uri="{D42A27DB-BD31-4B8C-83A1-F6EECF244321}">
                <p14:modId xmlns:p14="http://schemas.microsoft.com/office/powerpoint/2010/main" val="2084293207"/>
              </p:ext>
            </p:extLst>
          </p:nvPr>
        </p:nvGraphicFramePr>
        <p:xfrm>
          <a:off x="6575860" y="987256"/>
          <a:ext cx="5438775" cy="27293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B0F1A509-7126-6926-E337-0B2E08DB19C8}"/>
              </a:ext>
            </a:extLst>
          </p:cNvPr>
          <p:cNvGraphicFramePr>
            <a:graphicFrameLocks/>
          </p:cNvGraphicFramePr>
          <p:nvPr>
            <p:extLst>
              <p:ext uri="{D42A27DB-BD31-4B8C-83A1-F6EECF244321}">
                <p14:modId xmlns:p14="http://schemas.microsoft.com/office/powerpoint/2010/main" val="867419989"/>
              </p:ext>
            </p:extLst>
          </p:nvPr>
        </p:nvGraphicFramePr>
        <p:xfrm>
          <a:off x="3079413" y="4011283"/>
          <a:ext cx="5438775" cy="2846717"/>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A6D0A556-D368-4764-07B3-1831D4CE0B77}"/>
              </a:ext>
            </a:extLst>
          </p:cNvPr>
          <p:cNvSpPr txBox="1"/>
          <p:nvPr/>
        </p:nvSpPr>
        <p:spPr>
          <a:xfrm>
            <a:off x="4263320" y="105877"/>
            <a:ext cx="3552212" cy="707886"/>
          </a:xfrm>
          <a:prstGeom prst="rect">
            <a:avLst/>
          </a:prstGeom>
          <a:noFill/>
        </p:spPr>
        <p:txBody>
          <a:bodyPr wrap="square" rtlCol="0">
            <a:spAutoFit/>
          </a:bodyPr>
          <a:lstStyle/>
          <a:p>
            <a:r>
              <a:rPr lang="en-US" sz="4000" b="1" dirty="0">
                <a:solidFill>
                  <a:srgbClr val="0070C0"/>
                </a:solidFill>
                <a:latin typeface="+mj-lt"/>
              </a:rPr>
              <a:t>Page Visitors</a:t>
            </a:r>
          </a:p>
        </p:txBody>
      </p:sp>
    </p:spTree>
    <p:extLst>
      <p:ext uri="{BB962C8B-B14F-4D97-AF65-F5344CB8AC3E}">
        <p14:creationId xmlns:p14="http://schemas.microsoft.com/office/powerpoint/2010/main" val="3073341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85B9FCA-9EC2-740F-D198-3D2DF047E46A}"/>
              </a:ext>
            </a:extLst>
          </p:cNvPr>
          <p:cNvSpPr txBox="1"/>
          <p:nvPr/>
        </p:nvSpPr>
        <p:spPr>
          <a:xfrm>
            <a:off x="2019300" y="538956"/>
            <a:ext cx="8985250" cy="1118394"/>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700" b="1" kern="1200" dirty="0">
                <a:solidFill>
                  <a:schemeClr val="tx1"/>
                </a:solidFill>
                <a:latin typeface="+mj-lt"/>
                <a:ea typeface="+mj-ea"/>
                <a:cs typeface="+mj-cs"/>
              </a:rPr>
              <a:t>Page Visitors Insights: Unique Visitors through device and sub-page visitors</a:t>
            </a:r>
          </a:p>
        </p:txBody>
      </p:sp>
      <p:pic>
        <p:nvPicPr>
          <p:cNvPr id="8" name="Graphic 7" descr="Office Worker">
            <a:extLst>
              <a:ext uri="{FF2B5EF4-FFF2-40B4-BE49-F238E27FC236}">
                <a16:creationId xmlns:a16="http://schemas.microsoft.com/office/drawing/2014/main" id="{6A837E30-C6F6-109A-80CE-5DE56B9926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3" name="Text Placeholder 2">
            <a:extLst>
              <a:ext uri="{FF2B5EF4-FFF2-40B4-BE49-F238E27FC236}">
                <a16:creationId xmlns:a16="http://schemas.microsoft.com/office/drawing/2014/main" id="{D76EF660-8218-637D-4152-F6ABD70041DF}"/>
              </a:ext>
            </a:extLst>
          </p:cNvPr>
          <p:cNvSpPr>
            <a:spLocks noGrp="1"/>
          </p:cNvSpPr>
          <p:nvPr>
            <p:ph type="body" sz="quarter" idx="13"/>
          </p:nvPr>
        </p:nvSpPr>
        <p:spPr>
          <a:xfrm>
            <a:off x="1009650" y="1847849"/>
            <a:ext cx="9994900" cy="4254501"/>
          </a:xfrm>
        </p:spPr>
        <p:txBody>
          <a:bodyPr vert="horz" lIns="91440" tIns="45720" rIns="91440" bIns="45720" rtlCol="0">
            <a:normAutofit/>
          </a:bodyPr>
          <a:lstStyle/>
          <a:p>
            <a:pPr marL="285750" indent="-228600" algn="l">
              <a:buFont typeface="Arial" panose="020B0604020202020204" pitchFamily="34" charset="0"/>
              <a:buChar char="•"/>
            </a:pPr>
            <a:r>
              <a:rPr lang="en-US" sz="2000" dirty="0">
                <a:solidFill>
                  <a:schemeClr val="tx1"/>
                </a:solidFill>
                <a:latin typeface="+mn-lt"/>
                <a:cs typeface="+mn-cs"/>
              </a:rPr>
              <a:t>The </a:t>
            </a:r>
            <a:r>
              <a:rPr lang="en-US" sz="2000" b="1" dirty="0">
                <a:solidFill>
                  <a:schemeClr val="tx1"/>
                </a:solidFill>
                <a:latin typeface="+mn-lt"/>
                <a:cs typeface="+mn-cs"/>
              </a:rPr>
              <a:t>LinkedIn Life Page</a:t>
            </a:r>
            <a:r>
              <a:rPr lang="en-US" sz="2000" dirty="0">
                <a:solidFill>
                  <a:schemeClr val="tx1"/>
                </a:solidFill>
                <a:latin typeface="+mn-lt"/>
                <a:cs typeface="+mn-cs"/>
              </a:rPr>
              <a:t> is a storytelling space on our company’s LinkedIn profile that showcases our </a:t>
            </a:r>
            <a:r>
              <a:rPr lang="en-US" sz="2000" b="1" dirty="0">
                <a:solidFill>
                  <a:schemeClr val="tx1"/>
                </a:solidFill>
                <a:latin typeface="+mn-lt"/>
                <a:cs typeface="+mn-cs"/>
              </a:rPr>
              <a:t>culture, people, and workplace experience</a:t>
            </a:r>
            <a:r>
              <a:rPr lang="en-US" sz="2000" dirty="0">
                <a:solidFill>
                  <a:schemeClr val="tx1"/>
                </a:solidFill>
                <a:latin typeface="+mn-lt"/>
                <a:cs typeface="+mn-cs"/>
              </a:rPr>
              <a:t> - helping attract talent, engage partners, and strengthen your brand identity. But on our life page, we do not have any visitors. So, we need to focus on creating content related to the company culture or employees</a:t>
            </a:r>
          </a:p>
          <a:p>
            <a:pPr marL="285750" indent="-228600" algn="l">
              <a:buFont typeface="Arial" panose="020B0604020202020204" pitchFamily="34" charset="0"/>
              <a:buChar char="•"/>
            </a:pPr>
            <a:r>
              <a:rPr lang="en-US" sz="2000" dirty="0">
                <a:solidFill>
                  <a:schemeClr val="tx1"/>
                </a:solidFill>
                <a:latin typeface="+mn-lt"/>
                <a:cs typeface="+mn-cs"/>
              </a:rPr>
              <a:t>Desktop viewers are more than mobile viewers which suggests people are focused on more information content or posts rather than just scrolling </a:t>
            </a:r>
          </a:p>
          <a:p>
            <a:pPr marL="285750" indent="-228600" algn="l">
              <a:buFont typeface="Arial" panose="020B0604020202020204" pitchFamily="34" charset="0"/>
              <a:buChar char="•"/>
            </a:pPr>
            <a:r>
              <a:rPr lang="en-US" sz="2000" dirty="0">
                <a:solidFill>
                  <a:schemeClr val="tx1"/>
                </a:solidFill>
                <a:latin typeface="+mn-lt"/>
                <a:cs typeface="+mn-cs"/>
              </a:rPr>
              <a:t>Also, dominant desktop visitors suggest our viewers are business professionals or decision makers who use LinkedIn as a business tool</a:t>
            </a:r>
          </a:p>
          <a:p>
            <a:pPr marL="285750" indent="-228600" algn="l">
              <a:buFont typeface="Arial" panose="020B0604020202020204" pitchFamily="34" charset="0"/>
              <a:buChar char="•"/>
            </a:pPr>
            <a:endParaRPr lang="en-US" sz="2000" dirty="0">
              <a:solidFill>
                <a:schemeClr val="tx1"/>
              </a:solidFill>
              <a:latin typeface="+mn-lt"/>
              <a:cs typeface="+mn-cs"/>
            </a:endParaRPr>
          </a:p>
          <a:p>
            <a:pPr marL="285750" indent="-228600" algn="l">
              <a:buFont typeface="Arial" panose="020B0604020202020204" pitchFamily="34" charset="0"/>
              <a:buChar char="•"/>
            </a:pPr>
            <a:endParaRPr lang="en-US" sz="2000" dirty="0">
              <a:solidFill>
                <a:schemeClr val="tx1"/>
              </a:solidFill>
              <a:latin typeface="+mn-lt"/>
              <a:cs typeface="+mn-cs"/>
            </a:endParaRPr>
          </a:p>
          <a:p>
            <a:pPr marL="285750" indent="-228600" algn="l">
              <a:buFont typeface="Arial" panose="020B0604020202020204" pitchFamily="34" charset="0"/>
              <a:buChar char="•"/>
            </a:pPr>
            <a:endParaRPr lang="en-US" sz="2000" dirty="0">
              <a:solidFill>
                <a:schemeClr val="tx1"/>
              </a:solidFill>
              <a:latin typeface="+mn-lt"/>
              <a:cs typeface="+mn-cs"/>
            </a:endParaRPr>
          </a:p>
        </p:txBody>
      </p:sp>
    </p:spTree>
    <p:extLst>
      <p:ext uri="{BB962C8B-B14F-4D97-AF65-F5344CB8AC3E}">
        <p14:creationId xmlns:p14="http://schemas.microsoft.com/office/powerpoint/2010/main" val="475977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9C0A8C92-56E2-A09C-032C-E18EA4A380E5}"/>
              </a:ext>
            </a:extLst>
          </p:cNvPr>
          <p:cNvGraphicFramePr>
            <a:graphicFrameLocks/>
          </p:cNvGraphicFramePr>
          <p:nvPr>
            <p:extLst>
              <p:ext uri="{D42A27DB-BD31-4B8C-83A1-F6EECF244321}">
                <p14:modId xmlns:p14="http://schemas.microsoft.com/office/powerpoint/2010/main" val="3339219107"/>
              </p:ext>
            </p:extLst>
          </p:nvPr>
        </p:nvGraphicFramePr>
        <p:xfrm>
          <a:off x="446070" y="1118681"/>
          <a:ext cx="5478075" cy="4299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87640A70-5DF4-4B00-8B2E-1466ACD4E30F}"/>
              </a:ext>
            </a:extLst>
          </p:cNvPr>
          <p:cNvGraphicFramePr>
            <a:graphicFrameLocks/>
          </p:cNvGraphicFramePr>
          <p:nvPr>
            <p:extLst>
              <p:ext uri="{D42A27DB-BD31-4B8C-83A1-F6EECF244321}">
                <p14:modId xmlns:p14="http://schemas.microsoft.com/office/powerpoint/2010/main" val="450620510"/>
              </p:ext>
            </p:extLst>
          </p:nvPr>
        </p:nvGraphicFramePr>
        <p:xfrm>
          <a:off x="6022600" y="1118681"/>
          <a:ext cx="6041900" cy="429962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A326BE78-0A4D-C1B9-6EE4-630869B819F0}"/>
              </a:ext>
            </a:extLst>
          </p:cNvPr>
          <p:cNvSpPr txBox="1"/>
          <p:nvPr/>
        </p:nvSpPr>
        <p:spPr>
          <a:xfrm>
            <a:off x="1570007" y="304171"/>
            <a:ext cx="9894499" cy="646331"/>
          </a:xfrm>
          <a:prstGeom prst="rect">
            <a:avLst/>
          </a:prstGeom>
          <a:noFill/>
        </p:spPr>
        <p:txBody>
          <a:bodyPr wrap="square" rtlCol="0">
            <a:spAutoFit/>
          </a:bodyPr>
          <a:lstStyle/>
          <a:p>
            <a:pPr algn="ctr"/>
            <a:r>
              <a:rPr lang="en-US" sz="3600" b="1" dirty="0">
                <a:solidFill>
                  <a:schemeClr val="accent4">
                    <a:lumMod val="75000"/>
                  </a:schemeClr>
                </a:solidFill>
                <a:latin typeface="+mj-lt"/>
              </a:rPr>
              <a:t>Total Views by Location and Job Function</a:t>
            </a:r>
          </a:p>
        </p:txBody>
      </p:sp>
      <p:sp>
        <p:nvSpPr>
          <p:cNvPr id="5" name="TextBox 4">
            <a:extLst>
              <a:ext uri="{FF2B5EF4-FFF2-40B4-BE49-F238E27FC236}">
                <a16:creationId xmlns:a16="http://schemas.microsoft.com/office/drawing/2014/main" id="{25BF790F-23C5-43F8-E20A-FC8E736B7CB2}"/>
              </a:ext>
            </a:extLst>
          </p:cNvPr>
          <p:cNvSpPr txBox="1"/>
          <p:nvPr/>
        </p:nvSpPr>
        <p:spPr>
          <a:xfrm>
            <a:off x="251604" y="5353500"/>
            <a:ext cx="11688792" cy="1200329"/>
          </a:xfrm>
          <a:prstGeom prst="rect">
            <a:avLst/>
          </a:prstGeom>
          <a:noFill/>
        </p:spPr>
        <p:txBody>
          <a:bodyPr wrap="square" rtlCol="0">
            <a:spAutoFit/>
          </a:bodyPr>
          <a:lstStyle/>
          <a:p>
            <a:pPr marL="285750" indent="-285750">
              <a:buFont typeface="Arial" panose="020B0604020202020204" pitchFamily="34" charset="0"/>
              <a:buChar char="•"/>
            </a:pPr>
            <a:r>
              <a:rPr lang="en-US" dirty="0"/>
              <a:t>Maximum viewers are from LA which is I think so relevant to our team</a:t>
            </a:r>
          </a:p>
          <a:p>
            <a:pPr marL="285750" indent="-285750">
              <a:buFont typeface="Arial" panose="020B0604020202020204" pitchFamily="34" charset="0"/>
              <a:buChar char="•"/>
            </a:pPr>
            <a:r>
              <a:rPr lang="en-US" dirty="0"/>
              <a:t>Visitors who are viewing our page most of them are working in Marketing, Arts &amp; Design, Operations, Education and Media &amp; Communication. So, which I think we are attracting relevant audience through our posts</a:t>
            </a:r>
          </a:p>
        </p:txBody>
      </p:sp>
    </p:spTree>
    <p:extLst>
      <p:ext uri="{BB962C8B-B14F-4D97-AF65-F5344CB8AC3E}">
        <p14:creationId xmlns:p14="http://schemas.microsoft.com/office/powerpoint/2010/main" val="617031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8E7A9-DF7A-8011-83FD-1B92483CFB17}"/>
              </a:ext>
            </a:extLst>
          </p:cNvPr>
          <p:cNvSpPr>
            <a:spLocks noGrp="1"/>
          </p:cNvSpPr>
          <p:nvPr>
            <p:ph type="title"/>
          </p:nvPr>
        </p:nvSpPr>
        <p:spPr/>
        <p:txBody>
          <a:bodyPr/>
          <a:lstStyle/>
          <a:p>
            <a:r>
              <a:rPr lang="en-US" dirty="0">
                <a:solidFill>
                  <a:schemeClr val="accent4">
                    <a:lumMod val="75000"/>
                  </a:schemeClr>
                </a:solidFill>
              </a:rPr>
              <a:t>Industry vs Total Views</a:t>
            </a:r>
          </a:p>
        </p:txBody>
      </p:sp>
      <p:graphicFrame>
        <p:nvGraphicFramePr>
          <p:cNvPr id="3" name="Chart 2">
            <a:extLst>
              <a:ext uri="{FF2B5EF4-FFF2-40B4-BE49-F238E27FC236}">
                <a16:creationId xmlns:a16="http://schemas.microsoft.com/office/drawing/2014/main" id="{BDBB42BC-8194-9350-5D17-8C59CF3030AC}"/>
              </a:ext>
            </a:extLst>
          </p:cNvPr>
          <p:cNvGraphicFramePr>
            <a:graphicFrameLocks/>
          </p:cNvGraphicFramePr>
          <p:nvPr>
            <p:extLst>
              <p:ext uri="{D42A27DB-BD31-4B8C-83A1-F6EECF244321}">
                <p14:modId xmlns:p14="http://schemas.microsoft.com/office/powerpoint/2010/main" val="56145659"/>
              </p:ext>
            </p:extLst>
          </p:nvPr>
        </p:nvGraphicFramePr>
        <p:xfrm>
          <a:off x="473392" y="1206278"/>
          <a:ext cx="11245216" cy="51873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2413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E237AB2-D066-4FA6-BB2B-C8390CDC934E}"/>
              </a:ext>
            </a:extLst>
          </p:cNvPr>
          <p:cNvGraphicFramePr>
            <a:graphicFrameLocks/>
          </p:cNvGraphicFramePr>
          <p:nvPr>
            <p:extLst>
              <p:ext uri="{D42A27DB-BD31-4B8C-83A1-F6EECF244321}">
                <p14:modId xmlns:p14="http://schemas.microsoft.com/office/powerpoint/2010/main" val="3347947960"/>
              </p:ext>
            </p:extLst>
          </p:nvPr>
        </p:nvGraphicFramePr>
        <p:xfrm>
          <a:off x="362309" y="1276708"/>
          <a:ext cx="11829691" cy="5258207"/>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513F1BE8-4F9E-93C1-5CC6-A368AC6AF140}"/>
              </a:ext>
            </a:extLst>
          </p:cNvPr>
          <p:cNvSpPr txBox="1"/>
          <p:nvPr/>
        </p:nvSpPr>
        <p:spPr>
          <a:xfrm>
            <a:off x="1423358" y="284672"/>
            <a:ext cx="10118785" cy="769441"/>
          </a:xfrm>
          <a:prstGeom prst="rect">
            <a:avLst/>
          </a:prstGeom>
          <a:noFill/>
        </p:spPr>
        <p:txBody>
          <a:bodyPr wrap="square" rtlCol="0">
            <a:spAutoFit/>
          </a:bodyPr>
          <a:lstStyle/>
          <a:p>
            <a:pPr algn="ctr"/>
            <a:r>
              <a:rPr lang="en-US" sz="4400" b="1" dirty="0">
                <a:solidFill>
                  <a:srgbClr val="0070C0"/>
                </a:solidFill>
                <a:latin typeface="+mj-lt"/>
              </a:rPr>
              <a:t>Followers Analysis</a:t>
            </a:r>
          </a:p>
        </p:txBody>
      </p:sp>
    </p:spTree>
    <p:extLst>
      <p:ext uri="{BB962C8B-B14F-4D97-AF65-F5344CB8AC3E}">
        <p14:creationId xmlns:p14="http://schemas.microsoft.com/office/powerpoint/2010/main" val="4019849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4383CF3F-74AD-3209-B3C4-B9837A4E4C1F}"/>
              </a:ext>
            </a:extLst>
          </p:cNvPr>
          <p:cNvGraphicFramePr>
            <a:graphicFrameLocks/>
          </p:cNvGraphicFramePr>
          <p:nvPr>
            <p:extLst>
              <p:ext uri="{D42A27DB-BD31-4B8C-83A1-F6EECF244321}">
                <p14:modId xmlns:p14="http://schemas.microsoft.com/office/powerpoint/2010/main" val="645612249"/>
              </p:ext>
            </p:extLst>
          </p:nvPr>
        </p:nvGraphicFramePr>
        <p:xfrm>
          <a:off x="643467" y="643467"/>
          <a:ext cx="10905066" cy="55710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5465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0EB348A-B9DC-341E-8698-9CAB0ECA9B98}"/>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2406F53-9A1C-80D4-9DAF-E27E9E0F51A3}"/>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a:latin typeface="+mj-lt"/>
                <a:ea typeface="+mj-ea"/>
                <a:cs typeface="+mj-cs"/>
              </a:rPr>
              <a:t>Follwers Insights: Growth &amp; Location</a:t>
            </a:r>
          </a:p>
        </p:txBody>
      </p:sp>
      <p:graphicFrame>
        <p:nvGraphicFramePr>
          <p:cNvPr id="9" name="TextBox 3">
            <a:extLst>
              <a:ext uri="{FF2B5EF4-FFF2-40B4-BE49-F238E27FC236}">
                <a16:creationId xmlns:a16="http://schemas.microsoft.com/office/drawing/2014/main" id="{BA49F89F-7ED1-5FA3-592E-CD3D14651382}"/>
              </a:ext>
            </a:extLst>
          </p:cNvPr>
          <p:cNvGraphicFramePr/>
          <p:nvPr>
            <p:extLst>
              <p:ext uri="{D42A27DB-BD31-4B8C-83A1-F6EECF244321}">
                <p14:modId xmlns:p14="http://schemas.microsoft.com/office/powerpoint/2010/main" val="264047182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798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7BE3349-25AF-6069-2261-21BBBBE6BA8D}"/>
              </a:ext>
            </a:extLst>
          </p:cNvPr>
          <p:cNvSpPr txBox="1"/>
          <p:nvPr/>
        </p:nvSpPr>
        <p:spPr>
          <a:xfrm>
            <a:off x="640080" y="320040"/>
            <a:ext cx="6692827" cy="389266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Followers by Job Function</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B93AAB37-E624-B24A-6A15-BB19714803E9}"/>
              </a:ext>
            </a:extLst>
          </p:cNvPr>
          <p:cNvGraphicFramePr>
            <a:graphicFrameLocks/>
          </p:cNvGraphicFramePr>
          <p:nvPr>
            <p:extLst>
              <p:ext uri="{D42A27DB-BD31-4B8C-83A1-F6EECF244321}">
                <p14:modId xmlns:p14="http://schemas.microsoft.com/office/powerpoint/2010/main" val="2956230964"/>
              </p:ext>
            </p:extLst>
          </p:nvPr>
        </p:nvGraphicFramePr>
        <p:xfrm>
          <a:off x="6096000" y="320040"/>
          <a:ext cx="5772912" cy="59814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0811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F8F96B66-C84A-2FE7-AD54-07DC343CE9A5}"/>
              </a:ext>
            </a:extLst>
          </p:cNvPr>
          <p:cNvGraphicFramePr>
            <a:graphicFrameLocks/>
          </p:cNvGraphicFramePr>
          <p:nvPr>
            <p:extLst>
              <p:ext uri="{D42A27DB-BD31-4B8C-83A1-F6EECF244321}">
                <p14:modId xmlns:p14="http://schemas.microsoft.com/office/powerpoint/2010/main" val="1542936063"/>
              </p:ext>
            </p:extLst>
          </p:nvPr>
        </p:nvGraphicFramePr>
        <p:xfrm>
          <a:off x="721291" y="1373202"/>
          <a:ext cx="5053867" cy="30383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AB6CE65A-EC04-8446-2E74-F40CDBBC8C0C}"/>
              </a:ext>
            </a:extLst>
          </p:cNvPr>
          <p:cNvGraphicFramePr>
            <a:graphicFrameLocks/>
          </p:cNvGraphicFramePr>
          <p:nvPr>
            <p:extLst>
              <p:ext uri="{D42A27DB-BD31-4B8C-83A1-F6EECF244321}">
                <p14:modId xmlns:p14="http://schemas.microsoft.com/office/powerpoint/2010/main" val="4184479169"/>
              </p:ext>
            </p:extLst>
          </p:nvPr>
        </p:nvGraphicFramePr>
        <p:xfrm>
          <a:off x="5775158" y="3428999"/>
          <a:ext cx="5578642" cy="3303671"/>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11303F1A-61D5-29CB-276B-C5D8C3C7C80C}"/>
              </a:ext>
            </a:extLst>
          </p:cNvPr>
          <p:cNvSpPr txBox="1"/>
          <p:nvPr/>
        </p:nvSpPr>
        <p:spPr>
          <a:xfrm>
            <a:off x="721291" y="327804"/>
            <a:ext cx="10915743" cy="584775"/>
          </a:xfrm>
          <a:prstGeom prst="rect">
            <a:avLst/>
          </a:prstGeom>
          <a:noFill/>
        </p:spPr>
        <p:txBody>
          <a:bodyPr wrap="square" rtlCol="0">
            <a:spAutoFit/>
          </a:bodyPr>
          <a:lstStyle/>
          <a:p>
            <a:pPr algn="ctr"/>
            <a:r>
              <a:rPr lang="en-US" sz="3200" b="1" dirty="0">
                <a:solidFill>
                  <a:schemeClr val="accent4">
                    <a:lumMod val="75000"/>
                  </a:schemeClr>
                </a:solidFill>
              </a:rPr>
              <a:t>Followers by Seniority and Company Size</a:t>
            </a:r>
          </a:p>
        </p:txBody>
      </p:sp>
    </p:spTree>
    <p:extLst>
      <p:ext uri="{BB962C8B-B14F-4D97-AF65-F5344CB8AC3E}">
        <p14:creationId xmlns:p14="http://schemas.microsoft.com/office/powerpoint/2010/main" val="644868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8DAD5D-EA9C-6BA7-2600-D25DD5343DAC}"/>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algn="l"/>
            <a:r>
              <a:rPr lang="en-US" sz="5400" kern="1200" dirty="0">
                <a:solidFill>
                  <a:schemeClr val="tx1"/>
                </a:solidFill>
                <a:latin typeface="+mj-lt"/>
                <a:ea typeface="+mj-ea"/>
                <a:cs typeface="+mj-cs"/>
              </a:rPr>
              <a:t>Followers Insights</a:t>
            </a:r>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8057555-DA71-E855-0650-2B0B20AE22A4}"/>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700" dirty="0"/>
              <a:t>From the auto-invited feature of LinkedIn, we have received a total of </a:t>
            </a:r>
            <a:r>
              <a:rPr lang="en-US" sz="1700" dirty="0" err="1"/>
              <a:t>approx</a:t>
            </a:r>
            <a:r>
              <a:rPr lang="en-US" sz="1700" dirty="0"/>
              <a:t> 50 new followers (in 90 days), and all the auto-invited followers accepted the follow request</a:t>
            </a:r>
          </a:p>
          <a:p>
            <a:pPr marL="285750" indent="-228600">
              <a:lnSpc>
                <a:spcPct val="90000"/>
              </a:lnSpc>
              <a:spcAft>
                <a:spcPts val="600"/>
              </a:spcAft>
              <a:buFont typeface="Arial" panose="020B0604020202020204" pitchFamily="34" charset="0"/>
              <a:buChar char="•"/>
            </a:pPr>
            <a:r>
              <a:rPr lang="en-US" sz="1700" dirty="0"/>
              <a:t>So, we have a feature in LinkedIn that we can see who those people are who were auto-invited, and we can reach out to them regarding our event or marketing. As I have seen, some of them are in a good position in the industry</a:t>
            </a:r>
          </a:p>
          <a:p>
            <a:pPr marL="285750" indent="-228600">
              <a:lnSpc>
                <a:spcPct val="90000"/>
              </a:lnSpc>
              <a:spcAft>
                <a:spcPts val="600"/>
              </a:spcAft>
              <a:buFont typeface="Arial" panose="020B0604020202020204" pitchFamily="34" charset="0"/>
              <a:buChar char="•"/>
            </a:pPr>
            <a:r>
              <a:rPr lang="en-US" sz="1700" dirty="0"/>
              <a:t>Also, from our seniority page data, we have connections who are VP, Director, Manager, Owner, and Co-founder, whom we can cold message and look out for increasing our business</a:t>
            </a:r>
          </a:p>
          <a:p>
            <a:pPr marL="285750" indent="-228600">
              <a:lnSpc>
                <a:spcPct val="90000"/>
              </a:lnSpc>
              <a:spcAft>
                <a:spcPts val="600"/>
              </a:spcAft>
              <a:buFont typeface="Arial" panose="020B0604020202020204" pitchFamily="34" charset="0"/>
              <a:buChar char="•"/>
            </a:pPr>
            <a:r>
              <a:rPr lang="en-US" sz="1700" dirty="0"/>
              <a:t>Regarding new followers, I could see a boost in the organic followers between 22 July - 28 July 2025 (Max was on 24 July). Also, it increased again in the month of August, from August 5th to August 11th. So, I am not sure what made this boost, as during this period, there were two posts, and it has an increased number of impressions and click through rate.</a:t>
            </a:r>
          </a:p>
        </p:txBody>
      </p:sp>
    </p:spTree>
    <p:extLst>
      <p:ext uri="{BB962C8B-B14F-4D97-AF65-F5344CB8AC3E}">
        <p14:creationId xmlns:p14="http://schemas.microsoft.com/office/powerpoint/2010/main" val="910798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14A487-CBE8-AAA1-7127-253B0EDCBC95}"/>
              </a:ext>
            </a:extLst>
          </p:cNvPr>
          <p:cNvSpPr>
            <a:spLocks noGrp="1"/>
          </p:cNvSpPr>
          <p:nvPr>
            <p:ph type="title"/>
          </p:nvPr>
        </p:nvSpPr>
        <p:spPr>
          <a:xfrm>
            <a:off x="717422" y="1967265"/>
            <a:ext cx="2994660" cy="2547257"/>
          </a:xfrm>
          <a:noFill/>
        </p:spPr>
        <p:txBody>
          <a:bodyPr vert="horz" lIns="91440" tIns="45720" rIns="91440" bIns="45720" rtlCol="0" anchor="ctr">
            <a:normAutofit/>
          </a:bodyPr>
          <a:lstStyle/>
          <a:p>
            <a:r>
              <a:rPr lang="en-US" sz="3600" kern="1200" dirty="0">
                <a:solidFill>
                  <a:srgbClr val="FFFFFF"/>
                </a:solidFill>
                <a:latin typeface="+mj-lt"/>
                <a:ea typeface="+mj-ea"/>
                <a:cs typeface="+mj-cs"/>
              </a:rPr>
              <a:t>Engagem</a:t>
            </a:r>
            <a:r>
              <a:rPr lang="en-US" sz="3600" dirty="0">
                <a:solidFill>
                  <a:srgbClr val="FFFFFF"/>
                </a:solidFill>
                <a:latin typeface="+mj-lt"/>
                <a:cs typeface="+mj-cs"/>
              </a:rPr>
              <a:t>ent Rate &amp; CTR </a:t>
            </a:r>
            <a:endParaRPr lang="en-US" sz="3600" kern="1200" dirty="0">
              <a:solidFill>
                <a:srgbClr val="FFFFFF"/>
              </a:solidFill>
              <a:latin typeface="+mj-lt"/>
              <a:ea typeface="+mj-ea"/>
              <a:cs typeface="+mj-cs"/>
            </a:endParaRPr>
          </a:p>
        </p:txBody>
      </p:sp>
      <p:graphicFrame>
        <p:nvGraphicFramePr>
          <p:cNvPr id="6" name="Table 5">
            <a:extLst>
              <a:ext uri="{FF2B5EF4-FFF2-40B4-BE49-F238E27FC236}">
                <a16:creationId xmlns:a16="http://schemas.microsoft.com/office/drawing/2014/main" id="{73504F72-A361-CE95-B7AF-5A623651F9EF}"/>
              </a:ext>
            </a:extLst>
          </p:cNvPr>
          <p:cNvGraphicFramePr>
            <a:graphicFrameLocks noGrp="1"/>
          </p:cNvGraphicFramePr>
          <p:nvPr>
            <p:extLst>
              <p:ext uri="{D42A27DB-BD31-4B8C-83A1-F6EECF244321}">
                <p14:modId xmlns:p14="http://schemas.microsoft.com/office/powerpoint/2010/main" val="515795818"/>
              </p:ext>
            </p:extLst>
          </p:nvPr>
        </p:nvGraphicFramePr>
        <p:xfrm>
          <a:off x="4777316" y="1537860"/>
          <a:ext cx="5721031" cy="2456170"/>
        </p:xfrm>
        <a:graphic>
          <a:graphicData uri="http://schemas.openxmlformats.org/drawingml/2006/table">
            <a:tbl>
              <a:tblPr firstRow="1" bandRow="1">
                <a:tableStyleId>{5C22544A-7EE6-4342-B048-85BDC9FD1C3A}</a:tableStyleId>
              </a:tblPr>
              <a:tblGrid>
                <a:gridCol w="1668369">
                  <a:extLst>
                    <a:ext uri="{9D8B030D-6E8A-4147-A177-3AD203B41FA5}">
                      <a16:colId xmlns:a16="http://schemas.microsoft.com/office/drawing/2014/main" val="2530979833"/>
                    </a:ext>
                  </a:extLst>
                </a:gridCol>
                <a:gridCol w="4052662">
                  <a:extLst>
                    <a:ext uri="{9D8B030D-6E8A-4147-A177-3AD203B41FA5}">
                      <a16:colId xmlns:a16="http://schemas.microsoft.com/office/drawing/2014/main" val="2036098292"/>
                    </a:ext>
                  </a:extLst>
                </a:gridCol>
              </a:tblGrid>
              <a:tr h="538242">
                <a:tc>
                  <a:txBody>
                    <a:bodyPr/>
                    <a:lstStyle/>
                    <a:p>
                      <a:pPr algn="ctr" fontAlgn="ctr">
                        <a:buNone/>
                      </a:pPr>
                      <a:r>
                        <a:rPr lang="en-US" sz="1400" u="none" strike="noStrike" dirty="0">
                          <a:effectLst/>
                        </a:rPr>
                        <a:t>Engagement Rate</a:t>
                      </a:r>
                      <a:endParaRPr lang="en-US" sz="1400" b="1" i="0" u="none" strike="noStrike" dirty="0">
                        <a:effectLst/>
                        <a:latin typeface="Arial" panose="020B0604020202020204" pitchFamily="34" charset="0"/>
                      </a:endParaRPr>
                    </a:p>
                  </a:txBody>
                  <a:tcPr marL="18086" marR="18086" marT="18086" marB="0" anchor="ctr"/>
                </a:tc>
                <a:tc>
                  <a:txBody>
                    <a:bodyPr/>
                    <a:lstStyle/>
                    <a:p>
                      <a:pPr algn="ctr" fontAlgn="ctr">
                        <a:buNone/>
                      </a:pPr>
                      <a:r>
                        <a:rPr lang="en-US" sz="1400" u="none" strike="noStrike" dirty="0">
                          <a:effectLst/>
                        </a:rPr>
                        <a:t>Interpretation</a:t>
                      </a:r>
                      <a:endParaRPr lang="en-US" sz="1400" b="1" i="0" u="none" strike="noStrike" dirty="0">
                        <a:effectLst/>
                        <a:latin typeface="Arial" panose="020B0604020202020204" pitchFamily="34" charset="0"/>
                      </a:endParaRPr>
                    </a:p>
                  </a:txBody>
                  <a:tcPr marL="18086" marR="18086" marT="18086" marB="0" anchor="ctr"/>
                </a:tc>
                <a:extLst>
                  <a:ext uri="{0D108BD9-81ED-4DB2-BD59-A6C34878D82A}">
                    <a16:rowId xmlns:a16="http://schemas.microsoft.com/office/drawing/2014/main" val="497252701"/>
                  </a:ext>
                </a:extLst>
              </a:tr>
              <a:tr h="303202">
                <a:tc>
                  <a:txBody>
                    <a:bodyPr/>
                    <a:lstStyle/>
                    <a:p>
                      <a:pPr algn="l" fontAlgn="ctr">
                        <a:buNone/>
                      </a:pPr>
                      <a:r>
                        <a:rPr lang="en-US" sz="1400" u="none" strike="noStrike">
                          <a:effectLst/>
                        </a:rPr>
                        <a:t>&lt;2%</a:t>
                      </a:r>
                      <a:endParaRPr lang="en-US" sz="1400" b="0" i="0" u="none" strike="noStrike">
                        <a:effectLst/>
                        <a:latin typeface="Arial" panose="020B0604020202020204" pitchFamily="34" charset="0"/>
                      </a:endParaRPr>
                    </a:p>
                  </a:txBody>
                  <a:tcPr marL="18086" marR="18086" marT="18086" marB="0" anchor="ctr"/>
                </a:tc>
                <a:tc>
                  <a:txBody>
                    <a:bodyPr/>
                    <a:lstStyle/>
                    <a:p>
                      <a:pPr algn="l" fontAlgn="ctr">
                        <a:buNone/>
                      </a:pPr>
                      <a:r>
                        <a:rPr lang="en-US" sz="1400" u="none" strike="noStrike">
                          <a:effectLst/>
                        </a:rPr>
                        <a:t>Low – Content not resonating</a:t>
                      </a:r>
                      <a:endParaRPr lang="en-US" sz="1400" b="0" i="0" u="none" strike="noStrike">
                        <a:effectLst/>
                        <a:latin typeface="Arial" panose="020B0604020202020204" pitchFamily="34" charset="0"/>
                      </a:endParaRPr>
                    </a:p>
                  </a:txBody>
                  <a:tcPr marL="18086" marR="18086" marT="18086" marB="0" anchor="ctr"/>
                </a:tc>
                <a:extLst>
                  <a:ext uri="{0D108BD9-81ED-4DB2-BD59-A6C34878D82A}">
                    <a16:rowId xmlns:a16="http://schemas.microsoft.com/office/drawing/2014/main" val="3973479895"/>
                  </a:ext>
                </a:extLst>
              </a:tr>
              <a:tr h="538242">
                <a:tc>
                  <a:txBody>
                    <a:bodyPr/>
                    <a:lstStyle/>
                    <a:p>
                      <a:pPr algn="l" fontAlgn="ctr">
                        <a:buNone/>
                      </a:pPr>
                      <a:r>
                        <a:rPr lang="en-US" sz="1400" u="none" strike="noStrike">
                          <a:effectLst/>
                        </a:rPr>
                        <a:t>2–5%</a:t>
                      </a:r>
                      <a:endParaRPr lang="en-US" sz="1400" b="0" i="0" u="none" strike="noStrike">
                        <a:effectLst/>
                        <a:latin typeface="Arial" panose="020B0604020202020204" pitchFamily="34" charset="0"/>
                      </a:endParaRPr>
                    </a:p>
                  </a:txBody>
                  <a:tcPr marL="18086" marR="18086" marT="18086" marB="0" anchor="ctr"/>
                </a:tc>
                <a:tc>
                  <a:txBody>
                    <a:bodyPr/>
                    <a:lstStyle/>
                    <a:p>
                      <a:pPr algn="l" fontAlgn="ctr">
                        <a:buNone/>
                      </a:pPr>
                      <a:r>
                        <a:rPr lang="en-US" sz="1400" u="none" strike="noStrike" dirty="0">
                          <a:effectLst/>
                        </a:rPr>
                        <a:t>Average – Good, consistent performance</a:t>
                      </a:r>
                      <a:endParaRPr lang="en-US" sz="1400" b="0" i="0" u="none" strike="noStrike" dirty="0">
                        <a:effectLst/>
                        <a:latin typeface="Arial" panose="020B0604020202020204" pitchFamily="34" charset="0"/>
                      </a:endParaRPr>
                    </a:p>
                  </a:txBody>
                  <a:tcPr marL="18086" marR="18086" marT="18086" marB="0" anchor="ctr"/>
                </a:tc>
                <a:extLst>
                  <a:ext uri="{0D108BD9-81ED-4DB2-BD59-A6C34878D82A}">
                    <a16:rowId xmlns:a16="http://schemas.microsoft.com/office/drawing/2014/main" val="449731332"/>
                  </a:ext>
                </a:extLst>
              </a:tr>
              <a:tr h="538242">
                <a:tc>
                  <a:txBody>
                    <a:bodyPr/>
                    <a:lstStyle/>
                    <a:p>
                      <a:pPr algn="l" fontAlgn="ctr">
                        <a:buNone/>
                      </a:pPr>
                      <a:r>
                        <a:rPr lang="en-US" sz="1400" u="none" strike="noStrike">
                          <a:effectLst/>
                        </a:rPr>
                        <a:t>5–10%</a:t>
                      </a:r>
                      <a:endParaRPr lang="en-US" sz="1400" b="0" i="0" u="none" strike="noStrike">
                        <a:effectLst/>
                        <a:latin typeface="Arial" panose="020B0604020202020204" pitchFamily="34" charset="0"/>
                      </a:endParaRPr>
                    </a:p>
                  </a:txBody>
                  <a:tcPr marL="18086" marR="18086" marT="18086" marB="0" anchor="ctr"/>
                </a:tc>
                <a:tc>
                  <a:txBody>
                    <a:bodyPr/>
                    <a:lstStyle/>
                    <a:p>
                      <a:pPr algn="l" fontAlgn="ctr">
                        <a:buNone/>
                      </a:pPr>
                      <a:r>
                        <a:rPr lang="en-US" sz="1400" u="none" strike="noStrike">
                          <a:effectLst/>
                        </a:rPr>
                        <a:t>Strong – Audience is actively engaging</a:t>
                      </a:r>
                      <a:endParaRPr lang="en-US" sz="1400" b="0" i="0" u="none" strike="noStrike">
                        <a:effectLst/>
                        <a:latin typeface="Arial" panose="020B0604020202020204" pitchFamily="34" charset="0"/>
                      </a:endParaRPr>
                    </a:p>
                  </a:txBody>
                  <a:tcPr marL="18086" marR="18086" marT="18086" marB="0" anchor="ctr"/>
                </a:tc>
                <a:extLst>
                  <a:ext uri="{0D108BD9-81ED-4DB2-BD59-A6C34878D82A}">
                    <a16:rowId xmlns:a16="http://schemas.microsoft.com/office/drawing/2014/main" val="2533867493"/>
                  </a:ext>
                </a:extLst>
              </a:tr>
              <a:tr h="538242">
                <a:tc>
                  <a:txBody>
                    <a:bodyPr/>
                    <a:lstStyle/>
                    <a:p>
                      <a:pPr algn="l" fontAlgn="ctr">
                        <a:buNone/>
                      </a:pPr>
                      <a:r>
                        <a:rPr lang="en-US" sz="1400" u="none" strike="noStrike">
                          <a:effectLst/>
                        </a:rPr>
                        <a:t>&gt;10%</a:t>
                      </a:r>
                      <a:endParaRPr lang="en-US" sz="1400" b="0" i="0" u="none" strike="noStrike">
                        <a:effectLst/>
                        <a:latin typeface="Arial" panose="020B0604020202020204" pitchFamily="34" charset="0"/>
                      </a:endParaRPr>
                    </a:p>
                  </a:txBody>
                  <a:tcPr marL="18086" marR="18086" marT="18086" marB="0" anchor="ctr"/>
                </a:tc>
                <a:tc>
                  <a:txBody>
                    <a:bodyPr/>
                    <a:lstStyle/>
                    <a:p>
                      <a:pPr algn="l" fontAlgn="ctr">
                        <a:buNone/>
                      </a:pPr>
                      <a:r>
                        <a:rPr lang="en-US" sz="1400" u="none" strike="noStrike" dirty="0">
                          <a:effectLst/>
                        </a:rPr>
                        <a:t>Excellent – Highly relevant or viral content</a:t>
                      </a:r>
                      <a:endParaRPr lang="en-US" sz="1400" b="0" i="0" u="none" strike="noStrike" dirty="0">
                        <a:effectLst/>
                        <a:latin typeface="Arial" panose="020B0604020202020204" pitchFamily="34" charset="0"/>
                      </a:endParaRPr>
                    </a:p>
                  </a:txBody>
                  <a:tcPr marL="18086" marR="18086" marT="18086" marB="0" anchor="ctr"/>
                </a:tc>
                <a:extLst>
                  <a:ext uri="{0D108BD9-81ED-4DB2-BD59-A6C34878D82A}">
                    <a16:rowId xmlns:a16="http://schemas.microsoft.com/office/drawing/2014/main" val="2772262209"/>
                  </a:ext>
                </a:extLst>
              </a:tr>
            </a:tbl>
          </a:graphicData>
        </a:graphic>
      </p:graphicFrame>
      <p:graphicFrame>
        <p:nvGraphicFramePr>
          <p:cNvPr id="3" name="Table 2">
            <a:extLst>
              <a:ext uri="{FF2B5EF4-FFF2-40B4-BE49-F238E27FC236}">
                <a16:creationId xmlns:a16="http://schemas.microsoft.com/office/drawing/2014/main" id="{BF3A421F-4E39-98F5-A109-3D63387312DD}"/>
              </a:ext>
            </a:extLst>
          </p:cNvPr>
          <p:cNvGraphicFramePr>
            <a:graphicFrameLocks noGrp="1"/>
          </p:cNvGraphicFramePr>
          <p:nvPr>
            <p:extLst>
              <p:ext uri="{D42A27DB-BD31-4B8C-83A1-F6EECF244321}">
                <p14:modId xmlns:p14="http://schemas.microsoft.com/office/powerpoint/2010/main" val="2258942295"/>
              </p:ext>
            </p:extLst>
          </p:nvPr>
        </p:nvGraphicFramePr>
        <p:xfrm>
          <a:off x="4613414" y="4553967"/>
          <a:ext cx="5884933" cy="1910668"/>
        </p:xfrm>
        <a:graphic>
          <a:graphicData uri="http://schemas.openxmlformats.org/drawingml/2006/table">
            <a:tbl>
              <a:tblPr>
                <a:tableStyleId>{5C22544A-7EE6-4342-B048-85BDC9FD1C3A}</a:tableStyleId>
              </a:tblPr>
              <a:tblGrid>
                <a:gridCol w="1690032">
                  <a:extLst>
                    <a:ext uri="{9D8B030D-6E8A-4147-A177-3AD203B41FA5}">
                      <a16:colId xmlns:a16="http://schemas.microsoft.com/office/drawing/2014/main" val="3175718420"/>
                    </a:ext>
                  </a:extLst>
                </a:gridCol>
                <a:gridCol w="2751585">
                  <a:extLst>
                    <a:ext uri="{9D8B030D-6E8A-4147-A177-3AD203B41FA5}">
                      <a16:colId xmlns:a16="http://schemas.microsoft.com/office/drawing/2014/main" val="938433212"/>
                    </a:ext>
                  </a:extLst>
                </a:gridCol>
                <a:gridCol w="1038174">
                  <a:extLst>
                    <a:ext uri="{9D8B030D-6E8A-4147-A177-3AD203B41FA5}">
                      <a16:colId xmlns:a16="http://schemas.microsoft.com/office/drawing/2014/main" val="3343703855"/>
                    </a:ext>
                  </a:extLst>
                </a:gridCol>
                <a:gridCol w="405142">
                  <a:extLst>
                    <a:ext uri="{9D8B030D-6E8A-4147-A177-3AD203B41FA5}">
                      <a16:colId xmlns:a16="http://schemas.microsoft.com/office/drawing/2014/main" val="4061013881"/>
                    </a:ext>
                  </a:extLst>
                </a:gridCol>
              </a:tblGrid>
              <a:tr h="380342">
                <a:tc>
                  <a:txBody>
                    <a:bodyPr/>
                    <a:lstStyle/>
                    <a:p>
                      <a:pPr algn="ctr" fontAlgn="ctr">
                        <a:buNone/>
                      </a:pPr>
                      <a:r>
                        <a:rPr lang="en-US" sz="1000" u="none" strike="noStrike" dirty="0">
                          <a:effectLst/>
                        </a:rPr>
                        <a:t>Type of Content</a:t>
                      </a:r>
                      <a:endParaRPr lang="en-US" sz="1000" b="1" i="0" u="none" strike="noStrike" dirty="0">
                        <a:effectLst/>
                        <a:latin typeface="Arial" panose="020B0604020202020204" pitchFamily="34" charset="0"/>
                      </a:endParaRPr>
                    </a:p>
                  </a:txBody>
                  <a:tcPr marL="7620" marR="7620" marT="7620" marB="0" anchor="ctr">
                    <a:solidFill>
                      <a:schemeClr val="accent1"/>
                    </a:solidFill>
                  </a:tcPr>
                </a:tc>
                <a:tc>
                  <a:txBody>
                    <a:bodyPr/>
                    <a:lstStyle/>
                    <a:p>
                      <a:pPr algn="ctr" fontAlgn="ctr">
                        <a:buNone/>
                      </a:pPr>
                      <a:r>
                        <a:rPr lang="en-US" sz="1000" u="none" strike="noStrike" dirty="0">
                          <a:effectLst/>
                        </a:rPr>
                        <a:t>Average CTR</a:t>
                      </a:r>
                      <a:endParaRPr lang="en-US" sz="1000" b="1" i="0" u="none" strike="noStrike" dirty="0">
                        <a:effectLst/>
                        <a:latin typeface="Arial" panose="020B0604020202020204" pitchFamily="34" charset="0"/>
                      </a:endParaRPr>
                    </a:p>
                  </a:txBody>
                  <a:tcPr marL="7620" marR="7620" marT="7620" marB="0" anchor="ctr">
                    <a:solidFill>
                      <a:schemeClr val="accent1"/>
                    </a:solidFill>
                  </a:tcPr>
                </a:tc>
                <a:tc>
                  <a:txBody>
                    <a:bodyPr/>
                    <a:lstStyle/>
                    <a:p>
                      <a:pPr algn="ctr" fontAlgn="ctr">
                        <a:buNone/>
                      </a:pPr>
                      <a:r>
                        <a:rPr lang="en-US" sz="1000" u="none" strike="noStrike" dirty="0">
                          <a:effectLst/>
                        </a:rPr>
                        <a:t>High-Performing CTR</a:t>
                      </a:r>
                      <a:endParaRPr lang="en-US" sz="1000" b="1" i="0" u="none" strike="noStrike" dirty="0">
                        <a:effectLst/>
                        <a:latin typeface="Arial" panose="020B0604020202020204" pitchFamily="34" charset="0"/>
                      </a:endParaRPr>
                    </a:p>
                  </a:txBody>
                  <a:tcPr marL="7620" marR="7620" marT="7620" marB="0" anchor="ctr">
                    <a:solidFill>
                      <a:schemeClr val="accent1"/>
                    </a:solidFill>
                  </a:tcPr>
                </a:tc>
                <a:tc>
                  <a:txBody>
                    <a:bodyPr/>
                    <a:lstStyle/>
                    <a:p>
                      <a:pPr algn="ctr" fontAlgn="ctr">
                        <a:buNone/>
                      </a:pPr>
                      <a:r>
                        <a:rPr lang="en-US" sz="1000" u="none" strike="noStrike" dirty="0">
                          <a:effectLst/>
                        </a:rPr>
                        <a:t>Low CTR</a:t>
                      </a:r>
                      <a:endParaRPr lang="en-US" sz="1000" b="1" i="0" u="none" strike="noStrike" dirty="0">
                        <a:effectLst/>
                        <a:latin typeface="Arial" panose="020B0604020202020204" pitchFamily="34" charset="0"/>
                      </a:endParaRPr>
                    </a:p>
                  </a:txBody>
                  <a:tcPr marL="7620" marR="7620" marT="7620" marB="0" anchor="ctr">
                    <a:solidFill>
                      <a:schemeClr val="accent1"/>
                    </a:solidFill>
                  </a:tcPr>
                </a:tc>
                <a:extLst>
                  <a:ext uri="{0D108BD9-81ED-4DB2-BD59-A6C34878D82A}">
                    <a16:rowId xmlns:a16="http://schemas.microsoft.com/office/drawing/2014/main" val="4084916269"/>
                  </a:ext>
                </a:extLst>
              </a:tr>
              <a:tr h="140323">
                <a:tc>
                  <a:txBody>
                    <a:bodyPr/>
                    <a:lstStyle/>
                    <a:p>
                      <a:pPr algn="l" fontAlgn="ctr">
                        <a:buNone/>
                      </a:pPr>
                      <a:r>
                        <a:rPr lang="en-US" sz="1000" u="none" strike="noStrike" dirty="0">
                          <a:effectLst/>
                        </a:rPr>
                        <a:t>Organic Posts</a:t>
                      </a:r>
                      <a:endParaRPr lang="en-US" sz="1000" b="1" i="0" u="none" strike="noStrike" dirty="0">
                        <a:effectLst/>
                        <a:latin typeface="Arial" panose="020B0604020202020204" pitchFamily="34" charset="0"/>
                      </a:endParaRPr>
                    </a:p>
                  </a:txBody>
                  <a:tcPr marL="7620" marR="7620" marT="7620" marB="0" anchor="ctr"/>
                </a:tc>
                <a:tc>
                  <a:txBody>
                    <a:bodyPr/>
                    <a:lstStyle/>
                    <a:p>
                      <a:pPr algn="l" fontAlgn="ctr">
                        <a:buNone/>
                      </a:pPr>
                      <a:r>
                        <a:rPr lang="en-US" sz="1000" u="none" strike="noStrike" dirty="0">
                          <a:effectLst/>
                        </a:rPr>
                        <a:t>0.5% – 2%</a:t>
                      </a:r>
                      <a:endParaRPr lang="en-US" sz="1000" b="0" i="0" u="none" strike="noStrike" dirty="0">
                        <a:effectLst/>
                        <a:latin typeface="Arial" panose="020B0604020202020204" pitchFamily="34" charset="0"/>
                      </a:endParaRPr>
                    </a:p>
                  </a:txBody>
                  <a:tcPr marL="7620" marR="7620" marT="7620" marB="0" anchor="ctr"/>
                </a:tc>
                <a:tc>
                  <a:txBody>
                    <a:bodyPr/>
                    <a:lstStyle/>
                    <a:p>
                      <a:pPr algn="l" fontAlgn="ctr">
                        <a:buNone/>
                      </a:pPr>
                      <a:r>
                        <a:rPr lang="en-US" sz="1000" u="none" strike="noStrike" dirty="0">
                          <a:effectLst/>
                        </a:rPr>
                        <a:t>2%+</a:t>
                      </a:r>
                      <a:endParaRPr lang="en-US" sz="1000" b="1" i="0" u="none" strike="noStrike" dirty="0">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&lt; 0.5%</a:t>
                      </a:r>
                      <a:endParaRPr lang="en-US" sz="1000" b="0" i="0" u="none" strike="noStrike">
                        <a:effectLst/>
                        <a:latin typeface="Arial" panose="020B0604020202020204" pitchFamily="34" charset="0"/>
                      </a:endParaRPr>
                    </a:p>
                  </a:txBody>
                  <a:tcPr marL="7620" marR="7620" marT="7620" marB="0" anchor="ctr"/>
                </a:tc>
                <a:extLst>
                  <a:ext uri="{0D108BD9-81ED-4DB2-BD59-A6C34878D82A}">
                    <a16:rowId xmlns:a16="http://schemas.microsoft.com/office/drawing/2014/main" val="2556189745"/>
                  </a:ext>
                </a:extLst>
              </a:tr>
              <a:tr h="280646">
                <a:tc>
                  <a:txBody>
                    <a:bodyPr/>
                    <a:lstStyle/>
                    <a:p>
                      <a:pPr algn="l" fontAlgn="ctr">
                        <a:buNone/>
                      </a:pPr>
                      <a:r>
                        <a:rPr lang="en-US" sz="1000" u="none" strike="noStrike">
                          <a:effectLst/>
                        </a:rPr>
                        <a:t>Sponsored Content / Ads</a:t>
                      </a:r>
                      <a:endParaRPr lang="en-US" sz="1000" b="1"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0.35% – 0.8%</a:t>
                      </a:r>
                      <a:endParaRPr lang="en-US" sz="1000" b="0"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1%+</a:t>
                      </a:r>
                      <a:endParaRPr lang="en-US" sz="1000" b="1"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&lt; 0.3%</a:t>
                      </a:r>
                      <a:endParaRPr lang="en-US" sz="1000" b="0" i="0" u="none" strike="noStrike">
                        <a:effectLst/>
                        <a:latin typeface="Arial" panose="020B0604020202020204" pitchFamily="34" charset="0"/>
                      </a:endParaRPr>
                    </a:p>
                  </a:txBody>
                  <a:tcPr marL="7620" marR="7620" marT="7620" marB="0" anchor="ctr"/>
                </a:tc>
                <a:extLst>
                  <a:ext uri="{0D108BD9-81ED-4DB2-BD59-A6C34878D82A}">
                    <a16:rowId xmlns:a16="http://schemas.microsoft.com/office/drawing/2014/main" val="1210272938"/>
                  </a:ext>
                </a:extLst>
              </a:tr>
              <a:tr h="280646">
                <a:tc>
                  <a:txBody>
                    <a:bodyPr/>
                    <a:lstStyle/>
                    <a:p>
                      <a:pPr algn="l" fontAlgn="ctr">
                        <a:buNone/>
                      </a:pPr>
                      <a:r>
                        <a:rPr lang="en-US" sz="1000" u="none" strike="noStrike">
                          <a:effectLst/>
                        </a:rPr>
                        <a:t>Text or Image Posts (no link)</a:t>
                      </a:r>
                      <a:endParaRPr lang="en-US" sz="1000" b="1"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1% – 3%</a:t>
                      </a:r>
                      <a:endParaRPr lang="en-US" sz="1000" b="0"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dirty="0">
                          <a:effectLst/>
                        </a:rPr>
                        <a:t>3%+</a:t>
                      </a:r>
                      <a:endParaRPr lang="en-US" sz="1000" b="1" i="0" u="none" strike="noStrike" dirty="0">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&lt; 1%</a:t>
                      </a:r>
                      <a:endParaRPr lang="en-US" sz="1000" b="0" i="0" u="none" strike="noStrike">
                        <a:effectLst/>
                        <a:latin typeface="Arial" panose="020B0604020202020204" pitchFamily="34" charset="0"/>
                      </a:endParaRPr>
                    </a:p>
                  </a:txBody>
                  <a:tcPr marL="7620" marR="7620" marT="7620" marB="0" anchor="ctr"/>
                </a:tc>
                <a:extLst>
                  <a:ext uri="{0D108BD9-81ED-4DB2-BD59-A6C34878D82A}">
                    <a16:rowId xmlns:a16="http://schemas.microsoft.com/office/drawing/2014/main" val="1106357374"/>
                  </a:ext>
                </a:extLst>
              </a:tr>
              <a:tr h="140323">
                <a:tc>
                  <a:txBody>
                    <a:bodyPr/>
                    <a:lstStyle/>
                    <a:p>
                      <a:pPr algn="l" fontAlgn="ctr">
                        <a:buNone/>
                      </a:pPr>
                      <a:r>
                        <a:rPr lang="en-US" sz="1000" u="none" strike="noStrike">
                          <a:effectLst/>
                        </a:rPr>
                        <a:t>Video Posts</a:t>
                      </a:r>
                      <a:endParaRPr lang="en-US" sz="1000" b="1"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0.4% – 1.0%</a:t>
                      </a:r>
                      <a:endParaRPr lang="en-US" sz="1000" b="0"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1.5%+</a:t>
                      </a:r>
                      <a:endParaRPr lang="en-US" sz="1000" b="1"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&lt; 0.4%</a:t>
                      </a:r>
                      <a:endParaRPr lang="en-US" sz="1000" b="0" i="0" u="none" strike="noStrike">
                        <a:effectLst/>
                        <a:latin typeface="Arial" panose="020B0604020202020204" pitchFamily="34" charset="0"/>
                      </a:endParaRPr>
                    </a:p>
                  </a:txBody>
                  <a:tcPr marL="7620" marR="7620" marT="7620" marB="0" anchor="ctr"/>
                </a:tc>
                <a:extLst>
                  <a:ext uri="{0D108BD9-81ED-4DB2-BD59-A6C34878D82A}">
                    <a16:rowId xmlns:a16="http://schemas.microsoft.com/office/drawing/2014/main" val="2240746231"/>
                  </a:ext>
                </a:extLst>
              </a:tr>
              <a:tr h="280646">
                <a:tc>
                  <a:txBody>
                    <a:bodyPr/>
                    <a:lstStyle/>
                    <a:p>
                      <a:pPr algn="l" fontAlgn="ctr">
                        <a:buNone/>
                      </a:pPr>
                      <a:r>
                        <a:rPr lang="en-US" sz="1000" u="none" strike="noStrike">
                          <a:effectLst/>
                        </a:rPr>
                        <a:t>Carousel / Document Ads</a:t>
                      </a:r>
                      <a:endParaRPr lang="en-US" sz="1000" b="1"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0.6% – 1.2%</a:t>
                      </a:r>
                      <a:endParaRPr lang="en-US" sz="1000" b="0"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a:effectLst/>
                        </a:rPr>
                        <a:t>1.5%+</a:t>
                      </a:r>
                      <a:endParaRPr lang="en-US" sz="1000" b="1" i="0" u="none" strike="noStrike">
                        <a:effectLst/>
                        <a:latin typeface="Arial" panose="020B0604020202020204" pitchFamily="34" charset="0"/>
                      </a:endParaRPr>
                    </a:p>
                  </a:txBody>
                  <a:tcPr marL="7620" marR="7620" marT="7620" marB="0" anchor="ctr"/>
                </a:tc>
                <a:tc>
                  <a:txBody>
                    <a:bodyPr/>
                    <a:lstStyle/>
                    <a:p>
                      <a:pPr algn="l" fontAlgn="ctr">
                        <a:buNone/>
                      </a:pPr>
                      <a:r>
                        <a:rPr lang="en-US" sz="1000" u="none" strike="noStrike" dirty="0">
                          <a:effectLst/>
                        </a:rPr>
                        <a:t>&lt; 0.5%</a:t>
                      </a:r>
                      <a:endParaRPr lang="en-US" sz="1000" b="0" i="0" u="none" strike="noStrike" dirty="0">
                        <a:effectLst/>
                        <a:latin typeface="Arial" panose="020B0604020202020204" pitchFamily="34" charset="0"/>
                      </a:endParaRPr>
                    </a:p>
                  </a:txBody>
                  <a:tcPr marL="7620" marR="7620" marT="7620" marB="0" anchor="ctr"/>
                </a:tc>
                <a:extLst>
                  <a:ext uri="{0D108BD9-81ED-4DB2-BD59-A6C34878D82A}">
                    <a16:rowId xmlns:a16="http://schemas.microsoft.com/office/drawing/2014/main" val="1566441801"/>
                  </a:ext>
                </a:extLst>
              </a:tr>
            </a:tbl>
          </a:graphicData>
        </a:graphic>
      </p:graphicFrame>
    </p:spTree>
    <p:extLst>
      <p:ext uri="{BB962C8B-B14F-4D97-AF65-F5344CB8AC3E}">
        <p14:creationId xmlns:p14="http://schemas.microsoft.com/office/powerpoint/2010/main" val="166883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9BD012-7101-0983-C4BD-F92CAF384EB5}"/>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kern="1200" dirty="0">
                <a:latin typeface="+mj-lt"/>
                <a:ea typeface="+mj-ea"/>
                <a:cs typeface="+mj-cs"/>
              </a:rPr>
              <a:t>Content Insights</a:t>
            </a:r>
          </a:p>
        </p:txBody>
      </p:sp>
      <p:graphicFrame>
        <p:nvGraphicFramePr>
          <p:cNvPr id="4" name="Table 3">
            <a:extLst>
              <a:ext uri="{FF2B5EF4-FFF2-40B4-BE49-F238E27FC236}">
                <a16:creationId xmlns:a16="http://schemas.microsoft.com/office/drawing/2014/main" id="{51BC2DFF-969F-9C02-ADE6-1841BD3C2D7E}"/>
              </a:ext>
            </a:extLst>
          </p:cNvPr>
          <p:cNvGraphicFramePr>
            <a:graphicFrameLocks noGrp="1"/>
          </p:cNvGraphicFramePr>
          <p:nvPr>
            <p:extLst>
              <p:ext uri="{D42A27DB-BD31-4B8C-83A1-F6EECF244321}">
                <p14:modId xmlns:p14="http://schemas.microsoft.com/office/powerpoint/2010/main" val="555350588"/>
              </p:ext>
            </p:extLst>
          </p:nvPr>
        </p:nvGraphicFramePr>
        <p:xfrm>
          <a:off x="556532" y="1745911"/>
          <a:ext cx="11340828" cy="3354409"/>
        </p:xfrm>
        <a:graphic>
          <a:graphicData uri="http://schemas.openxmlformats.org/drawingml/2006/table">
            <a:tbl>
              <a:tblPr/>
              <a:tblGrid>
                <a:gridCol w="11340828">
                  <a:extLst>
                    <a:ext uri="{9D8B030D-6E8A-4147-A177-3AD203B41FA5}">
                      <a16:colId xmlns:a16="http://schemas.microsoft.com/office/drawing/2014/main" val="4167756294"/>
                    </a:ext>
                  </a:extLst>
                </a:gridCol>
              </a:tblGrid>
              <a:tr h="1898471">
                <a:tc>
                  <a:txBody>
                    <a:bodyPr/>
                    <a:lstStyle/>
                    <a:p>
                      <a:pPr marL="285750" indent="-285750" algn="l" fontAlgn="ctr">
                        <a:buFont typeface="Arial" panose="020B0604020202020204" pitchFamily="34" charset="0"/>
                        <a:buChar char="•"/>
                      </a:pPr>
                      <a:r>
                        <a:rPr lang="en-US" sz="1600" b="0" i="0" u="none" strike="noStrike" dirty="0">
                          <a:effectLst/>
                          <a:latin typeface="Arial" panose="020B0604020202020204" pitchFamily="34" charset="0"/>
                        </a:rPr>
                        <a:t>In 90 days, only 9 posts were there on LinkedIn. So, I would suggest that to increase the engagement of the audience and improve visibility, we should post frequently about various events, conferences, or seminars that we attend</a:t>
                      </a:r>
                    </a:p>
                    <a:p>
                      <a:pPr marL="285750" indent="-285750" algn="l" fontAlgn="ctr">
                        <a:buFont typeface="Arial" panose="020B0604020202020204" pitchFamily="34" charset="0"/>
                        <a:buChar char="•"/>
                      </a:pPr>
                      <a:r>
                        <a:rPr lang="en-US" sz="1600" b="0" i="0" u="none" strike="noStrike" dirty="0">
                          <a:effectLst/>
                          <a:latin typeface="Arial" panose="020B0604020202020204" pitchFamily="34" charset="0"/>
                        </a:rPr>
                        <a:t>If we have received a sponsorship for designing promotional items or goodies for any distributor, we can post that stuff if that item has been a best seller, by increasing audience engagement towards the movie </a:t>
                      </a:r>
                    </a:p>
                    <a:p>
                      <a:pPr marL="285750" indent="-285750" algn="l" fontAlgn="ctr">
                        <a:buFont typeface="Arial" panose="020B0604020202020204" pitchFamily="34" charset="0"/>
                        <a:buChar char="•"/>
                      </a:pPr>
                      <a:r>
                        <a:rPr lang="en-US" sz="1600" b="0" i="0" u="none" strike="noStrike" dirty="0">
                          <a:effectLst/>
                          <a:latin typeface="Arial" panose="020B0604020202020204" pitchFamily="34" charset="0"/>
                        </a:rPr>
                        <a:t>The below 2 posts have the highest CTR and ER compared to all other posts in the 90 days period.</a:t>
                      </a:r>
                      <a:endParaRPr lang="en-US" sz="3200" b="0" i="0" u="none" strike="noStrike" dirty="0">
                        <a:effectLst/>
                        <a:latin typeface="Arial" panose="020B0604020202020204" pitchFamily="34" charset="0"/>
                      </a:endParaRPr>
                    </a:p>
                    <a:p>
                      <a:pPr algn="l" fontAlgn="ctr">
                        <a:buNone/>
                      </a:pPr>
                      <a:endParaRPr lang="en-US" sz="1600" b="0" i="0" u="none" strike="noStrike" dirty="0">
                        <a:effectLst/>
                        <a:latin typeface="Arial" panose="020B0604020202020204" pitchFamily="34" charset="0"/>
                      </a:endParaRPr>
                    </a:p>
                  </a:txBody>
                  <a:tcPr marL="17866" marR="17866" marT="17866" marB="0" anchor="ctr">
                    <a:lnL>
                      <a:noFill/>
                    </a:lnL>
                    <a:lnR>
                      <a:noFill/>
                    </a:lnR>
                    <a:lnT>
                      <a:noFill/>
                    </a:lnT>
                    <a:lnB>
                      <a:noFill/>
                    </a:lnB>
                    <a:noFill/>
                  </a:tcPr>
                </a:tc>
                <a:extLst>
                  <a:ext uri="{0D108BD9-81ED-4DB2-BD59-A6C34878D82A}">
                    <a16:rowId xmlns:a16="http://schemas.microsoft.com/office/drawing/2014/main" val="1941517787"/>
                  </a:ext>
                </a:extLst>
              </a:tr>
              <a:tr h="1455938">
                <a:tc>
                  <a:txBody>
                    <a:bodyPr/>
                    <a:lstStyle/>
                    <a:p>
                      <a:pPr algn="l" fontAlgn="b">
                        <a:buNone/>
                      </a:pPr>
                      <a:endParaRPr lang="en-US" sz="3200" b="0" i="0" u="none" strike="noStrike" dirty="0">
                        <a:effectLst/>
                        <a:latin typeface="Arial" panose="020B0604020202020204" pitchFamily="34" charset="0"/>
                      </a:endParaRPr>
                    </a:p>
                  </a:txBody>
                  <a:tcPr marL="17866" marR="17866" marT="17866" marB="0">
                    <a:lnL>
                      <a:noFill/>
                    </a:lnL>
                    <a:lnR>
                      <a:noFill/>
                    </a:lnR>
                    <a:lnT>
                      <a:noFill/>
                    </a:lnT>
                    <a:lnB>
                      <a:noFill/>
                    </a:lnB>
                    <a:noFill/>
                  </a:tcPr>
                </a:tc>
                <a:extLst>
                  <a:ext uri="{0D108BD9-81ED-4DB2-BD59-A6C34878D82A}">
                    <a16:rowId xmlns:a16="http://schemas.microsoft.com/office/drawing/2014/main" val="225489826"/>
                  </a:ext>
                </a:extLst>
              </a:tr>
            </a:tbl>
          </a:graphicData>
        </a:graphic>
      </p:graphicFrame>
      <p:pic>
        <p:nvPicPr>
          <p:cNvPr id="5" name="Picture 4">
            <a:extLst>
              <a:ext uri="{FF2B5EF4-FFF2-40B4-BE49-F238E27FC236}">
                <a16:creationId xmlns:a16="http://schemas.microsoft.com/office/drawing/2014/main" id="{30C0B644-A6ED-A5CA-2052-658968A1CC7F}"/>
              </a:ext>
            </a:extLst>
          </p:cNvPr>
          <p:cNvPicPr>
            <a:picLocks noChangeAspect="1"/>
          </p:cNvPicPr>
          <p:nvPr/>
        </p:nvPicPr>
        <p:blipFill>
          <a:blip r:embed="rId2"/>
          <a:stretch>
            <a:fillRect/>
          </a:stretch>
        </p:blipFill>
        <p:spPr>
          <a:xfrm>
            <a:off x="357670" y="3180765"/>
            <a:ext cx="4568014" cy="3513954"/>
          </a:xfrm>
          <a:prstGeom prst="rect">
            <a:avLst/>
          </a:prstGeom>
        </p:spPr>
      </p:pic>
      <p:pic>
        <p:nvPicPr>
          <p:cNvPr id="7" name="Picture 6">
            <a:extLst>
              <a:ext uri="{FF2B5EF4-FFF2-40B4-BE49-F238E27FC236}">
                <a16:creationId xmlns:a16="http://schemas.microsoft.com/office/drawing/2014/main" id="{59F20BD9-86FE-6BB7-9E26-A1760E0FB681}"/>
              </a:ext>
            </a:extLst>
          </p:cNvPr>
          <p:cNvPicPr>
            <a:picLocks noChangeAspect="1"/>
          </p:cNvPicPr>
          <p:nvPr/>
        </p:nvPicPr>
        <p:blipFill>
          <a:blip r:embed="rId3"/>
          <a:stretch>
            <a:fillRect/>
          </a:stretch>
        </p:blipFill>
        <p:spPr>
          <a:xfrm>
            <a:off x="5212277" y="3180765"/>
            <a:ext cx="5925377" cy="2581635"/>
          </a:xfrm>
          <a:prstGeom prst="rect">
            <a:avLst/>
          </a:prstGeom>
        </p:spPr>
      </p:pic>
    </p:spTree>
    <p:extLst>
      <p:ext uri="{BB962C8B-B14F-4D97-AF65-F5344CB8AC3E}">
        <p14:creationId xmlns:p14="http://schemas.microsoft.com/office/powerpoint/2010/main" val="2827162497"/>
      </p:ext>
    </p:extLst>
  </p:cSld>
  <p:clrMapOvr>
    <a:masterClrMapping/>
  </p:clrMapOvr>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E2850B8-A1DA-4DFC-9C77-D28AB9FBE0A6}" vid="{D6AB704A-43AE-404B-B3DF-0B6869890C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F9D0DE-5438-4F73-A02C-355CC06D163B}">
  <ds:schemaRefs>
    <ds:schemaRef ds:uri="http://schemas.microsoft.com/sharepoint/v3/contenttype/forms"/>
  </ds:schemaRefs>
</ds:datastoreItem>
</file>

<file path=customXml/itemProps2.xml><?xml version="1.0" encoding="utf-8"?>
<ds:datastoreItem xmlns:ds="http://schemas.openxmlformats.org/officeDocument/2006/customXml" ds:itemID="{80826193-A1B8-45EE-8171-6A589D40695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3B5FCBA-58E2-418B-BC37-94F2B75CEE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Six chart dashboard</Template>
  <TotalTime>209</TotalTime>
  <Words>758</Words>
  <Application>Microsoft Office PowerPoint</Application>
  <PresentationFormat>Widescreen</PresentationFormat>
  <Paragraphs>73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OC Team - LinkedIn Analytics</vt:lpstr>
      <vt:lpstr>PowerPoint Presentation</vt:lpstr>
      <vt:lpstr>PowerPoint Presentation</vt:lpstr>
      <vt:lpstr>PowerPoint Presentation</vt:lpstr>
      <vt:lpstr>Industry vs Total Views</vt:lpstr>
      <vt:lpstr>PowerPoint Presentation</vt:lpstr>
      <vt:lpstr>PowerPoint Presentation</vt:lpstr>
      <vt:lpstr>PowerPoint Presentation</vt:lpstr>
      <vt:lpstr>PowerPoint Presentation</vt:lpstr>
      <vt:lpstr>PowerPoint Presentation</vt:lpstr>
      <vt:lpstr>Followers Insights</vt:lpstr>
      <vt:lpstr>Engagement Rate &amp; CTR </vt:lpstr>
      <vt:lpstr>Content Insights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Prateeksha Mehta</dc:creator>
  <cp:keywords/>
  <dc:description/>
  <cp:lastModifiedBy>Prateeksha Mehta</cp:lastModifiedBy>
  <cp:revision>38</cp:revision>
  <dcterms:created xsi:type="dcterms:W3CDTF">2025-10-18T03:28:50Z</dcterms:created>
  <dcterms:modified xsi:type="dcterms:W3CDTF">2025-10-20T18:20:19Z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